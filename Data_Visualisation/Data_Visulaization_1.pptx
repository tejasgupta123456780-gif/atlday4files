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8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IN" spc="-10" smtClean="0"/>
              <a:t>Python</a:t>
            </a:r>
            <a:r>
              <a:rPr lang="en-IN" spc="30" smtClean="0"/>
              <a:t> </a:t>
            </a:r>
            <a:r>
              <a:rPr lang="en-IN" spc="-5" smtClean="0"/>
              <a:t>for</a:t>
            </a:r>
            <a:r>
              <a:rPr lang="en-IN" spc="-15" smtClean="0"/>
              <a:t> </a:t>
            </a:r>
            <a:r>
              <a:rPr lang="en-IN" spc="-5" smtClean="0"/>
              <a:t>Data</a:t>
            </a:r>
            <a:r>
              <a:rPr lang="en-IN" spc="-25" smtClean="0"/>
              <a:t> </a:t>
            </a:r>
            <a:r>
              <a:rPr lang="en-IN" smtClean="0"/>
              <a:t>Science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IN" spc="-30" smtClean="0"/>
              <a:t>‹#›</a:t>
            </a:fld>
            <a:endParaRPr lang="en-IN" spc="-3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72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IN" spc="-10" smtClean="0"/>
              <a:t>Python</a:t>
            </a:r>
            <a:r>
              <a:rPr lang="en-IN" spc="30" smtClean="0"/>
              <a:t> </a:t>
            </a:r>
            <a:r>
              <a:rPr lang="en-IN" spc="-5" smtClean="0"/>
              <a:t>for</a:t>
            </a:r>
            <a:r>
              <a:rPr lang="en-IN" spc="-15" smtClean="0"/>
              <a:t> </a:t>
            </a:r>
            <a:r>
              <a:rPr lang="en-IN" spc="-5" smtClean="0"/>
              <a:t>Data</a:t>
            </a:r>
            <a:r>
              <a:rPr lang="en-IN" spc="-25" smtClean="0"/>
              <a:t> </a:t>
            </a:r>
            <a:r>
              <a:rPr lang="en-IN" smtClean="0"/>
              <a:t>Science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IN" spc="-30" smtClean="0"/>
              <a:t>‹#›</a:t>
            </a:fld>
            <a:endParaRPr lang="en-IN" spc="-30" dirty="0"/>
          </a:p>
        </p:txBody>
      </p:sp>
    </p:spTree>
    <p:extLst>
      <p:ext uri="{BB962C8B-B14F-4D97-AF65-F5344CB8AC3E}">
        <p14:creationId xmlns:p14="http://schemas.microsoft.com/office/powerpoint/2010/main" val="513344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IN" spc="-10" smtClean="0"/>
              <a:t>Python</a:t>
            </a:r>
            <a:r>
              <a:rPr lang="en-IN" spc="30" smtClean="0"/>
              <a:t> </a:t>
            </a:r>
            <a:r>
              <a:rPr lang="en-IN" spc="-5" smtClean="0"/>
              <a:t>for</a:t>
            </a:r>
            <a:r>
              <a:rPr lang="en-IN" spc="-15" smtClean="0"/>
              <a:t> </a:t>
            </a:r>
            <a:r>
              <a:rPr lang="en-IN" spc="-5" smtClean="0"/>
              <a:t>Data</a:t>
            </a:r>
            <a:r>
              <a:rPr lang="en-IN" spc="-25" smtClean="0"/>
              <a:t> </a:t>
            </a:r>
            <a:r>
              <a:rPr lang="en-IN" smtClean="0"/>
              <a:t>Science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IN" spc="-30" smtClean="0"/>
              <a:t>‹#›</a:t>
            </a:fld>
            <a:endParaRPr lang="en-IN" spc="-3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5748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IN" spc="-10" smtClean="0"/>
              <a:t>Python</a:t>
            </a:r>
            <a:r>
              <a:rPr lang="en-IN" spc="30" smtClean="0"/>
              <a:t> </a:t>
            </a:r>
            <a:r>
              <a:rPr lang="en-IN" spc="-5" smtClean="0"/>
              <a:t>for</a:t>
            </a:r>
            <a:r>
              <a:rPr lang="en-IN" spc="-15" smtClean="0"/>
              <a:t> </a:t>
            </a:r>
            <a:r>
              <a:rPr lang="en-IN" spc="-5" smtClean="0"/>
              <a:t>Data</a:t>
            </a:r>
            <a:r>
              <a:rPr lang="en-IN" spc="-25" smtClean="0"/>
              <a:t> </a:t>
            </a:r>
            <a:r>
              <a:rPr lang="en-IN" smtClean="0"/>
              <a:t>Science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IN" spc="-30" smtClean="0"/>
              <a:t>‹#›</a:t>
            </a:fld>
            <a:endParaRPr lang="en-IN" spc="-30" dirty="0"/>
          </a:p>
        </p:txBody>
      </p:sp>
    </p:spTree>
    <p:extLst>
      <p:ext uri="{BB962C8B-B14F-4D97-AF65-F5344CB8AC3E}">
        <p14:creationId xmlns:p14="http://schemas.microsoft.com/office/powerpoint/2010/main" val="2691886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IN" spc="-10" smtClean="0"/>
              <a:t>Python</a:t>
            </a:r>
            <a:r>
              <a:rPr lang="en-IN" spc="30" smtClean="0"/>
              <a:t> </a:t>
            </a:r>
            <a:r>
              <a:rPr lang="en-IN" spc="-5" smtClean="0"/>
              <a:t>for</a:t>
            </a:r>
            <a:r>
              <a:rPr lang="en-IN" spc="-15" smtClean="0"/>
              <a:t> </a:t>
            </a:r>
            <a:r>
              <a:rPr lang="en-IN" spc="-5" smtClean="0"/>
              <a:t>Data</a:t>
            </a:r>
            <a:r>
              <a:rPr lang="en-IN" spc="-25" smtClean="0"/>
              <a:t> </a:t>
            </a:r>
            <a:r>
              <a:rPr lang="en-IN" smtClean="0"/>
              <a:t>Science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IN" spc="-30" smtClean="0"/>
              <a:t>‹#›</a:t>
            </a:fld>
            <a:endParaRPr lang="en-IN" spc="-30" dirty="0"/>
          </a:p>
        </p:txBody>
      </p:sp>
    </p:spTree>
    <p:extLst>
      <p:ext uri="{BB962C8B-B14F-4D97-AF65-F5344CB8AC3E}">
        <p14:creationId xmlns:p14="http://schemas.microsoft.com/office/powerpoint/2010/main" val="3480750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IN" spc="-10" smtClean="0"/>
              <a:t>Python</a:t>
            </a:r>
            <a:r>
              <a:rPr lang="en-IN" spc="30" smtClean="0"/>
              <a:t> </a:t>
            </a:r>
            <a:r>
              <a:rPr lang="en-IN" spc="-5" smtClean="0"/>
              <a:t>for</a:t>
            </a:r>
            <a:r>
              <a:rPr lang="en-IN" spc="-15" smtClean="0"/>
              <a:t> </a:t>
            </a:r>
            <a:r>
              <a:rPr lang="en-IN" spc="-5" smtClean="0"/>
              <a:t>Data</a:t>
            </a:r>
            <a:r>
              <a:rPr lang="en-IN" spc="-25" smtClean="0"/>
              <a:t> </a:t>
            </a:r>
            <a:r>
              <a:rPr lang="en-IN" smtClean="0"/>
              <a:t>Science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IN" spc="-30" smtClean="0"/>
              <a:t>‹#›</a:t>
            </a:fld>
            <a:endParaRPr lang="en-IN" spc="-30" dirty="0"/>
          </a:p>
        </p:txBody>
      </p:sp>
    </p:spTree>
    <p:extLst>
      <p:ext uri="{BB962C8B-B14F-4D97-AF65-F5344CB8AC3E}">
        <p14:creationId xmlns:p14="http://schemas.microsoft.com/office/powerpoint/2010/main" val="3086009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IN" spc="-10" smtClean="0"/>
              <a:t>Python</a:t>
            </a:r>
            <a:r>
              <a:rPr lang="en-IN" spc="30" smtClean="0"/>
              <a:t> </a:t>
            </a:r>
            <a:r>
              <a:rPr lang="en-IN" spc="-5" smtClean="0"/>
              <a:t>for</a:t>
            </a:r>
            <a:r>
              <a:rPr lang="en-IN" spc="-15" smtClean="0"/>
              <a:t> </a:t>
            </a:r>
            <a:r>
              <a:rPr lang="en-IN" spc="-5" smtClean="0"/>
              <a:t>Data</a:t>
            </a:r>
            <a:r>
              <a:rPr lang="en-IN" spc="-25" smtClean="0"/>
              <a:t> </a:t>
            </a:r>
            <a:r>
              <a:rPr lang="en-IN" smtClean="0"/>
              <a:t>Science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IN" spc="-30" smtClean="0"/>
              <a:t>‹#›</a:t>
            </a:fld>
            <a:endParaRPr lang="en-IN" spc="-30" dirty="0"/>
          </a:p>
        </p:txBody>
      </p:sp>
    </p:spTree>
    <p:extLst>
      <p:ext uri="{BB962C8B-B14F-4D97-AF65-F5344CB8AC3E}">
        <p14:creationId xmlns:p14="http://schemas.microsoft.com/office/powerpoint/2010/main" val="62883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IN" spc="-10" smtClean="0"/>
              <a:t>Python</a:t>
            </a:r>
            <a:r>
              <a:rPr lang="en-IN" spc="30" smtClean="0"/>
              <a:t> </a:t>
            </a:r>
            <a:r>
              <a:rPr lang="en-IN" spc="-5" smtClean="0"/>
              <a:t>for</a:t>
            </a:r>
            <a:r>
              <a:rPr lang="en-IN" spc="-15" smtClean="0"/>
              <a:t> </a:t>
            </a:r>
            <a:r>
              <a:rPr lang="en-IN" spc="-5" smtClean="0"/>
              <a:t>Data</a:t>
            </a:r>
            <a:r>
              <a:rPr lang="en-IN" spc="-25" smtClean="0"/>
              <a:t> </a:t>
            </a:r>
            <a:r>
              <a:rPr lang="en-IN" smtClean="0"/>
              <a:t>Science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IN" spc="-30" smtClean="0"/>
              <a:t>‹#›</a:t>
            </a:fld>
            <a:endParaRPr lang="en-IN" spc="-30" dirty="0"/>
          </a:p>
        </p:txBody>
      </p:sp>
    </p:spTree>
    <p:extLst>
      <p:ext uri="{BB962C8B-B14F-4D97-AF65-F5344CB8AC3E}">
        <p14:creationId xmlns:p14="http://schemas.microsoft.com/office/powerpoint/2010/main" val="485428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IN" spc="-10" smtClean="0"/>
              <a:t>Python</a:t>
            </a:r>
            <a:r>
              <a:rPr lang="en-IN" spc="30" smtClean="0"/>
              <a:t> </a:t>
            </a:r>
            <a:r>
              <a:rPr lang="en-IN" spc="-5" smtClean="0"/>
              <a:t>for</a:t>
            </a:r>
            <a:r>
              <a:rPr lang="en-IN" spc="-15" smtClean="0"/>
              <a:t> </a:t>
            </a:r>
            <a:r>
              <a:rPr lang="en-IN" spc="-5" smtClean="0"/>
              <a:t>Data</a:t>
            </a:r>
            <a:r>
              <a:rPr lang="en-IN" spc="-25" smtClean="0"/>
              <a:t> </a:t>
            </a:r>
            <a:r>
              <a:rPr lang="en-IN" smtClean="0"/>
              <a:t>Science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IN" spc="-30" smtClean="0"/>
              <a:t>‹#›</a:t>
            </a:fld>
            <a:endParaRPr lang="en-IN" spc="-30" dirty="0"/>
          </a:p>
        </p:txBody>
      </p:sp>
    </p:spTree>
    <p:extLst>
      <p:ext uri="{BB962C8B-B14F-4D97-AF65-F5344CB8AC3E}">
        <p14:creationId xmlns:p14="http://schemas.microsoft.com/office/powerpoint/2010/main" val="2675407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IN" spc="-10" smtClean="0"/>
              <a:t>Python</a:t>
            </a:r>
            <a:r>
              <a:rPr lang="en-IN" spc="30" smtClean="0"/>
              <a:t> </a:t>
            </a:r>
            <a:r>
              <a:rPr lang="en-IN" spc="-5" smtClean="0"/>
              <a:t>for</a:t>
            </a:r>
            <a:r>
              <a:rPr lang="en-IN" spc="-15" smtClean="0"/>
              <a:t> </a:t>
            </a:r>
            <a:r>
              <a:rPr lang="en-IN" spc="-5" smtClean="0"/>
              <a:t>Data</a:t>
            </a:r>
            <a:r>
              <a:rPr lang="en-IN" spc="-25" smtClean="0"/>
              <a:t> </a:t>
            </a:r>
            <a:r>
              <a:rPr lang="en-IN" smtClean="0"/>
              <a:t>Science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IN" spc="-30" smtClean="0"/>
              <a:t>‹#›</a:t>
            </a:fld>
            <a:endParaRPr lang="en-IN" spc="-30" dirty="0"/>
          </a:p>
        </p:txBody>
      </p:sp>
    </p:spTree>
    <p:extLst>
      <p:ext uri="{BB962C8B-B14F-4D97-AF65-F5344CB8AC3E}">
        <p14:creationId xmlns:p14="http://schemas.microsoft.com/office/powerpoint/2010/main" val="3946294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IN" spc="-10" smtClean="0"/>
              <a:t>Python</a:t>
            </a:r>
            <a:r>
              <a:rPr lang="en-IN" spc="30" smtClean="0"/>
              <a:t> </a:t>
            </a:r>
            <a:r>
              <a:rPr lang="en-IN" spc="-5" smtClean="0"/>
              <a:t>for</a:t>
            </a:r>
            <a:r>
              <a:rPr lang="en-IN" spc="-15" smtClean="0"/>
              <a:t> </a:t>
            </a:r>
            <a:r>
              <a:rPr lang="en-IN" spc="-5" smtClean="0"/>
              <a:t>Data</a:t>
            </a:r>
            <a:r>
              <a:rPr lang="en-IN" spc="-25" smtClean="0"/>
              <a:t> </a:t>
            </a:r>
            <a:r>
              <a:rPr lang="en-IN" smtClean="0"/>
              <a:t>Science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IN" spc="-30" smtClean="0"/>
              <a:t>‹#›</a:t>
            </a:fld>
            <a:endParaRPr lang="en-IN" spc="-30" dirty="0"/>
          </a:p>
        </p:txBody>
      </p:sp>
    </p:spTree>
    <p:extLst>
      <p:ext uri="{BB962C8B-B14F-4D97-AF65-F5344CB8AC3E}">
        <p14:creationId xmlns:p14="http://schemas.microsoft.com/office/powerpoint/2010/main" val="3989766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IN" spc="-10" smtClean="0"/>
              <a:t>Python</a:t>
            </a:r>
            <a:r>
              <a:rPr lang="en-IN" spc="30" smtClean="0"/>
              <a:t> </a:t>
            </a:r>
            <a:r>
              <a:rPr lang="en-IN" spc="-5" smtClean="0"/>
              <a:t>for</a:t>
            </a:r>
            <a:r>
              <a:rPr lang="en-IN" spc="-15" smtClean="0"/>
              <a:t> </a:t>
            </a:r>
            <a:r>
              <a:rPr lang="en-IN" spc="-5" smtClean="0"/>
              <a:t>Data</a:t>
            </a:r>
            <a:r>
              <a:rPr lang="en-IN" spc="-25" smtClean="0"/>
              <a:t> </a:t>
            </a:r>
            <a:r>
              <a:rPr lang="en-IN" smtClean="0"/>
              <a:t>Science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IN" spc="-30" smtClean="0"/>
              <a:t>‹#›</a:t>
            </a:fld>
            <a:endParaRPr lang="en-IN" spc="-3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466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2.jpe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.jpe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2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2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8.png"/><Relationship Id="rId11" Type="http://schemas.openxmlformats.org/officeDocument/2006/relationships/image" Target="../media/image2.jpe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2.jpe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2.jpe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Data Visualization</a:t>
            </a:r>
            <a:br>
              <a:rPr lang="en-IN" dirty="0" smtClean="0"/>
            </a:br>
            <a:r>
              <a:rPr lang="en-IN" dirty="0" smtClean="0"/>
              <a:t>Part - 1 </a:t>
            </a:r>
            <a:endParaRPr lang="en-IN" dirty="0"/>
          </a:p>
        </p:txBody>
      </p:sp>
      <p:pic>
        <p:nvPicPr>
          <p:cNvPr id="3" name="Picture 2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0865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045" y="334467"/>
            <a:ext cx="31375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65" dirty="0">
                <a:solidFill>
                  <a:srgbClr val="0A5293"/>
                </a:solidFill>
                <a:latin typeface="Trebuchet MS"/>
                <a:cs typeface="Trebuchet MS"/>
              </a:rPr>
              <a:t>In</a:t>
            </a:r>
            <a:r>
              <a:rPr sz="4400" b="0" spc="-10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215" dirty="0">
                <a:solidFill>
                  <a:srgbClr val="0A5293"/>
                </a:solidFill>
                <a:latin typeface="Trebuchet MS"/>
                <a:cs typeface="Trebuchet MS"/>
              </a:rPr>
              <a:t>this</a:t>
            </a:r>
            <a:r>
              <a:rPr sz="4400" b="0" spc="-114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355" dirty="0">
                <a:solidFill>
                  <a:srgbClr val="0A5293"/>
                </a:solidFill>
                <a:latin typeface="Trebuchet MS"/>
                <a:cs typeface="Trebuchet MS"/>
              </a:rPr>
              <a:t>l</a:t>
            </a:r>
            <a:r>
              <a:rPr sz="4400" b="0" spc="-210" dirty="0">
                <a:solidFill>
                  <a:srgbClr val="0A5293"/>
                </a:solidFill>
                <a:latin typeface="Trebuchet MS"/>
                <a:cs typeface="Trebuchet MS"/>
              </a:rPr>
              <a:t>ectu</a:t>
            </a:r>
            <a:r>
              <a:rPr sz="4400" b="0" spc="-250" dirty="0">
                <a:solidFill>
                  <a:srgbClr val="0A5293"/>
                </a:solidFill>
                <a:latin typeface="Trebuchet MS"/>
                <a:cs typeface="Trebuchet MS"/>
              </a:rPr>
              <a:t>r</a:t>
            </a:r>
            <a:r>
              <a:rPr sz="4400" b="0" spc="-290" dirty="0">
                <a:solidFill>
                  <a:srgbClr val="0A5293"/>
                </a:solidFill>
                <a:latin typeface="Trebuchet MS"/>
                <a:cs typeface="Trebuchet MS"/>
              </a:rPr>
              <a:t>e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Python</a:t>
            </a:r>
            <a:r>
              <a:rPr spc="30" dirty="0"/>
              <a:t> </a:t>
            </a:r>
            <a:r>
              <a:rPr spc="-5" dirty="0"/>
              <a:t>for</a:t>
            </a:r>
            <a:r>
              <a:rPr spc="-15" dirty="0"/>
              <a:t> </a:t>
            </a:r>
            <a:r>
              <a:rPr spc="-5" dirty="0"/>
              <a:t>Data</a:t>
            </a:r>
            <a:r>
              <a:rPr spc="-25" dirty="0"/>
              <a:t> </a:t>
            </a:r>
            <a:r>
              <a:rPr dirty="0"/>
              <a:t>Science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2</a:t>
            </a:fld>
            <a:endParaRPr spc="-30" dirty="0"/>
          </a:p>
        </p:txBody>
      </p:sp>
      <p:sp>
        <p:nvSpPr>
          <p:cNvPr id="3" name="object 3"/>
          <p:cNvSpPr txBox="1"/>
          <p:nvPr/>
        </p:nvSpPr>
        <p:spPr>
          <a:xfrm>
            <a:off x="762000" y="1905000"/>
            <a:ext cx="10242550" cy="34404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50" dirty="0">
                <a:latin typeface="Trebuchet MS"/>
                <a:cs typeface="Trebuchet MS"/>
              </a:rPr>
              <a:t>We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will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learn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75" dirty="0">
                <a:latin typeface="Trebuchet MS"/>
                <a:cs typeface="Trebuchet MS"/>
              </a:rPr>
              <a:t>how </a:t>
            </a:r>
            <a:r>
              <a:rPr sz="3200" spc="-80" dirty="0">
                <a:latin typeface="Trebuchet MS"/>
                <a:cs typeface="Trebuchet MS"/>
              </a:rPr>
              <a:t>to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create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basic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plots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using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i="1" spc="-340" dirty="0">
                <a:latin typeface="Trebuchet MS"/>
                <a:cs typeface="Trebuchet MS"/>
              </a:rPr>
              <a:t>matplotlib</a:t>
            </a:r>
            <a:r>
              <a:rPr sz="3200" i="1" spc="-80" dirty="0">
                <a:latin typeface="Trebuchet MS"/>
                <a:cs typeface="Trebuchet MS"/>
              </a:rPr>
              <a:t> </a:t>
            </a:r>
            <a:r>
              <a:rPr sz="3200" spc="-145" dirty="0">
                <a:latin typeface="Trebuchet MS"/>
                <a:cs typeface="Trebuchet MS"/>
              </a:rPr>
              <a:t>library</a:t>
            </a:r>
            <a:endParaRPr sz="32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300" dirty="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lr>
                <a:srgbClr val="0096A7"/>
              </a:buClr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3200" spc="-170" dirty="0">
                <a:latin typeface="Trebuchet MS"/>
                <a:cs typeface="Trebuchet MS"/>
              </a:rPr>
              <a:t>Scatter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280" dirty="0">
                <a:latin typeface="Trebuchet MS"/>
                <a:cs typeface="Trebuchet MS"/>
              </a:rPr>
              <a:t>p</a:t>
            </a:r>
            <a:r>
              <a:rPr sz="3200" spc="-145" dirty="0">
                <a:latin typeface="Trebuchet MS"/>
                <a:cs typeface="Trebuchet MS"/>
              </a:rPr>
              <a:t>l</a:t>
            </a:r>
            <a:r>
              <a:rPr sz="3200" spc="-80" dirty="0">
                <a:latin typeface="Trebuchet MS"/>
                <a:cs typeface="Trebuchet MS"/>
              </a:rPr>
              <a:t>ot</a:t>
            </a:r>
            <a:endParaRPr sz="32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096A7"/>
              </a:buClr>
              <a:buFont typeface="Arial MT"/>
              <a:buChar char="•"/>
            </a:pPr>
            <a:endParaRPr sz="3300" dirty="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lr>
                <a:srgbClr val="0096A7"/>
              </a:buClr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3200" spc="-100" dirty="0">
                <a:latin typeface="Trebuchet MS"/>
                <a:cs typeface="Trebuchet MS"/>
              </a:rPr>
              <a:t>Histogram</a:t>
            </a:r>
            <a:endParaRPr sz="32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096A7"/>
              </a:buClr>
              <a:buFont typeface="Arial MT"/>
              <a:buChar char="•"/>
            </a:pPr>
            <a:endParaRPr sz="3300" dirty="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buClr>
                <a:srgbClr val="0096A7"/>
              </a:buClr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3200" spc="-100" dirty="0">
                <a:latin typeface="Trebuchet MS"/>
                <a:cs typeface="Trebuchet MS"/>
              </a:rPr>
              <a:t>Bar</a:t>
            </a:r>
            <a:r>
              <a:rPr sz="3200" spc="-130" dirty="0">
                <a:latin typeface="Trebuchet MS"/>
                <a:cs typeface="Trebuchet MS"/>
              </a:rPr>
              <a:t> </a:t>
            </a:r>
            <a:r>
              <a:rPr sz="3200" spc="-145" dirty="0">
                <a:latin typeface="Trebuchet MS"/>
                <a:cs typeface="Trebuchet MS"/>
              </a:rPr>
              <a:t>plot</a:t>
            </a:r>
            <a:endParaRPr sz="3200" dirty="0">
              <a:latin typeface="Trebuchet MS"/>
              <a:cs typeface="Trebuchet MS"/>
            </a:endParaRPr>
          </a:p>
        </p:txBody>
      </p:sp>
      <p:pic>
        <p:nvPicPr>
          <p:cNvPr id="6" name="Picture 2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400" y="408254"/>
            <a:ext cx="39852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35" dirty="0">
                <a:solidFill>
                  <a:srgbClr val="0A5293"/>
                </a:solidFill>
                <a:latin typeface="Trebuchet MS"/>
                <a:cs typeface="Trebuchet MS"/>
              </a:rPr>
              <a:t>Data</a:t>
            </a:r>
            <a:r>
              <a:rPr sz="4400" b="0" spc="-790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265" dirty="0">
                <a:solidFill>
                  <a:srgbClr val="0A5293"/>
                </a:solidFill>
                <a:latin typeface="Trebuchet MS"/>
                <a:cs typeface="Trebuchet MS"/>
              </a:rPr>
              <a:t>Visualizat</a:t>
            </a:r>
            <a:r>
              <a:rPr sz="4400" b="0" spc="-195" dirty="0">
                <a:solidFill>
                  <a:srgbClr val="0A5293"/>
                </a:solidFill>
                <a:latin typeface="Trebuchet MS"/>
                <a:cs typeface="Trebuchet MS"/>
              </a:rPr>
              <a:t>i</a:t>
            </a:r>
            <a:r>
              <a:rPr sz="4400" b="0" spc="-70" dirty="0">
                <a:solidFill>
                  <a:srgbClr val="0A5293"/>
                </a:solidFill>
                <a:latin typeface="Trebuchet MS"/>
                <a:cs typeface="Trebuchet MS"/>
              </a:rPr>
              <a:t>on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Python</a:t>
            </a:r>
            <a:r>
              <a:rPr spc="30" dirty="0"/>
              <a:t> </a:t>
            </a:r>
            <a:r>
              <a:rPr spc="-5" dirty="0"/>
              <a:t>for</a:t>
            </a:r>
            <a:r>
              <a:rPr spc="-15" dirty="0"/>
              <a:t> </a:t>
            </a:r>
            <a:r>
              <a:rPr spc="-5" dirty="0"/>
              <a:t>Data</a:t>
            </a:r>
            <a:r>
              <a:rPr spc="-25" dirty="0"/>
              <a:t> </a:t>
            </a:r>
            <a:r>
              <a:rPr dirty="0"/>
              <a:t>Science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3</a:t>
            </a:fld>
            <a:endParaRPr spc="-30" dirty="0"/>
          </a:p>
        </p:txBody>
      </p:sp>
      <p:sp>
        <p:nvSpPr>
          <p:cNvPr id="3" name="object 3"/>
          <p:cNvSpPr txBox="1"/>
          <p:nvPr/>
        </p:nvSpPr>
        <p:spPr>
          <a:xfrm>
            <a:off x="450900" y="1346961"/>
            <a:ext cx="8892540" cy="363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95"/>
              </a:spcBef>
              <a:buClr>
                <a:srgbClr val="0096A7"/>
              </a:buClr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800" spc="-90" dirty="0">
                <a:latin typeface="Trebuchet MS"/>
                <a:cs typeface="Trebuchet MS"/>
              </a:rPr>
              <a:t>Data</a:t>
            </a:r>
            <a:r>
              <a:rPr sz="2800" spc="254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visualization</a:t>
            </a:r>
            <a:r>
              <a:rPr sz="2800" spc="285" dirty="0">
                <a:latin typeface="Trebuchet MS"/>
                <a:cs typeface="Trebuchet MS"/>
              </a:rPr>
              <a:t> </a:t>
            </a:r>
            <a:r>
              <a:rPr sz="2800" spc="-140" dirty="0">
                <a:latin typeface="Trebuchet MS"/>
                <a:cs typeface="Trebuchet MS"/>
              </a:rPr>
              <a:t>allows</a:t>
            </a:r>
            <a:r>
              <a:rPr sz="2800" spc="27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us</a:t>
            </a:r>
            <a:r>
              <a:rPr sz="2800" spc="26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to</a:t>
            </a:r>
            <a:r>
              <a:rPr sz="2800" spc="270" dirty="0">
                <a:latin typeface="Trebuchet MS"/>
                <a:cs typeface="Trebuchet MS"/>
              </a:rPr>
              <a:t> </a:t>
            </a:r>
            <a:r>
              <a:rPr sz="2800" spc="-160" dirty="0">
                <a:latin typeface="Trebuchet MS"/>
                <a:cs typeface="Trebuchet MS"/>
              </a:rPr>
              <a:t>quickly</a:t>
            </a:r>
            <a:r>
              <a:rPr sz="2800" spc="260" dirty="0">
                <a:latin typeface="Trebuchet MS"/>
                <a:cs typeface="Trebuchet MS"/>
              </a:rPr>
              <a:t> </a:t>
            </a:r>
            <a:r>
              <a:rPr sz="2800" spc="-140" dirty="0">
                <a:latin typeface="Trebuchet MS"/>
                <a:cs typeface="Trebuchet MS"/>
              </a:rPr>
              <a:t>interpret</a:t>
            </a:r>
            <a:r>
              <a:rPr sz="2800" spc="270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the</a:t>
            </a:r>
            <a:r>
              <a:rPr sz="2800" spc="270" dirty="0">
                <a:latin typeface="Trebuchet MS"/>
                <a:cs typeface="Trebuchet MS"/>
              </a:rPr>
              <a:t> </a:t>
            </a:r>
            <a:r>
              <a:rPr sz="2800" spc="-215" dirty="0">
                <a:latin typeface="Trebuchet MS"/>
                <a:cs typeface="Trebuchet MS"/>
              </a:rPr>
              <a:t>data </a:t>
            </a:r>
            <a:r>
              <a:rPr sz="2800" spc="-830" dirty="0">
                <a:latin typeface="Trebuchet MS"/>
                <a:cs typeface="Trebuchet MS"/>
              </a:rPr>
              <a:t> </a:t>
            </a:r>
            <a:r>
              <a:rPr sz="2800" spc="-185" dirty="0">
                <a:latin typeface="Trebuchet MS"/>
                <a:cs typeface="Trebuchet MS"/>
              </a:rPr>
              <a:t>and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200" dirty="0">
                <a:latin typeface="Trebuchet MS"/>
                <a:cs typeface="Trebuchet MS"/>
              </a:rPr>
              <a:t>adjust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254" dirty="0">
                <a:latin typeface="Trebuchet MS"/>
                <a:cs typeface="Trebuchet MS"/>
              </a:rPr>
              <a:t>dif</a:t>
            </a:r>
            <a:r>
              <a:rPr sz="2800" spc="-265" dirty="0">
                <a:latin typeface="Trebuchet MS"/>
                <a:cs typeface="Trebuchet MS"/>
              </a:rPr>
              <a:t>f</a:t>
            </a:r>
            <a:r>
              <a:rPr sz="2800" spc="-100" dirty="0">
                <a:latin typeface="Trebuchet MS"/>
                <a:cs typeface="Trebuchet MS"/>
              </a:rPr>
              <a:t>e</a:t>
            </a:r>
            <a:r>
              <a:rPr sz="2800" spc="-135" dirty="0">
                <a:latin typeface="Trebuchet MS"/>
                <a:cs typeface="Trebuchet MS"/>
              </a:rPr>
              <a:t>r</a:t>
            </a:r>
            <a:r>
              <a:rPr sz="2800" spc="-160" dirty="0">
                <a:latin typeface="Trebuchet MS"/>
                <a:cs typeface="Trebuchet MS"/>
              </a:rPr>
              <a:t>e</a:t>
            </a:r>
            <a:r>
              <a:rPr sz="2800" spc="-155" dirty="0">
                <a:latin typeface="Trebuchet MS"/>
                <a:cs typeface="Trebuchet MS"/>
              </a:rPr>
              <a:t>n</a:t>
            </a:r>
            <a:r>
              <a:rPr sz="2800" spc="-180" dirty="0">
                <a:latin typeface="Trebuchet MS"/>
                <a:cs typeface="Trebuchet MS"/>
              </a:rPr>
              <a:t>t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va</a:t>
            </a:r>
            <a:r>
              <a:rPr sz="2800" spc="-125" dirty="0">
                <a:latin typeface="Trebuchet MS"/>
                <a:cs typeface="Trebuchet MS"/>
              </a:rPr>
              <a:t>r</a:t>
            </a:r>
            <a:r>
              <a:rPr sz="2800" spc="-190" dirty="0">
                <a:latin typeface="Trebuchet MS"/>
                <a:cs typeface="Trebuchet MS"/>
              </a:rPr>
              <a:t>iable</a:t>
            </a:r>
            <a:r>
              <a:rPr sz="2800" spc="-170" dirty="0">
                <a:latin typeface="Trebuchet MS"/>
                <a:cs typeface="Trebuchet MS"/>
              </a:rPr>
              <a:t>s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to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see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t</a:t>
            </a:r>
            <a:r>
              <a:rPr sz="2800" spc="-180" dirty="0">
                <a:latin typeface="Trebuchet MS"/>
                <a:cs typeface="Trebuchet MS"/>
              </a:rPr>
              <a:t>h</a:t>
            </a:r>
            <a:r>
              <a:rPr sz="2800" spc="-120" dirty="0">
                <a:latin typeface="Trebuchet MS"/>
                <a:cs typeface="Trebuchet MS"/>
              </a:rPr>
              <a:t>eir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310" dirty="0">
                <a:latin typeface="Trebuchet MS"/>
                <a:cs typeface="Trebuchet MS"/>
              </a:rPr>
              <a:t>ef</a:t>
            </a:r>
            <a:r>
              <a:rPr sz="2800" spc="-280" dirty="0">
                <a:latin typeface="Trebuchet MS"/>
                <a:cs typeface="Trebuchet MS"/>
              </a:rPr>
              <a:t>f</a:t>
            </a:r>
            <a:r>
              <a:rPr sz="2800" spc="-180" dirty="0">
                <a:latin typeface="Trebuchet MS"/>
                <a:cs typeface="Trebuchet MS"/>
              </a:rPr>
              <a:t>ect</a:t>
            </a:r>
            <a:endParaRPr sz="2800">
              <a:latin typeface="Trebuchet MS"/>
              <a:cs typeface="Trebuchet MS"/>
            </a:endParaRPr>
          </a:p>
          <a:p>
            <a:pPr marL="12700" marR="128905">
              <a:lnSpc>
                <a:spcPct val="100000"/>
              </a:lnSpc>
              <a:buClr>
                <a:srgbClr val="0096A7"/>
              </a:buClr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800" spc="-140" dirty="0">
                <a:latin typeface="Trebuchet MS"/>
                <a:cs typeface="Trebuchet MS"/>
              </a:rPr>
              <a:t>Technology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is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increasingly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making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185" dirty="0">
                <a:latin typeface="Trebuchet MS"/>
                <a:cs typeface="Trebuchet MS"/>
              </a:rPr>
              <a:t>it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easier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for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us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to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do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so </a:t>
            </a:r>
            <a:r>
              <a:rPr sz="2800" spc="-825" dirty="0">
                <a:latin typeface="Trebuchet MS"/>
                <a:cs typeface="Trebuchet MS"/>
              </a:rPr>
              <a:t> </a:t>
            </a:r>
            <a:r>
              <a:rPr sz="2800" spc="240" dirty="0">
                <a:latin typeface="Trebuchet MS"/>
                <a:cs typeface="Trebuchet MS"/>
              </a:rPr>
              <a:t>W</a:t>
            </a:r>
            <a:r>
              <a:rPr sz="2800" spc="60" dirty="0">
                <a:latin typeface="Trebuchet MS"/>
                <a:cs typeface="Trebuchet MS"/>
              </a:rPr>
              <a:t>h</a:t>
            </a:r>
            <a:r>
              <a:rPr sz="2800" spc="-160" dirty="0">
                <a:latin typeface="Trebuchet MS"/>
                <a:cs typeface="Trebuchet MS"/>
              </a:rPr>
              <a:t>y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vis</a:t>
            </a:r>
            <a:r>
              <a:rPr sz="2800" spc="-165" dirty="0">
                <a:latin typeface="Trebuchet MS"/>
                <a:cs typeface="Trebuchet MS"/>
              </a:rPr>
              <a:t>u</a:t>
            </a:r>
            <a:r>
              <a:rPr sz="2800" spc="-200" dirty="0">
                <a:latin typeface="Trebuchet MS"/>
                <a:cs typeface="Trebuchet MS"/>
              </a:rPr>
              <a:t>ali</a:t>
            </a:r>
            <a:r>
              <a:rPr sz="2800" spc="-265" dirty="0">
                <a:latin typeface="Trebuchet MS"/>
                <a:cs typeface="Trebuchet MS"/>
              </a:rPr>
              <a:t>z</a:t>
            </a:r>
            <a:r>
              <a:rPr sz="2800" spc="-190" dirty="0">
                <a:latin typeface="Trebuchet MS"/>
                <a:cs typeface="Trebuchet MS"/>
              </a:rPr>
              <a:t>e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95" dirty="0">
                <a:latin typeface="Trebuchet MS"/>
                <a:cs typeface="Trebuchet MS"/>
              </a:rPr>
              <a:t>data?</a:t>
            </a:r>
            <a:endParaRPr sz="2800">
              <a:latin typeface="Trebuchet MS"/>
              <a:cs typeface="Trebuchet MS"/>
            </a:endParaRPr>
          </a:p>
          <a:p>
            <a:pPr marL="1078865" lvl="1" indent="-424180">
              <a:lnSpc>
                <a:spcPct val="100000"/>
              </a:lnSpc>
              <a:spcBef>
                <a:spcPts val="2120"/>
              </a:spcBef>
              <a:buClr>
                <a:srgbClr val="0096A7"/>
              </a:buClr>
              <a:buSzPct val="89583"/>
              <a:buFont typeface="Courier New"/>
              <a:buChar char="o"/>
              <a:tabLst>
                <a:tab pos="1078865" algn="l"/>
                <a:tab pos="1079500" algn="l"/>
              </a:tabLst>
            </a:pPr>
            <a:r>
              <a:rPr sz="2400" spc="-5" dirty="0">
                <a:latin typeface="Trebuchet MS"/>
                <a:cs typeface="Trebuchet MS"/>
              </a:rPr>
              <a:t>Obs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80" dirty="0">
                <a:latin typeface="Trebuchet MS"/>
                <a:cs typeface="Trebuchet MS"/>
              </a:rPr>
              <a:t>r</a:t>
            </a:r>
            <a:r>
              <a:rPr sz="2400" spc="-170" dirty="0">
                <a:latin typeface="Trebuchet MS"/>
                <a:cs typeface="Trebuchet MS"/>
              </a:rPr>
              <a:t>v</a:t>
            </a:r>
            <a:r>
              <a:rPr sz="2400" spc="-160" dirty="0">
                <a:latin typeface="Trebuchet MS"/>
                <a:cs typeface="Trebuchet MS"/>
              </a:rPr>
              <a:t>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the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p</a:t>
            </a:r>
            <a:r>
              <a:rPr sz="2400" spc="-170" dirty="0">
                <a:latin typeface="Trebuchet MS"/>
                <a:cs typeface="Trebuchet MS"/>
              </a:rPr>
              <a:t>att</a:t>
            </a:r>
            <a:r>
              <a:rPr sz="2400" spc="-204" dirty="0">
                <a:latin typeface="Trebuchet MS"/>
                <a:cs typeface="Trebuchet MS"/>
              </a:rPr>
              <a:t>e</a:t>
            </a:r>
            <a:r>
              <a:rPr sz="2400" spc="-50" dirty="0">
                <a:latin typeface="Trebuchet MS"/>
                <a:cs typeface="Trebuchet MS"/>
              </a:rPr>
              <a:t>rns</a:t>
            </a:r>
            <a:endParaRPr sz="2400">
              <a:latin typeface="Trebuchet MS"/>
              <a:cs typeface="Trebuchet MS"/>
            </a:endParaRPr>
          </a:p>
          <a:p>
            <a:pPr marL="1078865" lvl="1" indent="-424180">
              <a:lnSpc>
                <a:spcPct val="100000"/>
              </a:lnSpc>
              <a:spcBef>
                <a:spcPts val="2100"/>
              </a:spcBef>
              <a:buClr>
                <a:srgbClr val="0096A7"/>
              </a:buClr>
              <a:buSzPct val="89583"/>
              <a:buFont typeface="Courier New"/>
              <a:buChar char="o"/>
              <a:tabLst>
                <a:tab pos="1078865" algn="l"/>
                <a:tab pos="1079500" algn="l"/>
              </a:tabLst>
            </a:pPr>
            <a:r>
              <a:rPr sz="2400" spc="-150" dirty="0">
                <a:latin typeface="Trebuchet MS"/>
                <a:cs typeface="Trebuchet MS"/>
              </a:rPr>
              <a:t>Identify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extreme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values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that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could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be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anomalies</a:t>
            </a:r>
            <a:endParaRPr sz="2400">
              <a:latin typeface="Trebuchet MS"/>
              <a:cs typeface="Trebuchet MS"/>
            </a:endParaRPr>
          </a:p>
          <a:p>
            <a:pPr marL="1078865" lvl="1" indent="-424180">
              <a:lnSpc>
                <a:spcPct val="100000"/>
              </a:lnSpc>
              <a:spcBef>
                <a:spcPts val="2100"/>
              </a:spcBef>
              <a:buClr>
                <a:srgbClr val="0096A7"/>
              </a:buClr>
              <a:buSzPct val="89583"/>
              <a:buFont typeface="Courier New"/>
              <a:buChar char="o"/>
              <a:tabLst>
                <a:tab pos="1078865" algn="l"/>
                <a:tab pos="1079500" algn="l"/>
              </a:tabLst>
            </a:pPr>
            <a:r>
              <a:rPr sz="2400" spc="-130" dirty="0">
                <a:latin typeface="Trebuchet MS"/>
                <a:cs typeface="Trebuchet MS"/>
              </a:rPr>
              <a:t>Easy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int</a:t>
            </a:r>
            <a:r>
              <a:rPr sz="2400" spc="-175" dirty="0">
                <a:latin typeface="Trebuchet MS"/>
                <a:cs typeface="Trebuchet MS"/>
              </a:rPr>
              <a:t>e</a:t>
            </a:r>
            <a:r>
              <a:rPr sz="2400" spc="-40" dirty="0">
                <a:latin typeface="Trebuchet MS"/>
                <a:cs typeface="Trebuchet MS"/>
              </a:rPr>
              <a:t>rp</a:t>
            </a:r>
            <a:r>
              <a:rPr sz="2400" spc="-85" dirty="0">
                <a:latin typeface="Trebuchet MS"/>
                <a:cs typeface="Trebuchet MS"/>
              </a:rPr>
              <a:t>r</a:t>
            </a:r>
            <a:r>
              <a:rPr sz="2400" spc="-180" dirty="0">
                <a:latin typeface="Trebuchet MS"/>
                <a:cs typeface="Trebuchet MS"/>
              </a:rPr>
              <a:t>etat</a:t>
            </a:r>
            <a:r>
              <a:rPr sz="2400" spc="-85" dirty="0">
                <a:latin typeface="Trebuchet MS"/>
                <a:cs typeface="Trebuchet MS"/>
              </a:rPr>
              <a:t>ion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6" name="Picture 2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53" y="212293"/>
            <a:ext cx="78816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320" dirty="0">
                <a:solidFill>
                  <a:srgbClr val="0A5293"/>
                </a:solidFill>
                <a:latin typeface="Trebuchet MS"/>
                <a:cs typeface="Trebuchet MS"/>
              </a:rPr>
              <a:t>P</a:t>
            </a:r>
            <a:r>
              <a:rPr sz="4400" b="0" spc="-185" dirty="0">
                <a:solidFill>
                  <a:srgbClr val="0A5293"/>
                </a:solidFill>
                <a:latin typeface="Trebuchet MS"/>
                <a:cs typeface="Trebuchet MS"/>
              </a:rPr>
              <a:t>opular</a:t>
            </a:r>
            <a:r>
              <a:rPr sz="4400" b="0" spc="-14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220" dirty="0">
                <a:solidFill>
                  <a:srgbClr val="0A5293"/>
                </a:solidFill>
                <a:latin typeface="Trebuchet MS"/>
                <a:cs typeface="Trebuchet MS"/>
              </a:rPr>
              <a:t>plot</a:t>
            </a:r>
            <a:r>
              <a:rPr sz="4400" b="0" spc="-210" dirty="0">
                <a:solidFill>
                  <a:srgbClr val="0A5293"/>
                </a:solidFill>
                <a:latin typeface="Trebuchet MS"/>
                <a:cs typeface="Trebuchet MS"/>
              </a:rPr>
              <a:t>t</a:t>
            </a:r>
            <a:r>
              <a:rPr sz="4400" b="0" spc="-260" dirty="0">
                <a:solidFill>
                  <a:srgbClr val="0A5293"/>
                </a:solidFill>
                <a:latin typeface="Trebuchet MS"/>
                <a:cs typeface="Trebuchet MS"/>
              </a:rPr>
              <a:t>in</a:t>
            </a:r>
            <a:r>
              <a:rPr sz="4400" b="0" spc="-310" dirty="0">
                <a:solidFill>
                  <a:srgbClr val="0A5293"/>
                </a:solidFill>
                <a:latin typeface="Trebuchet MS"/>
                <a:cs typeface="Trebuchet MS"/>
              </a:rPr>
              <a:t>g</a:t>
            </a:r>
            <a:r>
              <a:rPr sz="4400" b="0" spc="-10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355" dirty="0">
                <a:solidFill>
                  <a:srgbClr val="0A5293"/>
                </a:solidFill>
                <a:latin typeface="Trebuchet MS"/>
                <a:cs typeface="Trebuchet MS"/>
              </a:rPr>
              <a:t>l</a:t>
            </a:r>
            <a:r>
              <a:rPr sz="4400" b="0" spc="-204" dirty="0">
                <a:solidFill>
                  <a:srgbClr val="0A5293"/>
                </a:solidFill>
                <a:latin typeface="Trebuchet MS"/>
                <a:cs typeface="Trebuchet MS"/>
              </a:rPr>
              <a:t>ibrarie</a:t>
            </a:r>
            <a:r>
              <a:rPr sz="4400" b="0" spc="-190" dirty="0">
                <a:solidFill>
                  <a:srgbClr val="0A5293"/>
                </a:solidFill>
                <a:latin typeface="Trebuchet MS"/>
                <a:cs typeface="Trebuchet MS"/>
              </a:rPr>
              <a:t>s</a:t>
            </a:r>
            <a:r>
              <a:rPr sz="4400" b="0" spc="-150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175" dirty="0">
                <a:solidFill>
                  <a:srgbClr val="0A5293"/>
                </a:solidFill>
                <a:latin typeface="Trebuchet MS"/>
                <a:cs typeface="Trebuchet MS"/>
              </a:rPr>
              <a:t>i</a:t>
            </a:r>
            <a:r>
              <a:rPr sz="4400" b="0" spc="-325" dirty="0">
                <a:solidFill>
                  <a:srgbClr val="0A5293"/>
                </a:solidFill>
                <a:latin typeface="Trebuchet MS"/>
                <a:cs typeface="Trebuchet MS"/>
              </a:rPr>
              <a:t>n</a:t>
            </a:r>
            <a:r>
              <a:rPr sz="4400" b="0" spc="-10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180" dirty="0">
                <a:solidFill>
                  <a:srgbClr val="0A5293"/>
                </a:solidFill>
                <a:latin typeface="Trebuchet MS"/>
                <a:cs typeface="Trebuchet MS"/>
              </a:rPr>
              <a:t>Python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Python</a:t>
            </a:r>
            <a:r>
              <a:rPr spc="30" dirty="0"/>
              <a:t> </a:t>
            </a:r>
            <a:r>
              <a:rPr spc="-5" dirty="0"/>
              <a:t>for</a:t>
            </a:r>
            <a:r>
              <a:rPr spc="-15" dirty="0"/>
              <a:t> </a:t>
            </a:r>
            <a:r>
              <a:rPr spc="-5" dirty="0"/>
              <a:t>Data</a:t>
            </a:r>
            <a:r>
              <a:rPr spc="-25" dirty="0"/>
              <a:t> </a:t>
            </a:r>
            <a:r>
              <a:rPr dirty="0"/>
              <a:t>Science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4</a:t>
            </a:fld>
            <a:endParaRPr spc="-30" dirty="0"/>
          </a:p>
        </p:txBody>
      </p:sp>
      <p:sp>
        <p:nvSpPr>
          <p:cNvPr id="3" name="object 3"/>
          <p:cNvSpPr txBox="1"/>
          <p:nvPr/>
        </p:nvSpPr>
        <p:spPr>
          <a:xfrm>
            <a:off x="479247" y="1123899"/>
            <a:ext cx="806132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  <a:tabLst>
                <a:tab pos="1077595" algn="l"/>
                <a:tab pos="1978660" algn="l"/>
                <a:tab pos="3162935" algn="l"/>
                <a:tab pos="4394200" algn="l"/>
                <a:tab pos="5581650" algn="l"/>
                <a:tab pos="6267450" algn="l"/>
                <a:tab pos="7168515" algn="l"/>
              </a:tabLst>
            </a:pPr>
            <a:r>
              <a:rPr sz="2400" spc="-100" dirty="0">
                <a:latin typeface="Trebuchet MS"/>
                <a:cs typeface="Trebuchet MS"/>
              </a:rPr>
              <a:t>Python	</a:t>
            </a:r>
            <a:r>
              <a:rPr sz="2400" spc="-195" dirty="0">
                <a:latin typeface="Trebuchet MS"/>
                <a:cs typeface="Trebuchet MS"/>
              </a:rPr>
              <a:t>off</a:t>
            </a:r>
            <a:r>
              <a:rPr sz="2400" spc="-170" dirty="0">
                <a:latin typeface="Trebuchet MS"/>
                <a:cs typeface="Trebuchet MS"/>
              </a:rPr>
              <a:t>e</a:t>
            </a:r>
            <a:r>
              <a:rPr sz="2400" spc="-15" dirty="0">
                <a:latin typeface="Trebuchet MS"/>
                <a:cs typeface="Trebuchet MS"/>
              </a:rPr>
              <a:t>rs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70" dirty="0">
                <a:latin typeface="Trebuchet MS"/>
                <a:cs typeface="Trebuchet MS"/>
              </a:rPr>
              <a:t>m</a:t>
            </a:r>
            <a:r>
              <a:rPr sz="2400" spc="-155" dirty="0">
                <a:latin typeface="Trebuchet MS"/>
                <a:cs typeface="Trebuchet MS"/>
              </a:rPr>
              <a:t>ultiple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95" dirty="0">
                <a:latin typeface="Trebuchet MS"/>
                <a:cs typeface="Trebuchet MS"/>
              </a:rPr>
              <a:t>g</a:t>
            </a:r>
            <a:r>
              <a:rPr sz="2400" spc="-85" dirty="0">
                <a:latin typeface="Trebuchet MS"/>
                <a:cs typeface="Trebuchet MS"/>
              </a:rPr>
              <a:t>r</a:t>
            </a:r>
            <a:r>
              <a:rPr sz="2400" spc="-270" dirty="0">
                <a:latin typeface="Trebuchet MS"/>
                <a:cs typeface="Trebuchet MS"/>
              </a:rPr>
              <a:t>a</a:t>
            </a:r>
            <a:r>
              <a:rPr sz="2400" spc="-140" dirty="0">
                <a:latin typeface="Trebuchet MS"/>
                <a:cs typeface="Trebuchet MS"/>
              </a:rPr>
              <a:t>phing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00" dirty="0">
                <a:latin typeface="Trebuchet MS"/>
                <a:cs typeface="Trebuchet MS"/>
              </a:rPr>
              <a:t>l</a:t>
            </a:r>
            <a:r>
              <a:rPr sz="2400" spc="-125" dirty="0">
                <a:latin typeface="Trebuchet MS"/>
                <a:cs typeface="Trebuchet MS"/>
              </a:rPr>
              <a:t>ibr</a:t>
            </a:r>
            <a:r>
              <a:rPr sz="2400" spc="-170" dirty="0">
                <a:latin typeface="Trebuchet MS"/>
                <a:cs typeface="Trebuchet MS"/>
              </a:rPr>
              <a:t>a</a:t>
            </a:r>
            <a:r>
              <a:rPr sz="2400" spc="-90" dirty="0">
                <a:latin typeface="Trebuchet MS"/>
                <a:cs typeface="Trebuchet MS"/>
              </a:rPr>
              <a:t>ries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60" dirty="0">
                <a:latin typeface="Trebuchet MS"/>
                <a:cs typeface="Trebuchet MS"/>
              </a:rPr>
              <a:t>th</a:t>
            </a:r>
            <a:r>
              <a:rPr sz="2400" spc="-195" dirty="0">
                <a:latin typeface="Trebuchet MS"/>
                <a:cs typeface="Trebuchet MS"/>
              </a:rPr>
              <a:t>a</a:t>
            </a:r>
            <a:r>
              <a:rPr sz="2400" spc="-155" dirty="0">
                <a:latin typeface="Trebuchet MS"/>
                <a:cs typeface="Trebuchet MS"/>
              </a:rPr>
              <a:t>t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95" dirty="0">
                <a:latin typeface="Trebuchet MS"/>
                <a:cs typeface="Trebuchet MS"/>
              </a:rPr>
              <a:t>off</a:t>
            </a:r>
            <a:r>
              <a:rPr sz="2400" spc="-65" dirty="0">
                <a:latin typeface="Trebuchet MS"/>
                <a:cs typeface="Trebuchet MS"/>
              </a:rPr>
              <a:t>ers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25" dirty="0">
                <a:latin typeface="Trebuchet MS"/>
                <a:cs typeface="Trebuchet MS"/>
              </a:rPr>
              <a:t>di</a:t>
            </a:r>
            <a:r>
              <a:rPr sz="2400" spc="-200" dirty="0">
                <a:latin typeface="Trebuchet MS"/>
                <a:cs typeface="Trebuchet MS"/>
              </a:rPr>
              <a:t>v</a:t>
            </a:r>
            <a:r>
              <a:rPr sz="2400" spc="-90" dirty="0">
                <a:latin typeface="Trebuchet MS"/>
                <a:cs typeface="Trebuchet MS"/>
              </a:rPr>
              <a:t>erse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ts val="2735"/>
              </a:lnSpc>
            </a:pPr>
            <a:r>
              <a:rPr sz="2400" spc="-155" dirty="0">
                <a:latin typeface="Trebuchet MS"/>
                <a:cs typeface="Trebuchet MS"/>
              </a:rPr>
              <a:t>features</a:t>
            </a:r>
            <a:endParaRPr sz="2400">
              <a:latin typeface="Trebuchet MS"/>
              <a:cs typeface="Trebuchet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44169" y="2181986"/>
          <a:ext cx="7853680" cy="43662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2015"/>
                <a:gridCol w="4431665"/>
              </a:tblGrid>
              <a:tr h="577723">
                <a:tc>
                  <a:txBody>
                    <a:bodyPr/>
                    <a:lstStyle/>
                    <a:p>
                      <a:pPr marL="434340" indent="-344170">
                        <a:lnSpc>
                          <a:spcPct val="100000"/>
                        </a:lnSpc>
                        <a:spcBef>
                          <a:spcPts val="270"/>
                        </a:spcBef>
                        <a:buClr>
                          <a:srgbClr val="0096A7"/>
                        </a:buClr>
                        <a:buFont typeface="Arial MT"/>
                        <a:buChar char="•"/>
                        <a:tabLst>
                          <a:tab pos="434340" algn="l"/>
                          <a:tab pos="434975" algn="l"/>
                        </a:tabLst>
                      </a:pPr>
                      <a:r>
                        <a:rPr sz="2400" b="1" i="1" spc="-114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matplotlib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78909C"/>
                      </a:solidFill>
                      <a:prstDash val="solid"/>
                    </a:lnT>
                    <a:lnB w="12700">
                      <a:solidFill>
                        <a:srgbClr val="78909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9125" indent="-343535">
                        <a:lnSpc>
                          <a:spcPct val="100000"/>
                        </a:lnSpc>
                        <a:spcBef>
                          <a:spcPts val="270"/>
                        </a:spcBef>
                        <a:buClr>
                          <a:srgbClr val="0096A7"/>
                        </a:buClr>
                        <a:buFont typeface="Arial MT"/>
                        <a:buChar char="•"/>
                        <a:tabLst>
                          <a:tab pos="619125" algn="l"/>
                          <a:tab pos="619760" algn="l"/>
                        </a:tabLst>
                      </a:pPr>
                      <a:r>
                        <a:rPr sz="240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24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2400" spc="-5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eate</a:t>
                      </a:r>
                      <a:r>
                        <a:rPr sz="2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2D</a:t>
                      </a:r>
                      <a:r>
                        <a:rPr sz="24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2400" spc="-1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400" spc="-3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phs</a:t>
                      </a:r>
                      <a:r>
                        <a:rPr sz="2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24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plots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78909C"/>
                      </a:solidFill>
                      <a:prstDash val="solid"/>
                    </a:lnT>
                    <a:lnB w="12700">
                      <a:solidFill>
                        <a:srgbClr val="78909C"/>
                      </a:solidFill>
                      <a:prstDash val="soli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434340" indent="-344170">
                        <a:lnSpc>
                          <a:spcPct val="100000"/>
                        </a:lnSpc>
                        <a:spcBef>
                          <a:spcPts val="270"/>
                        </a:spcBef>
                        <a:buClr>
                          <a:srgbClr val="0096A7"/>
                        </a:buClr>
                        <a:buFont typeface="Arial MT"/>
                        <a:buChar char="•"/>
                        <a:tabLst>
                          <a:tab pos="434340" algn="l"/>
                          <a:tab pos="434975" algn="l"/>
                        </a:tabLst>
                      </a:pPr>
                      <a:r>
                        <a:rPr sz="2400" b="1" i="1" dirty="0">
                          <a:latin typeface="Trebuchet MS"/>
                          <a:cs typeface="Trebuchet MS"/>
                        </a:rPr>
                        <a:t>pan</a:t>
                      </a:r>
                      <a:r>
                        <a:rPr sz="2400" b="1" i="1" spc="-1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2400" b="1" i="1" dirty="0">
                          <a:latin typeface="Trebuchet MS"/>
                          <a:cs typeface="Trebuchet MS"/>
                        </a:rPr>
                        <a:t>as</a:t>
                      </a:r>
                      <a:r>
                        <a:rPr sz="2400" b="1" i="1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b="1" i="1" dirty="0">
                          <a:latin typeface="Trebuchet MS"/>
                          <a:cs typeface="Trebuchet MS"/>
                        </a:rPr>
                        <a:t>visualization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78909C"/>
                      </a:solidFill>
                      <a:prstDash val="solid"/>
                    </a:lnT>
                    <a:solidFill>
                      <a:srgbClr val="E4E8EB"/>
                    </a:solidFill>
                  </a:tcPr>
                </a:tc>
                <a:tc>
                  <a:txBody>
                    <a:bodyPr/>
                    <a:lstStyle/>
                    <a:p>
                      <a:pPr marL="619125" marR="196215" indent="-342900">
                        <a:lnSpc>
                          <a:spcPct val="100000"/>
                        </a:lnSpc>
                        <a:spcBef>
                          <a:spcPts val="270"/>
                        </a:spcBef>
                        <a:buClr>
                          <a:srgbClr val="0096A7"/>
                        </a:buClr>
                        <a:buFont typeface="Arial MT"/>
                        <a:buChar char="•"/>
                        <a:tabLst>
                          <a:tab pos="619125" algn="l"/>
                          <a:tab pos="619760" algn="l"/>
                        </a:tabLst>
                      </a:pPr>
                      <a:r>
                        <a:rPr sz="2400" dirty="0">
                          <a:latin typeface="Trebuchet MS"/>
                          <a:cs typeface="Trebuchet MS"/>
                        </a:rPr>
                        <a:t>easy</a:t>
                      </a:r>
                      <a:r>
                        <a:rPr sz="2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24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use</a:t>
                      </a:r>
                      <a:r>
                        <a:rPr sz="2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spc="-5" dirty="0">
                          <a:latin typeface="Trebuchet MS"/>
                          <a:cs typeface="Trebuchet MS"/>
                        </a:rPr>
                        <a:t>interfac</a:t>
                      </a:r>
                      <a:r>
                        <a:rPr sz="2400" spc="4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2400" spc="-2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spc="-10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uilt</a:t>
                      </a:r>
                      <a:r>
                        <a:rPr sz="24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on  </a:t>
                      </a:r>
                      <a:r>
                        <a:rPr sz="2400" spc="-114" dirty="0">
                          <a:latin typeface="Trebuchet MS"/>
                          <a:cs typeface="Trebuchet MS"/>
                        </a:rPr>
                        <a:t>Matplotlib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78909C"/>
                      </a:solidFill>
                      <a:prstDash val="solid"/>
                    </a:lnT>
                    <a:solidFill>
                      <a:srgbClr val="E4E8EB"/>
                    </a:solidFill>
                  </a:tcPr>
                </a:tc>
              </a:tr>
              <a:tr h="1323949">
                <a:tc>
                  <a:txBody>
                    <a:bodyPr/>
                    <a:lstStyle/>
                    <a:p>
                      <a:pPr marL="434340" indent="-344170">
                        <a:lnSpc>
                          <a:spcPct val="100000"/>
                        </a:lnSpc>
                        <a:spcBef>
                          <a:spcPts val="270"/>
                        </a:spcBef>
                        <a:buClr>
                          <a:srgbClr val="0096A7"/>
                        </a:buClr>
                        <a:buFont typeface="Arial MT"/>
                        <a:buChar char="•"/>
                        <a:tabLst>
                          <a:tab pos="434340" algn="l"/>
                          <a:tab pos="434975" algn="l"/>
                        </a:tabLst>
                      </a:pPr>
                      <a:r>
                        <a:rPr sz="2400" b="1" i="1" spc="-110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seaborn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619125" marR="115570" indent="-342900">
                        <a:lnSpc>
                          <a:spcPct val="100000"/>
                        </a:lnSpc>
                        <a:spcBef>
                          <a:spcPts val="270"/>
                        </a:spcBef>
                        <a:buClr>
                          <a:srgbClr val="0096A7"/>
                        </a:buClr>
                        <a:buFont typeface="Arial MT"/>
                        <a:buChar char="•"/>
                        <a:tabLst>
                          <a:tab pos="619125" algn="l"/>
                          <a:tab pos="619760" algn="l"/>
                        </a:tabLst>
                      </a:pPr>
                      <a:r>
                        <a:rPr sz="2400" dirty="0">
                          <a:latin typeface="Trebuchet MS"/>
                          <a:cs typeface="Trebuchet MS"/>
                        </a:rPr>
                        <a:t>p</a:t>
                      </a:r>
                      <a:r>
                        <a:rPr sz="2400" spc="-6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400" spc="-35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vides</a:t>
                      </a:r>
                      <a:r>
                        <a:rPr sz="2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4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high-</a:t>
                      </a:r>
                      <a:r>
                        <a:rPr sz="2400" spc="-5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2400" spc="-3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400" spc="-45" dirty="0">
                          <a:latin typeface="Trebuchet MS"/>
                          <a:cs typeface="Trebuchet MS"/>
                        </a:rPr>
                        <a:t>v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el</a:t>
                      </a:r>
                      <a:r>
                        <a:rPr sz="24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spc="-5" dirty="0">
                          <a:latin typeface="Trebuchet MS"/>
                          <a:cs typeface="Trebuchet MS"/>
                        </a:rPr>
                        <a:t>interface  </a:t>
                      </a:r>
                      <a:r>
                        <a:rPr sz="2400" spc="-25" dirty="0"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sz="24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dr</a:t>
                      </a:r>
                      <a:r>
                        <a:rPr sz="2400" spc="-9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400" spc="-5" dirty="0">
                          <a:latin typeface="Trebuchet MS"/>
                          <a:cs typeface="Trebuchet MS"/>
                        </a:rPr>
                        <a:t>win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2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at</a:t>
                      </a:r>
                      <a:r>
                        <a:rPr sz="2400" spc="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4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2400" spc="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24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2400" spc="-45" dirty="0">
                          <a:latin typeface="Trebuchet MS"/>
                          <a:cs typeface="Trebuchet MS"/>
                        </a:rPr>
                        <a:t>v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4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and  </a:t>
                      </a:r>
                      <a:r>
                        <a:rPr sz="2400" spc="-5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2400" spc="-25" dirty="0">
                          <a:latin typeface="Trebuchet MS"/>
                          <a:cs typeface="Trebuchet MS"/>
                        </a:rPr>
                        <a:t>f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sz="2400" spc="-10" dirty="0">
                          <a:latin typeface="Trebuchet MS"/>
                          <a:cs typeface="Trebuchet MS"/>
                        </a:rPr>
                        <a:t>m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ati</a:t>
                      </a:r>
                      <a:r>
                        <a:rPr sz="2400" spc="-45" dirty="0">
                          <a:latin typeface="Trebuchet MS"/>
                          <a:cs typeface="Trebuchet MS"/>
                        </a:rPr>
                        <a:t>v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statis</a:t>
                      </a:r>
                      <a:r>
                        <a:rPr sz="2400" spc="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2400" spc="-5" dirty="0">
                          <a:latin typeface="Trebuchet MS"/>
                          <a:cs typeface="Trebuchet MS"/>
                        </a:rPr>
                        <a:t>ica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24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2400" spc="-1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400" spc="-3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phics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/>
                </a:tc>
              </a:tr>
              <a:tr h="822959">
                <a:tc>
                  <a:txBody>
                    <a:bodyPr/>
                    <a:lstStyle/>
                    <a:p>
                      <a:pPr marL="434340" indent="-344170">
                        <a:lnSpc>
                          <a:spcPct val="100000"/>
                        </a:lnSpc>
                        <a:spcBef>
                          <a:spcPts val="275"/>
                        </a:spcBef>
                        <a:buClr>
                          <a:srgbClr val="0096A7"/>
                        </a:buClr>
                        <a:buFont typeface="Arial MT"/>
                        <a:buChar char="•"/>
                        <a:tabLst>
                          <a:tab pos="434340" algn="l"/>
                          <a:tab pos="434975" algn="l"/>
                        </a:tabLst>
                      </a:pPr>
                      <a:r>
                        <a:rPr sz="2400" b="1" i="1" spc="-105" dirty="0">
                          <a:latin typeface="Trebuchet MS"/>
                          <a:cs typeface="Trebuchet MS"/>
                        </a:rPr>
                        <a:t>ggplot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solidFill>
                      <a:srgbClr val="E4E8EB"/>
                    </a:solidFill>
                  </a:tcPr>
                </a:tc>
                <a:tc>
                  <a:txBody>
                    <a:bodyPr/>
                    <a:lstStyle/>
                    <a:p>
                      <a:pPr marL="342265" marR="354330" indent="-342265">
                        <a:lnSpc>
                          <a:spcPct val="100000"/>
                        </a:lnSpc>
                        <a:spcBef>
                          <a:spcPts val="275"/>
                        </a:spcBef>
                        <a:buClr>
                          <a:srgbClr val="0096A7"/>
                        </a:buClr>
                        <a:buFont typeface="Arial MT"/>
                        <a:buChar char="•"/>
                        <a:tabLst>
                          <a:tab pos="342265" algn="l"/>
                          <a:tab pos="619760" algn="l"/>
                        </a:tabLst>
                      </a:pPr>
                      <a:r>
                        <a:rPr sz="2400" dirty="0">
                          <a:latin typeface="Trebuchet MS"/>
                          <a:cs typeface="Trebuchet MS"/>
                        </a:rPr>
                        <a:t>based</a:t>
                      </a:r>
                      <a:r>
                        <a:rPr sz="2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sz="24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400" spc="-190" dirty="0">
                          <a:latin typeface="Trebuchet MS"/>
                          <a:cs typeface="Trebuchet MS"/>
                        </a:rPr>
                        <a:t>’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24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2400" spc="-10" dirty="0"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plot2,</a:t>
                      </a:r>
                      <a:r>
                        <a:rPr sz="2400" spc="-2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uses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  <a:p>
                      <a:pPr marR="481330" algn="ctr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Trebuchet MS"/>
                          <a:cs typeface="Trebuchet MS"/>
                        </a:rPr>
                        <a:t>Gr</a:t>
                      </a:r>
                      <a:r>
                        <a:rPr sz="24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mm</a:t>
                      </a:r>
                      <a:r>
                        <a:rPr sz="2400" spc="-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4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24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spc="-5" dirty="0">
                          <a:latin typeface="Trebuchet MS"/>
                          <a:cs typeface="Trebuchet MS"/>
                        </a:rPr>
                        <a:t>Gr</a:t>
                      </a:r>
                      <a:r>
                        <a:rPr sz="2400" spc="-3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phics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solidFill>
                      <a:srgbClr val="E4E8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434340" indent="-344170">
                        <a:lnSpc>
                          <a:spcPct val="100000"/>
                        </a:lnSpc>
                        <a:spcBef>
                          <a:spcPts val="275"/>
                        </a:spcBef>
                        <a:buClr>
                          <a:srgbClr val="0096A7"/>
                        </a:buClr>
                        <a:buFont typeface="Arial MT"/>
                        <a:buChar char="•"/>
                        <a:tabLst>
                          <a:tab pos="434340" algn="l"/>
                          <a:tab pos="434975" algn="l"/>
                        </a:tabLst>
                      </a:pPr>
                      <a:r>
                        <a:rPr sz="2400" b="1" i="1" spc="-120" dirty="0">
                          <a:latin typeface="Trebuchet MS"/>
                          <a:cs typeface="Trebuchet MS"/>
                        </a:rPr>
                        <a:t>plotly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B w="12700">
                      <a:solidFill>
                        <a:srgbClr val="78909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9125" indent="-343535">
                        <a:lnSpc>
                          <a:spcPct val="100000"/>
                        </a:lnSpc>
                        <a:spcBef>
                          <a:spcPts val="275"/>
                        </a:spcBef>
                        <a:buClr>
                          <a:srgbClr val="0096A7"/>
                        </a:buClr>
                        <a:buFont typeface="Arial MT"/>
                        <a:buChar char="•"/>
                        <a:tabLst>
                          <a:tab pos="619125" algn="l"/>
                          <a:tab pos="619760" algn="l"/>
                        </a:tabLst>
                      </a:pPr>
                      <a:r>
                        <a:rPr sz="2400" dirty="0">
                          <a:latin typeface="Trebuchet MS"/>
                          <a:cs typeface="Trebuchet MS"/>
                        </a:rPr>
                        <a:t>can</a:t>
                      </a:r>
                      <a:r>
                        <a:rPr sz="24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2400" spc="-5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eate</a:t>
                      </a:r>
                      <a:r>
                        <a:rPr sz="2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spc="-5" dirty="0">
                          <a:latin typeface="Trebuchet MS"/>
                          <a:cs typeface="Trebuchet MS"/>
                        </a:rPr>
                        <a:t>interac</a:t>
                      </a:r>
                      <a:r>
                        <a:rPr sz="2400" spc="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24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2400" spc="-45" dirty="0">
                          <a:latin typeface="Trebuchet MS"/>
                          <a:cs typeface="Trebuchet MS"/>
                        </a:rPr>
                        <a:t>v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240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dirty="0">
                          <a:latin typeface="Trebuchet MS"/>
                          <a:cs typeface="Trebuchet MS"/>
                        </a:rPr>
                        <a:t>plots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B w="12700">
                      <a:solidFill>
                        <a:srgbClr val="78909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7" name="Picture 2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4487" y="385952"/>
            <a:ext cx="23107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210" dirty="0">
                <a:solidFill>
                  <a:srgbClr val="0A5293"/>
                </a:solidFill>
                <a:latin typeface="Trebuchet MS"/>
                <a:cs typeface="Trebuchet MS"/>
              </a:rPr>
              <a:t>Matplotlib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Python</a:t>
            </a:r>
            <a:r>
              <a:rPr spc="30" dirty="0"/>
              <a:t> </a:t>
            </a:r>
            <a:r>
              <a:rPr spc="-5" dirty="0"/>
              <a:t>for</a:t>
            </a:r>
            <a:r>
              <a:rPr spc="-15" dirty="0"/>
              <a:t> </a:t>
            </a:r>
            <a:r>
              <a:rPr spc="-5" dirty="0"/>
              <a:t>Data</a:t>
            </a:r>
            <a:r>
              <a:rPr spc="-25" dirty="0"/>
              <a:t> </a:t>
            </a:r>
            <a:r>
              <a:rPr dirty="0"/>
              <a:t>Science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5</a:t>
            </a:fld>
            <a:endParaRPr spc="-30" dirty="0"/>
          </a:p>
        </p:txBody>
      </p:sp>
      <p:sp>
        <p:nvSpPr>
          <p:cNvPr id="3" name="object 3"/>
          <p:cNvSpPr txBox="1"/>
          <p:nvPr/>
        </p:nvSpPr>
        <p:spPr>
          <a:xfrm>
            <a:off x="6106795" y="1351915"/>
            <a:ext cx="9588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0" dirty="0">
                <a:latin typeface="Trebuchet MS"/>
                <a:cs typeface="Trebuchet MS"/>
              </a:rPr>
              <a:t>library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47584" y="1351915"/>
            <a:ext cx="8699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25" dirty="0">
                <a:latin typeface="Trebuchet MS"/>
                <a:cs typeface="Trebuchet MS"/>
              </a:rPr>
              <a:t>w</a:t>
            </a:r>
            <a:r>
              <a:rPr sz="2800" spc="-85" dirty="0">
                <a:latin typeface="Trebuchet MS"/>
                <a:cs typeface="Trebuchet MS"/>
              </a:rPr>
              <a:t>h</a:t>
            </a:r>
            <a:r>
              <a:rPr sz="2800" spc="-165" dirty="0">
                <a:latin typeface="Trebuchet MS"/>
                <a:cs typeface="Trebuchet MS"/>
              </a:rPr>
              <a:t>ich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6063" y="1351915"/>
            <a:ext cx="506222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marR="5080" indent="-457200">
              <a:lnSpc>
                <a:spcPct val="100000"/>
              </a:lnSpc>
              <a:spcBef>
                <a:spcPts val="95"/>
              </a:spcBef>
              <a:buClr>
                <a:srgbClr val="0096A7"/>
              </a:buClr>
              <a:buFont typeface="Arial MT"/>
              <a:buChar char="•"/>
              <a:tabLst>
                <a:tab pos="469265" algn="l"/>
                <a:tab pos="469900" algn="l"/>
                <a:tab pos="2228215" algn="l"/>
                <a:tab pos="2748280" algn="l"/>
                <a:tab pos="3203575" algn="l"/>
                <a:tab pos="3952240" algn="l"/>
              </a:tabLst>
            </a:pPr>
            <a:r>
              <a:rPr sz="2800" spc="-100" dirty="0">
                <a:latin typeface="Trebuchet MS"/>
                <a:cs typeface="Trebuchet MS"/>
              </a:rPr>
              <a:t>Matpl</a:t>
            </a:r>
            <a:r>
              <a:rPr sz="2800" spc="-105" dirty="0">
                <a:latin typeface="Trebuchet MS"/>
                <a:cs typeface="Trebuchet MS"/>
              </a:rPr>
              <a:t>o</a:t>
            </a:r>
            <a:r>
              <a:rPr sz="2800" spc="-185" dirty="0">
                <a:latin typeface="Trebuchet MS"/>
                <a:cs typeface="Trebuchet MS"/>
              </a:rPr>
              <a:t>tlib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10" dirty="0">
                <a:latin typeface="Trebuchet MS"/>
                <a:cs typeface="Trebuchet MS"/>
              </a:rPr>
              <a:t>i</a:t>
            </a:r>
            <a:r>
              <a:rPr sz="2800" spc="-145" dirty="0">
                <a:latin typeface="Trebuchet MS"/>
                <a:cs typeface="Trebuchet MS"/>
              </a:rPr>
              <a:t>s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80" dirty="0">
                <a:latin typeface="Trebuchet MS"/>
                <a:cs typeface="Trebuchet MS"/>
              </a:rPr>
              <a:t>a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85" dirty="0">
                <a:latin typeface="Trebuchet MS"/>
                <a:cs typeface="Trebuchet MS"/>
              </a:rPr>
              <a:t>2</a:t>
            </a:r>
            <a:r>
              <a:rPr sz="2800" spc="375" dirty="0">
                <a:latin typeface="Trebuchet MS"/>
                <a:cs typeface="Trebuchet MS"/>
              </a:rPr>
              <a:t>D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5" dirty="0">
                <a:latin typeface="Trebuchet MS"/>
                <a:cs typeface="Trebuchet MS"/>
              </a:rPr>
              <a:t>pl</a:t>
            </a:r>
            <a:r>
              <a:rPr sz="2800" spc="-125" dirty="0">
                <a:latin typeface="Trebuchet MS"/>
                <a:cs typeface="Trebuchet MS"/>
              </a:rPr>
              <a:t>o</a:t>
            </a:r>
            <a:r>
              <a:rPr sz="2800" spc="-180" dirty="0">
                <a:latin typeface="Trebuchet MS"/>
                <a:cs typeface="Trebuchet MS"/>
              </a:rPr>
              <a:t>t</a:t>
            </a:r>
            <a:r>
              <a:rPr sz="2800" spc="-175" dirty="0">
                <a:latin typeface="Trebuchet MS"/>
                <a:cs typeface="Trebuchet MS"/>
              </a:rPr>
              <a:t>t</a:t>
            </a:r>
            <a:r>
              <a:rPr sz="2800" spc="-160" dirty="0">
                <a:latin typeface="Trebuchet MS"/>
                <a:cs typeface="Trebuchet MS"/>
              </a:rPr>
              <a:t>ing  </a:t>
            </a:r>
            <a:r>
              <a:rPr sz="2800" spc="-85" dirty="0">
                <a:latin typeface="Trebuchet MS"/>
                <a:cs typeface="Trebuchet MS"/>
              </a:rPr>
              <a:t>p</a:t>
            </a:r>
            <a:r>
              <a:rPr sz="2800" spc="-135" dirty="0">
                <a:latin typeface="Trebuchet MS"/>
                <a:cs typeface="Trebuchet MS"/>
              </a:rPr>
              <a:t>r</a:t>
            </a:r>
            <a:r>
              <a:rPr sz="2800" spc="-75" dirty="0">
                <a:latin typeface="Trebuchet MS"/>
                <a:cs typeface="Trebuchet MS"/>
              </a:rPr>
              <a:t>od</a:t>
            </a:r>
            <a:r>
              <a:rPr sz="2800" spc="-70" dirty="0">
                <a:latin typeface="Trebuchet MS"/>
                <a:cs typeface="Trebuchet MS"/>
              </a:rPr>
              <a:t>u</a:t>
            </a:r>
            <a:r>
              <a:rPr sz="2800" spc="-135" dirty="0">
                <a:latin typeface="Trebuchet MS"/>
                <a:cs typeface="Trebuchet MS"/>
              </a:rPr>
              <a:t>ces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250" dirty="0">
                <a:latin typeface="Trebuchet MS"/>
                <a:cs typeface="Trebuchet MS"/>
              </a:rPr>
              <a:t>g</a:t>
            </a:r>
            <a:r>
              <a:rPr sz="2800" spc="-20" dirty="0">
                <a:latin typeface="Trebuchet MS"/>
                <a:cs typeface="Trebuchet MS"/>
              </a:rPr>
              <a:t>ood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q</a:t>
            </a:r>
            <a:r>
              <a:rPr sz="2800" spc="-140" dirty="0">
                <a:latin typeface="Trebuchet MS"/>
                <a:cs typeface="Trebuchet MS"/>
              </a:rPr>
              <a:t>u</a:t>
            </a:r>
            <a:r>
              <a:rPr sz="2800" spc="-254" dirty="0">
                <a:latin typeface="Trebuchet MS"/>
                <a:cs typeface="Trebuchet MS"/>
              </a:rPr>
              <a:t>al</a:t>
            </a:r>
            <a:r>
              <a:rPr sz="2800" spc="-185" dirty="0">
                <a:latin typeface="Trebuchet MS"/>
                <a:cs typeface="Trebuchet MS"/>
              </a:rPr>
              <a:t>i</a:t>
            </a:r>
            <a:r>
              <a:rPr sz="2800" spc="-170" dirty="0">
                <a:latin typeface="Trebuchet MS"/>
                <a:cs typeface="Trebuchet MS"/>
              </a:rPr>
              <a:t>ty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210" dirty="0">
                <a:latin typeface="Trebuchet MS"/>
                <a:cs typeface="Trebuchet MS"/>
              </a:rPr>
              <a:t>fi</a:t>
            </a:r>
            <a:r>
              <a:rPr sz="2800" spc="-335" dirty="0">
                <a:latin typeface="Trebuchet MS"/>
                <a:cs typeface="Trebuchet MS"/>
              </a:rPr>
              <a:t>g</a:t>
            </a:r>
            <a:r>
              <a:rPr sz="2800" spc="-65" dirty="0">
                <a:latin typeface="Trebuchet MS"/>
                <a:cs typeface="Trebuchet MS"/>
              </a:rPr>
              <a:t>u</a:t>
            </a:r>
            <a:r>
              <a:rPr sz="2800" spc="-110" dirty="0">
                <a:latin typeface="Trebuchet MS"/>
                <a:cs typeface="Trebuchet MS"/>
              </a:rPr>
              <a:t>r</a:t>
            </a:r>
            <a:r>
              <a:rPr sz="2800" spc="-125" dirty="0">
                <a:latin typeface="Trebuchet MS"/>
                <a:cs typeface="Trebuchet MS"/>
              </a:rPr>
              <a:t>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6063" y="2632329"/>
            <a:ext cx="7452995" cy="3013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marR="8255" indent="-457200" algn="just">
              <a:lnSpc>
                <a:spcPct val="100000"/>
              </a:lnSpc>
              <a:spcBef>
                <a:spcPts val="95"/>
              </a:spcBef>
              <a:buClr>
                <a:srgbClr val="0096A7"/>
              </a:buClr>
              <a:buFont typeface="Arial MT"/>
              <a:buChar char="•"/>
              <a:tabLst>
                <a:tab pos="469900" algn="l"/>
              </a:tabLst>
            </a:pPr>
            <a:r>
              <a:rPr sz="2800" spc="-95" dirty="0">
                <a:latin typeface="Trebuchet MS"/>
                <a:cs typeface="Trebuchet MS"/>
              </a:rPr>
              <a:t>Although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185" dirty="0">
                <a:latin typeface="Trebuchet MS"/>
                <a:cs typeface="Trebuchet MS"/>
              </a:rPr>
              <a:t>it</a:t>
            </a:r>
            <a:r>
              <a:rPr sz="2800" spc="-180" dirty="0">
                <a:latin typeface="Trebuchet MS"/>
                <a:cs typeface="Trebuchet MS"/>
              </a:rPr>
              <a:t> </a:t>
            </a:r>
            <a:r>
              <a:rPr sz="2800" spc="-160" dirty="0">
                <a:latin typeface="Trebuchet MS"/>
                <a:cs typeface="Trebuchet MS"/>
              </a:rPr>
              <a:t>has</a:t>
            </a:r>
            <a:r>
              <a:rPr sz="2800" spc="-155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its</a:t>
            </a:r>
            <a:r>
              <a:rPr sz="2800" spc="-14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origins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in</a:t>
            </a:r>
            <a:r>
              <a:rPr sz="2800" spc="-165" dirty="0">
                <a:latin typeface="Trebuchet MS"/>
                <a:cs typeface="Trebuchet MS"/>
              </a:rPr>
              <a:t> </a:t>
            </a:r>
            <a:r>
              <a:rPr sz="2800" spc="-195" dirty="0">
                <a:latin typeface="Trebuchet MS"/>
                <a:cs typeface="Trebuchet MS"/>
              </a:rPr>
              <a:t>emulating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the </a:t>
            </a:r>
            <a:r>
              <a:rPr sz="2800" spc="-160" dirty="0">
                <a:latin typeface="Trebuchet MS"/>
                <a:cs typeface="Trebuchet MS"/>
              </a:rPr>
              <a:t> </a:t>
            </a:r>
            <a:r>
              <a:rPr sz="2800" spc="55" dirty="0">
                <a:latin typeface="Trebuchet MS"/>
                <a:cs typeface="Trebuchet MS"/>
              </a:rPr>
              <a:t>MATLAB </a:t>
            </a:r>
            <a:r>
              <a:rPr sz="2800" spc="-155" dirty="0">
                <a:latin typeface="Trebuchet MS"/>
                <a:cs typeface="Trebuchet MS"/>
              </a:rPr>
              <a:t>graphics </a:t>
            </a:r>
            <a:r>
              <a:rPr sz="2800" spc="-165" dirty="0">
                <a:latin typeface="Trebuchet MS"/>
                <a:cs typeface="Trebuchet MS"/>
              </a:rPr>
              <a:t>commands, </a:t>
            </a:r>
            <a:r>
              <a:rPr sz="2800" spc="-185" dirty="0">
                <a:latin typeface="Trebuchet MS"/>
                <a:cs typeface="Trebuchet MS"/>
              </a:rPr>
              <a:t>it </a:t>
            </a:r>
            <a:r>
              <a:rPr sz="2800" spc="-125" dirty="0">
                <a:latin typeface="Trebuchet MS"/>
                <a:cs typeface="Trebuchet MS"/>
              </a:rPr>
              <a:t>is </a:t>
            </a:r>
            <a:r>
              <a:rPr sz="2800" spc="-165" dirty="0">
                <a:latin typeface="Trebuchet MS"/>
                <a:cs typeface="Trebuchet MS"/>
              </a:rPr>
              <a:t>independent </a:t>
            </a:r>
            <a:r>
              <a:rPr sz="2800" spc="-160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o</a:t>
            </a:r>
            <a:r>
              <a:rPr sz="2800" spc="-125" dirty="0">
                <a:latin typeface="Trebuchet MS"/>
                <a:cs typeface="Trebuchet MS"/>
              </a:rPr>
              <a:t>f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195" dirty="0">
                <a:latin typeface="Trebuchet MS"/>
                <a:cs typeface="Trebuchet MS"/>
              </a:rPr>
              <a:t>M</a:t>
            </a:r>
            <a:r>
              <a:rPr sz="2800" spc="-70" dirty="0">
                <a:latin typeface="Trebuchet MS"/>
                <a:cs typeface="Trebuchet MS"/>
              </a:rPr>
              <a:t>A</a:t>
            </a:r>
            <a:r>
              <a:rPr sz="2800" spc="50" dirty="0">
                <a:latin typeface="Trebuchet MS"/>
                <a:cs typeface="Trebuchet MS"/>
              </a:rPr>
              <a:t>TLAB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096A7"/>
              </a:buClr>
              <a:buFont typeface="Arial MT"/>
              <a:buChar char="•"/>
            </a:pPr>
            <a:endParaRPr sz="2850">
              <a:latin typeface="Trebuchet MS"/>
              <a:cs typeface="Trebuchet MS"/>
            </a:endParaRPr>
          </a:p>
          <a:p>
            <a:pPr marL="469265" marR="5080" indent="-457200" algn="just">
              <a:lnSpc>
                <a:spcPct val="100000"/>
              </a:lnSpc>
              <a:spcBef>
                <a:spcPts val="5"/>
              </a:spcBef>
              <a:buClr>
                <a:srgbClr val="0096A7"/>
              </a:buClr>
              <a:buFont typeface="Arial MT"/>
              <a:buChar char="•"/>
              <a:tabLst>
                <a:tab pos="469900" algn="l"/>
              </a:tabLst>
            </a:pPr>
            <a:r>
              <a:rPr sz="2800" spc="-135" dirty="0">
                <a:latin typeface="Trebuchet MS"/>
                <a:cs typeface="Trebuchet MS"/>
              </a:rPr>
              <a:t>It</a:t>
            </a:r>
            <a:r>
              <a:rPr sz="2800" spc="-130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makes</a:t>
            </a:r>
            <a:r>
              <a:rPr sz="2800" spc="-165" dirty="0">
                <a:latin typeface="Trebuchet MS"/>
                <a:cs typeface="Trebuchet MS"/>
              </a:rPr>
              <a:t> </a:t>
            </a:r>
            <a:r>
              <a:rPr sz="2800" spc="-200" dirty="0">
                <a:latin typeface="Trebuchet MS"/>
                <a:cs typeface="Trebuchet MS"/>
              </a:rPr>
              <a:t>heavy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use</a:t>
            </a:r>
            <a:r>
              <a:rPr sz="2800" spc="-12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of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NumPy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185" dirty="0">
                <a:latin typeface="Trebuchet MS"/>
                <a:cs typeface="Trebuchet MS"/>
              </a:rPr>
              <a:t>and</a:t>
            </a:r>
            <a:r>
              <a:rPr sz="2800" spc="-18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other 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extension code</a:t>
            </a:r>
            <a:r>
              <a:rPr sz="2800" spc="-11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to </a:t>
            </a:r>
            <a:r>
              <a:rPr sz="2800" spc="-125" dirty="0">
                <a:latin typeface="Trebuchet MS"/>
                <a:cs typeface="Trebuchet MS"/>
              </a:rPr>
              <a:t>provide</a:t>
            </a:r>
            <a:r>
              <a:rPr sz="2800" spc="-12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good </a:t>
            </a:r>
            <a:r>
              <a:rPr sz="2800" spc="-145" dirty="0">
                <a:latin typeface="Trebuchet MS"/>
                <a:cs typeface="Trebuchet MS"/>
              </a:rPr>
              <a:t>performance </a:t>
            </a:r>
            <a:r>
              <a:rPr sz="2800" spc="-140" dirty="0">
                <a:latin typeface="Trebuchet MS"/>
                <a:cs typeface="Trebuchet MS"/>
              </a:rPr>
              <a:t> </a:t>
            </a:r>
            <a:r>
              <a:rPr sz="2800" spc="-235" dirty="0">
                <a:latin typeface="Trebuchet MS"/>
                <a:cs typeface="Trebuchet MS"/>
              </a:rPr>
              <a:t>e</a:t>
            </a:r>
            <a:r>
              <a:rPr sz="2800" spc="-215" dirty="0">
                <a:latin typeface="Trebuchet MS"/>
                <a:cs typeface="Trebuchet MS"/>
              </a:rPr>
              <a:t>v</a:t>
            </a:r>
            <a:r>
              <a:rPr sz="2800" spc="-160" dirty="0">
                <a:latin typeface="Trebuchet MS"/>
                <a:cs typeface="Trebuchet MS"/>
              </a:rPr>
              <a:t>en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370" dirty="0">
                <a:latin typeface="Trebuchet MS"/>
                <a:cs typeface="Trebuchet MS"/>
              </a:rPr>
              <a:t>f</a:t>
            </a:r>
            <a:r>
              <a:rPr sz="2800" spc="25" dirty="0">
                <a:latin typeface="Trebuchet MS"/>
                <a:cs typeface="Trebuchet MS"/>
              </a:rPr>
              <a:t>or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lar</a:t>
            </a:r>
            <a:r>
              <a:rPr sz="2800" spc="-200" dirty="0">
                <a:latin typeface="Trebuchet MS"/>
                <a:cs typeface="Trebuchet MS"/>
              </a:rPr>
              <a:t>ge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ar</a:t>
            </a:r>
            <a:r>
              <a:rPr sz="2800" spc="15" dirty="0">
                <a:latin typeface="Trebuchet MS"/>
                <a:cs typeface="Trebuchet MS"/>
              </a:rPr>
              <a:t>r</a:t>
            </a:r>
            <a:r>
              <a:rPr sz="2800" spc="-400" dirty="0">
                <a:latin typeface="Trebuchet MS"/>
                <a:cs typeface="Trebuchet MS"/>
              </a:rPr>
              <a:t>a</a:t>
            </a:r>
            <a:r>
              <a:rPr sz="2800" spc="-110" dirty="0">
                <a:latin typeface="Trebuchet MS"/>
                <a:cs typeface="Trebuchet MS"/>
              </a:rPr>
              <a:t>ys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9" name="Picture 2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8235" y="2313432"/>
            <a:ext cx="8857488" cy="16809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97907" y="2917317"/>
            <a:ext cx="24371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245" dirty="0">
                <a:solidFill>
                  <a:srgbClr val="0A5293"/>
                </a:solidFill>
                <a:latin typeface="Trebuchet MS"/>
                <a:cs typeface="Trebuchet MS"/>
              </a:rPr>
              <a:t>Scatt</a:t>
            </a:r>
            <a:r>
              <a:rPr sz="4000" b="0" spc="-285" dirty="0">
                <a:solidFill>
                  <a:srgbClr val="0A5293"/>
                </a:solidFill>
                <a:latin typeface="Trebuchet MS"/>
                <a:cs typeface="Trebuchet MS"/>
              </a:rPr>
              <a:t>e</a:t>
            </a:r>
            <a:r>
              <a:rPr sz="4000" b="0" spc="25" dirty="0">
                <a:solidFill>
                  <a:srgbClr val="0A5293"/>
                </a:solidFill>
                <a:latin typeface="Trebuchet MS"/>
                <a:cs typeface="Trebuchet MS"/>
              </a:rPr>
              <a:t>r</a:t>
            </a:r>
            <a:r>
              <a:rPr sz="4000" b="0" spc="-80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000" b="0" spc="-185" dirty="0">
                <a:solidFill>
                  <a:srgbClr val="0A5293"/>
                </a:solidFill>
                <a:latin typeface="Trebuchet MS"/>
                <a:cs typeface="Trebuchet MS"/>
              </a:rPr>
              <a:t>plot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Python</a:t>
            </a:r>
            <a:r>
              <a:rPr spc="30" dirty="0"/>
              <a:t> </a:t>
            </a:r>
            <a:r>
              <a:rPr spc="-5" dirty="0"/>
              <a:t>for</a:t>
            </a:r>
            <a:r>
              <a:rPr spc="-15" dirty="0"/>
              <a:t> </a:t>
            </a:r>
            <a:r>
              <a:rPr spc="-5" dirty="0"/>
              <a:t>Data</a:t>
            </a:r>
            <a:r>
              <a:rPr spc="-25" dirty="0"/>
              <a:t> </a:t>
            </a:r>
            <a:r>
              <a:rPr dirty="0"/>
              <a:t>Science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6</a:t>
            </a:fld>
            <a:endParaRPr spc="-30" dirty="0"/>
          </a:p>
        </p:txBody>
      </p:sp>
      <p:pic>
        <p:nvPicPr>
          <p:cNvPr id="6" name="Picture 2" descr="JIMS, Rohini, Sector 5 | Del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755" y="316230"/>
            <a:ext cx="26809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240" dirty="0">
                <a:solidFill>
                  <a:srgbClr val="0A5293"/>
                </a:solidFill>
                <a:latin typeface="Trebuchet MS"/>
                <a:cs typeface="Trebuchet MS"/>
              </a:rPr>
              <a:t>Scatte</a:t>
            </a:r>
            <a:r>
              <a:rPr sz="4400" b="0" spc="-195" dirty="0">
                <a:solidFill>
                  <a:srgbClr val="0A5293"/>
                </a:solidFill>
                <a:latin typeface="Trebuchet MS"/>
                <a:cs typeface="Trebuchet MS"/>
              </a:rPr>
              <a:t>r</a:t>
            </a:r>
            <a:r>
              <a:rPr sz="4400" b="0" spc="-130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145" dirty="0">
                <a:solidFill>
                  <a:srgbClr val="0A5293"/>
                </a:solidFill>
                <a:latin typeface="Trebuchet MS"/>
                <a:cs typeface="Trebuchet MS"/>
              </a:rPr>
              <a:t>Pl</a:t>
            </a:r>
            <a:r>
              <a:rPr sz="4400" b="0" spc="-200" dirty="0">
                <a:solidFill>
                  <a:srgbClr val="0A5293"/>
                </a:solidFill>
                <a:latin typeface="Trebuchet MS"/>
                <a:cs typeface="Trebuchet MS"/>
              </a:rPr>
              <a:t>o</a:t>
            </a:r>
            <a:r>
              <a:rPr sz="4400" b="0" spc="-280" dirty="0">
                <a:solidFill>
                  <a:srgbClr val="0A5293"/>
                </a:solidFill>
                <a:latin typeface="Trebuchet MS"/>
                <a:cs typeface="Trebuchet MS"/>
              </a:rPr>
              <a:t>t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Python</a:t>
            </a:r>
            <a:r>
              <a:rPr spc="30" dirty="0"/>
              <a:t> </a:t>
            </a:r>
            <a:r>
              <a:rPr spc="-5" dirty="0"/>
              <a:t>for</a:t>
            </a:r>
            <a:r>
              <a:rPr spc="-15" dirty="0"/>
              <a:t> </a:t>
            </a:r>
            <a:r>
              <a:rPr spc="-5" dirty="0"/>
              <a:t>Data</a:t>
            </a:r>
            <a:r>
              <a:rPr spc="-25" dirty="0"/>
              <a:t> </a:t>
            </a:r>
            <a:r>
              <a:rPr dirty="0"/>
              <a:t>Science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7</a:t>
            </a:fld>
            <a:endParaRPr spc="-30" dirty="0"/>
          </a:p>
        </p:txBody>
      </p:sp>
      <p:sp>
        <p:nvSpPr>
          <p:cNvPr id="3" name="object 3"/>
          <p:cNvSpPr txBox="1"/>
          <p:nvPr/>
        </p:nvSpPr>
        <p:spPr>
          <a:xfrm>
            <a:off x="505155" y="1189225"/>
            <a:ext cx="7593330" cy="519049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40"/>
              </a:spcBef>
            </a:pPr>
            <a:r>
              <a:rPr sz="2800" spc="-15" dirty="0">
                <a:latin typeface="Trebuchet MS"/>
                <a:cs typeface="Trebuchet MS"/>
              </a:rPr>
              <a:t>What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i</a:t>
            </a:r>
            <a:r>
              <a:rPr sz="2800" spc="-145" dirty="0">
                <a:latin typeface="Trebuchet MS"/>
                <a:cs typeface="Trebuchet MS"/>
              </a:rPr>
              <a:t>s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280" dirty="0">
                <a:latin typeface="Trebuchet MS"/>
                <a:cs typeface="Trebuchet MS"/>
              </a:rPr>
              <a:t>a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scatter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plo</a:t>
            </a:r>
            <a:r>
              <a:rPr sz="2800" spc="-110" dirty="0">
                <a:latin typeface="Trebuchet MS"/>
                <a:cs typeface="Trebuchet MS"/>
              </a:rPr>
              <a:t>t</a:t>
            </a:r>
            <a:r>
              <a:rPr sz="2800" spc="-100" dirty="0">
                <a:latin typeface="Trebuchet MS"/>
                <a:cs typeface="Trebuchet MS"/>
              </a:rPr>
              <a:t>?</a:t>
            </a:r>
            <a:endParaRPr sz="2800">
              <a:latin typeface="Trebuchet MS"/>
              <a:cs typeface="Trebuchet MS"/>
            </a:endParaRPr>
          </a:p>
          <a:p>
            <a:pPr marL="469265" marR="5080" indent="-457200" algn="just">
              <a:lnSpc>
                <a:spcPct val="110000"/>
              </a:lnSpc>
              <a:buClr>
                <a:srgbClr val="0096A7"/>
              </a:buClr>
              <a:buFont typeface="Arial MT"/>
              <a:buChar char="•"/>
              <a:tabLst>
                <a:tab pos="469900" algn="l"/>
              </a:tabLst>
            </a:pPr>
            <a:r>
              <a:rPr sz="2800" spc="210" dirty="0">
                <a:latin typeface="Trebuchet MS"/>
                <a:cs typeface="Trebuchet MS"/>
              </a:rPr>
              <a:t>A </a:t>
            </a:r>
            <a:r>
              <a:rPr sz="2800" spc="-150" dirty="0">
                <a:latin typeface="Trebuchet MS"/>
                <a:cs typeface="Trebuchet MS"/>
              </a:rPr>
              <a:t>scatter </a:t>
            </a:r>
            <a:r>
              <a:rPr sz="2800" spc="-130" dirty="0">
                <a:latin typeface="Trebuchet MS"/>
                <a:cs typeface="Trebuchet MS"/>
              </a:rPr>
              <a:t>plot </a:t>
            </a:r>
            <a:r>
              <a:rPr sz="2800" spc="-125" dirty="0">
                <a:latin typeface="Trebuchet MS"/>
                <a:cs typeface="Trebuchet MS"/>
              </a:rPr>
              <a:t>is </a:t>
            </a:r>
            <a:r>
              <a:rPr sz="2800" spc="-280" dirty="0">
                <a:latin typeface="Trebuchet MS"/>
                <a:cs typeface="Trebuchet MS"/>
              </a:rPr>
              <a:t>a </a:t>
            </a:r>
            <a:r>
              <a:rPr sz="2800" spc="-145" dirty="0">
                <a:latin typeface="Trebuchet MS"/>
                <a:cs typeface="Trebuchet MS"/>
              </a:rPr>
              <a:t>set </a:t>
            </a:r>
            <a:r>
              <a:rPr sz="2800" spc="-150" dirty="0">
                <a:latin typeface="Trebuchet MS"/>
                <a:cs typeface="Trebuchet MS"/>
              </a:rPr>
              <a:t>of </a:t>
            </a:r>
            <a:r>
              <a:rPr sz="2800" spc="-114" dirty="0">
                <a:latin typeface="Trebuchet MS"/>
                <a:cs typeface="Trebuchet MS"/>
              </a:rPr>
              <a:t>points </a:t>
            </a:r>
            <a:r>
              <a:rPr sz="2800" spc="-195" dirty="0">
                <a:latin typeface="Trebuchet MS"/>
                <a:cs typeface="Trebuchet MS"/>
              </a:rPr>
              <a:t>that </a:t>
            </a:r>
            <a:r>
              <a:rPr sz="2800" spc="-125" dirty="0">
                <a:latin typeface="Trebuchet MS"/>
                <a:cs typeface="Trebuchet MS"/>
              </a:rPr>
              <a:t>represents </a:t>
            </a:r>
            <a:r>
              <a:rPr sz="2800" spc="-120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the</a:t>
            </a:r>
            <a:r>
              <a:rPr sz="2800" spc="-160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values</a:t>
            </a:r>
            <a:r>
              <a:rPr sz="2800" spc="-165" dirty="0">
                <a:latin typeface="Trebuchet MS"/>
                <a:cs typeface="Trebuchet MS"/>
              </a:rPr>
              <a:t> </a:t>
            </a:r>
            <a:r>
              <a:rPr sz="2800" spc="-155" dirty="0">
                <a:latin typeface="Trebuchet MS"/>
                <a:cs typeface="Trebuchet MS"/>
              </a:rPr>
              <a:t>obtained</a:t>
            </a:r>
            <a:r>
              <a:rPr sz="2800" spc="-15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for </a:t>
            </a:r>
            <a:r>
              <a:rPr sz="2800" spc="-90" dirty="0">
                <a:latin typeface="Trebuchet MS"/>
                <a:cs typeface="Trebuchet MS"/>
              </a:rPr>
              <a:t>two </a:t>
            </a:r>
            <a:r>
              <a:rPr sz="2800" spc="-195" dirty="0">
                <a:latin typeface="Trebuchet MS"/>
                <a:cs typeface="Trebuchet MS"/>
              </a:rPr>
              <a:t>different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variables </a:t>
            </a:r>
            <a:r>
              <a:rPr sz="2800" spc="-16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pl</a:t>
            </a:r>
            <a:r>
              <a:rPr sz="2800" spc="-125" dirty="0">
                <a:latin typeface="Trebuchet MS"/>
                <a:cs typeface="Trebuchet MS"/>
              </a:rPr>
              <a:t>o</a:t>
            </a:r>
            <a:r>
              <a:rPr sz="2800" spc="-180" dirty="0">
                <a:latin typeface="Trebuchet MS"/>
                <a:cs typeface="Trebuchet MS"/>
              </a:rPr>
              <a:t>t</a:t>
            </a:r>
            <a:r>
              <a:rPr sz="2800" spc="-175" dirty="0">
                <a:latin typeface="Trebuchet MS"/>
                <a:cs typeface="Trebuchet MS"/>
              </a:rPr>
              <a:t>t</a:t>
            </a:r>
            <a:r>
              <a:rPr sz="2800" spc="-165" dirty="0">
                <a:latin typeface="Trebuchet MS"/>
                <a:cs typeface="Trebuchet MS"/>
              </a:rPr>
              <a:t>ed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o</a:t>
            </a:r>
            <a:r>
              <a:rPr sz="2800" spc="-50" dirty="0">
                <a:latin typeface="Trebuchet MS"/>
                <a:cs typeface="Trebuchet MS"/>
              </a:rPr>
              <a:t>n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280" dirty="0">
                <a:latin typeface="Trebuchet MS"/>
                <a:cs typeface="Trebuchet MS"/>
              </a:rPr>
              <a:t>a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h</a:t>
            </a:r>
            <a:r>
              <a:rPr sz="2800" spc="-50" dirty="0">
                <a:latin typeface="Trebuchet MS"/>
                <a:cs typeface="Trebuchet MS"/>
              </a:rPr>
              <a:t>oriz</a:t>
            </a:r>
            <a:r>
              <a:rPr sz="2800" spc="-60" dirty="0">
                <a:latin typeface="Trebuchet MS"/>
                <a:cs typeface="Trebuchet MS"/>
              </a:rPr>
              <a:t>o</a:t>
            </a:r>
            <a:r>
              <a:rPr sz="2800" spc="-130" dirty="0">
                <a:latin typeface="Trebuchet MS"/>
                <a:cs typeface="Trebuchet MS"/>
              </a:rPr>
              <a:t>n</a:t>
            </a:r>
            <a:r>
              <a:rPr sz="2800" spc="-225" dirty="0">
                <a:latin typeface="Trebuchet MS"/>
                <a:cs typeface="Trebuchet MS"/>
              </a:rPr>
              <a:t>tal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185" dirty="0">
                <a:latin typeface="Trebuchet MS"/>
                <a:cs typeface="Trebuchet MS"/>
              </a:rPr>
              <a:t>and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215" dirty="0">
                <a:latin typeface="Trebuchet MS"/>
                <a:cs typeface="Trebuchet MS"/>
              </a:rPr>
              <a:t>v</a:t>
            </a:r>
            <a:r>
              <a:rPr sz="2800" spc="-100" dirty="0">
                <a:latin typeface="Trebuchet MS"/>
                <a:cs typeface="Trebuchet MS"/>
              </a:rPr>
              <a:t>e</a:t>
            </a:r>
            <a:r>
              <a:rPr sz="2800" spc="-20" dirty="0">
                <a:latin typeface="Trebuchet MS"/>
                <a:cs typeface="Trebuchet MS"/>
              </a:rPr>
              <a:t>r</a:t>
            </a:r>
            <a:r>
              <a:rPr sz="2800" spc="-204" dirty="0">
                <a:latin typeface="Trebuchet MS"/>
                <a:cs typeface="Trebuchet MS"/>
              </a:rPr>
              <a:t>tical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a</a:t>
            </a:r>
            <a:r>
              <a:rPr sz="2800" spc="-225" dirty="0">
                <a:latin typeface="Trebuchet MS"/>
                <a:cs typeface="Trebuchet MS"/>
              </a:rPr>
              <a:t>x</a:t>
            </a:r>
            <a:r>
              <a:rPr sz="2800" spc="-125" dirty="0">
                <a:latin typeface="Trebuchet MS"/>
                <a:cs typeface="Trebuchet MS"/>
              </a:rPr>
              <a:t>es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96A7"/>
              </a:buClr>
              <a:buFont typeface="Arial MT"/>
              <a:buChar char="•"/>
            </a:pPr>
            <a:endParaRPr sz="345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800" spc="75" dirty="0">
                <a:latin typeface="Trebuchet MS"/>
                <a:cs typeface="Trebuchet MS"/>
              </a:rPr>
              <a:t>Wh</a:t>
            </a:r>
            <a:r>
              <a:rPr sz="2800" spc="60" dirty="0">
                <a:latin typeface="Trebuchet MS"/>
                <a:cs typeface="Trebuchet MS"/>
              </a:rPr>
              <a:t>e</a:t>
            </a:r>
            <a:r>
              <a:rPr sz="2800" spc="-135" dirty="0">
                <a:latin typeface="Trebuchet MS"/>
                <a:cs typeface="Trebuchet MS"/>
              </a:rPr>
              <a:t>n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to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use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scatter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plo</a:t>
            </a:r>
            <a:r>
              <a:rPr sz="2800" spc="-110" dirty="0">
                <a:latin typeface="Trebuchet MS"/>
                <a:cs typeface="Trebuchet MS"/>
              </a:rPr>
              <a:t>t</a:t>
            </a:r>
            <a:r>
              <a:rPr sz="2800" spc="-80" dirty="0">
                <a:latin typeface="Trebuchet MS"/>
                <a:cs typeface="Trebuchet MS"/>
              </a:rPr>
              <a:t>s?</a:t>
            </a:r>
            <a:endParaRPr sz="2800">
              <a:latin typeface="Trebuchet MS"/>
              <a:cs typeface="Trebuchet MS"/>
            </a:endParaRPr>
          </a:p>
          <a:p>
            <a:pPr marL="469265" marR="9525" indent="-457200" algn="just">
              <a:lnSpc>
                <a:spcPct val="110000"/>
              </a:lnSpc>
              <a:buClr>
                <a:srgbClr val="0096A7"/>
              </a:buClr>
              <a:buFont typeface="Arial MT"/>
              <a:buChar char="•"/>
              <a:tabLst>
                <a:tab pos="469900" algn="l"/>
              </a:tabLst>
            </a:pPr>
            <a:r>
              <a:rPr sz="2800" spc="-150" dirty="0">
                <a:latin typeface="Trebuchet MS"/>
                <a:cs typeface="Trebuchet MS"/>
              </a:rPr>
              <a:t>Scatter </a:t>
            </a:r>
            <a:r>
              <a:rPr sz="2800" spc="-114" dirty="0">
                <a:latin typeface="Trebuchet MS"/>
                <a:cs typeface="Trebuchet MS"/>
              </a:rPr>
              <a:t>plots </a:t>
            </a:r>
            <a:r>
              <a:rPr sz="2800" spc="-170" dirty="0">
                <a:latin typeface="Trebuchet MS"/>
                <a:cs typeface="Trebuchet MS"/>
              </a:rPr>
              <a:t>are </a:t>
            </a:r>
            <a:r>
              <a:rPr sz="2800" spc="-130" dirty="0">
                <a:latin typeface="Trebuchet MS"/>
                <a:cs typeface="Trebuchet MS"/>
              </a:rPr>
              <a:t>used </a:t>
            </a:r>
            <a:r>
              <a:rPr sz="2800" spc="-70" dirty="0">
                <a:latin typeface="Trebuchet MS"/>
                <a:cs typeface="Trebuchet MS"/>
              </a:rPr>
              <a:t>to </a:t>
            </a:r>
            <a:r>
              <a:rPr sz="2800" spc="-155" dirty="0">
                <a:latin typeface="Trebuchet MS"/>
                <a:cs typeface="Trebuchet MS"/>
              </a:rPr>
              <a:t>convey </a:t>
            </a:r>
            <a:r>
              <a:rPr sz="2800" spc="-165" dirty="0">
                <a:latin typeface="Trebuchet MS"/>
                <a:cs typeface="Trebuchet MS"/>
              </a:rPr>
              <a:t>the </a:t>
            </a:r>
            <a:r>
              <a:rPr sz="2800" spc="-145" dirty="0">
                <a:latin typeface="Trebuchet MS"/>
                <a:cs typeface="Trebuchet MS"/>
              </a:rPr>
              <a:t>relationship </a:t>
            </a:r>
            <a:r>
              <a:rPr sz="2800" spc="-140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b</a:t>
            </a:r>
            <a:r>
              <a:rPr sz="2800" spc="-170" dirty="0">
                <a:latin typeface="Trebuchet MS"/>
                <a:cs typeface="Trebuchet MS"/>
              </a:rPr>
              <a:t>e</a:t>
            </a:r>
            <a:r>
              <a:rPr sz="2800" spc="-90" dirty="0">
                <a:latin typeface="Trebuchet MS"/>
                <a:cs typeface="Trebuchet MS"/>
              </a:rPr>
              <a:t>t</a:t>
            </a:r>
            <a:r>
              <a:rPr sz="2800" spc="-220" dirty="0">
                <a:latin typeface="Trebuchet MS"/>
                <a:cs typeface="Trebuchet MS"/>
              </a:rPr>
              <a:t>w</a:t>
            </a:r>
            <a:r>
              <a:rPr sz="2800" spc="-190" dirty="0">
                <a:latin typeface="Trebuchet MS"/>
                <a:cs typeface="Trebuchet MS"/>
              </a:rPr>
              <a:t>e</a:t>
            </a:r>
            <a:r>
              <a:rPr sz="2800" spc="-185" dirty="0">
                <a:latin typeface="Trebuchet MS"/>
                <a:cs typeface="Trebuchet MS"/>
              </a:rPr>
              <a:t>e</a:t>
            </a:r>
            <a:r>
              <a:rPr sz="2800" spc="-135" dirty="0">
                <a:latin typeface="Trebuchet MS"/>
                <a:cs typeface="Trebuchet MS"/>
              </a:rPr>
              <a:t>n</a:t>
            </a:r>
            <a:r>
              <a:rPr sz="2800" spc="-90" dirty="0">
                <a:latin typeface="Trebuchet MS"/>
                <a:cs typeface="Trebuchet MS"/>
              </a:rPr>
              <a:t> t</a:t>
            </a:r>
            <a:r>
              <a:rPr sz="2800" spc="-220" dirty="0">
                <a:latin typeface="Trebuchet MS"/>
                <a:cs typeface="Trebuchet MS"/>
              </a:rPr>
              <a:t>w</a:t>
            </a:r>
            <a:r>
              <a:rPr sz="2800" spc="40" dirty="0">
                <a:latin typeface="Trebuchet MS"/>
                <a:cs typeface="Trebuchet MS"/>
              </a:rPr>
              <a:t>o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55" dirty="0">
                <a:latin typeface="Trebuchet MS"/>
                <a:cs typeface="Trebuchet MS"/>
              </a:rPr>
              <a:t>n</a:t>
            </a:r>
            <a:r>
              <a:rPr sz="2800" spc="-120" dirty="0">
                <a:latin typeface="Trebuchet MS"/>
                <a:cs typeface="Trebuchet MS"/>
              </a:rPr>
              <a:t>u</a:t>
            </a:r>
            <a:r>
              <a:rPr sz="2800" spc="-180" dirty="0">
                <a:latin typeface="Trebuchet MS"/>
                <a:cs typeface="Trebuchet MS"/>
              </a:rPr>
              <a:t>m</a:t>
            </a:r>
            <a:r>
              <a:rPr sz="2800" spc="-170" dirty="0">
                <a:latin typeface="Trebuchet MS"/>
                <a:cs typeface="Trebuchet MS"/>
              </a:rPr>
              <a:t>erical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va</a:t>
            </a:r>
            <a:r>
              <a:rPr sz="2800" spc="-125" dirty="0">
                <a:latin typeface="Trebuchet MS"/>
                <a:cs typeface="Trebuchet MS"/>
              </a:rPr>
              <a:t>r</a:t>
            </a:r>
            <a:r>
              <a:rPr sz="2800" spc="-190" dirty="0">
                <a:latin typeface="Trebuchet MS"/>
                <a:cs typeface="Trebuchet MS"/>
              </a:rPr>
              <a:t>iables</a:t>
            </a:r>
            <a:endParaRPr sz="2800">
              <a:latin typeface="Trebuchet MS"/>
              <a:cs typeface="Trebuchet MS"/>
            </a:endParaRPr>
          </a:p>
          <a:p>
            <a:pPr marL="469265" marR="7620" indent="-457200" algn="just">
              <a:lnSpc>
                <a:spcPct val="110000"/>
              </a:lnSpc>
              <a:buClr>
                <a:srgbClr val="0096A7"/>
              </a:buClr>
              <a:buFont typeface="Arial MT"/>
              <a:buChar char="•"/>
              <a:tabLst>
                <a:tab pos="469900" algn="l"/>
              </a:tabLst>
            </a:pPr>
            <a:r>
              <a:rPr sz="2800" spc="-150" dirty="0">
                <a:latin typeface="Trebuchet MS"/>
                <a:cs typeface="Trebuchet MS"/>
              </a:rPr>
              <a:t>Scatter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plots</a:t>
            </a:r>
            <a:r>
              <a:rPr sz="2800" spc="-110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are</a:t>
            </a:r>
            <a:r>
              <a:rPr sz="2800" spc="-165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sometimes</a:t>
            </a:r>
            <a:r>
              <a:rPr sz="2800" spc="-125" dirty="0">
                <a:latin typeface="Trebuchet MS"/>
                <a:cs typeface="Trebuchet MS"/>
              </a:rPr>
              <a:t> </a:t>
            </a:r>
            <a:r>
              <a:rPr sz="2800" spc="-204" dirty="0">
                <a:latin typeface="Trebuchet MS"/>
                <a:cs typeface="Trebuchet MS"/>
              </a:rPr>
              <a:t>called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correlation </a:t>
            </a:r>
            <a:r>
              <a:rPr sz="2800" spc="-114" dirty="0">
                <a:latin typeface="Trebuchet MS"/>
                <a:cs typeface="Trebuchet MS"/>
              </a:rPr>
              <a:t> plots </a:t>
            </a:r>
            <a:r>
              <a:rPr sz="2800" spc="-170" dirty="0">
                <a:latin typeface="Trebuchet MS"/>
                <a:cs typeface="Trebuchet MS"/>
              </a:rPr>
              <a:t>because </a:t>
            </a:r>
            <a:r>
              <a:rPr sz="2800" spc="-175" dirty="0">
                <a:latin typeface="Trebuchet MS"/>
                <a:cs typeface="Trebuchet MS"/>
              </a:rPr>
              <a:t>they </a:t>
            </a:r>
            <a:r>
              <a:rPr sz="2800" spc="-65" dirty="0">
                <a:latin typeface="Trebuchet MS"/>
                <a:cs typeface="Trebuchet MS"/>
              </a:rPr>
              <a:t>show how </a:t>
            </a:r>
            <a:r>
              <a:rPr sz="2800" spc="-90" dirty="0">
                <a:latin typeface="Trebuchet MS"/>
                <a:cs typeface="Trebuchet MS"/>
              </a:rPr>
              <a:t>two </a:t>
            </a:r>
            <a:r>
              <a:rPr sz="2800" spc="-165" dirty="0">
                <a:latin typeface="Trebuchet MS"/>
                <a:cs typeface="Trebuchet MS"/>
              </a:rPr>
              <a:t>variables </a:t>
            </a:r>
            <a:r>
              <a:rPr sz="2800" spc="-175" dirty="0">
                <a:latin typeface="Trebuchet MS"/>
                <a:cs typeface="Trebuchet MS"/>
              </a:rPr>
              <a:t>are </a:t>
            </a:r>
            <a:r>
              <a:rPr sz="2800" spc="-170" dirty="0">
                <a:latin typeface="Trebuchet MS"/>
                <a:cs typeface="Trebuchet MS"/>
              </a:rPr>
              <a:t> </a:t>
            </a:r>
            <a:r>
              <a:rPr sz="2800" spc="-140" dirty="0">
                <a:latin typeface="Trebuchet MS"/>
                <a:cs typeface="Trebuchet MS"/>
              </a:rPr>
              <a:t>correlated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6" name="Picture 2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53" y="322529"/>
            <a:ext cx="60845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14" dirty="0">
                <a:solidFill>
                  <a:srgbClr val="0A5293"/>
                </a:solidFill>
                <a:latin typeface="Trebuchet MS"/>
                <a:cs typeface="Trebuchet MS"/>
              </a:rPr>
              <a:t>Impo</a:t>
            </a:r>
            <a:r>
              <a:rPr sz="4400" b="0" spc="-10" dirty="0">
                <a:solidFill>
                  <a:srgbClr val="0A5293"/>
                </a:solidFill>
                <a:latin typeface="Trebuchet MS"/>
                <a:cs typeface="Trebuchet MS"/>
              </a:rPr>
              <a:t>r</a:t>
            </a:r>
            <a:r>
              <a:rPr sz="4400" b="0" spc="-265" dirty="0">
                <a:solidFill>
                  <a:srgbClr val="0A5293"/>
                </a:solidFill>
                <a:latin typeface="Trebuchet MS"/>
                <a:cs typeface="Trebuchet MS"/>
              </a:rPr>
              <a:t>tin</a:t>
            </a:r>
            <a:r>
              <a:rPr sz="4400" b="0" spc="-320" dirty="0">
                <a:solidFill>
                  <a:srgbClr val="0A5293"/>
                </a:solidFill>
                <a:latin typeface="Trebuchet MS"/>
                <a:cs typeface="Trebuchet MS"/>
              </a:rPr>
              <a:t>g</a:t>
            </a:r>
            <a:r>
              <a:rPr sz="4400" b="0" spc="-14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340" dirty="0">
                <a:solidFill>
                  <a:srgbClr val="0A5293"/>
                </a:solidFill>
                <a:latin typeface="Trebuchet MS"/>
                <a:cs typeface="Trebuchet MS"/>
              </a:rPr>
              <a:t>data</a:t>
            </a:r>
            <a:r>
              <a:rPr sz="4400" b="0" spc="-12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170" dirty="0">
                <a:solidFill>
                  <a:srgbClr val="0A5293"/>
                </a:solidFill>
                <a:latin typeface="Trebuchet MS"/>
                <a:cs typeface="Trebuchet MS"/>
              </a:rPr>
              <a:t>int</a:t>
            </a:r>
            <a:r>
              <a:rPr sz="4400" b="0" spc="-215" dirty="0">
                <a:solidFill>
                  <a:srgbClr val="0A5293"/>
                </a:solidFill>
                <a:latin typeface="Trebuchet MS"/>
                <a:cs typeface="Trebuchet MS"/>
              </a:rPr>
              <a:t>o</a:t>
            </a:r>
            <a:r>
              <a:rPr sz="4400" b="0" spc="-10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114" dirty="0">
                <a:solidFill>
                  <a:srgbClr val="0A5293"/>
                </a:solidFill>
                <a:latin typeface="Trebuchet MS"/>
                <a:cs typeface="Trebuchet MS"/>
              </a:rPr>
              <a:t>S</a:t>
            </a:r>
            <a:r>
              <a:rPr sz="4400" b="0" spc="-400" dirty="0">
                <a:solidFill>
                  <a:srgbClr val="0A5293"/>
                </a:solidFill>
                <a:latin typeface="Trebuchet MS"/>
                <a:cs typeface="Trebuchet MS"/>
              </a:rPr>
              <a:t>p</a:t>
            </a:r>
            <a:r>
              <a:rPr sz="4400" b="0" spc="-175" dirty="0">
                <a:solidFill>
                  <a:srgbClr val="0A5293"/>
                </a:solidFill>
                <a:latin typeface="Trebuchet MS"/>
                <a:cs typeface="Trebuchet MS"/>
              </a:rPr>
              <a:t>yder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Python</a:t>
            </a:r>
            <a:r>
              <a:rPr spc="30" dirty="0"/>
              <a:t> </a:t>
            </a:r>
            <a:r>
              <a:rPr spc="-5" dirty="0"/>
              <a:t>for</a:t>
            </a:r>
            <a:r>
              <a:rPr spc="-15" dirty="0"/>
              <a:t> </a:t>
            </a:r>
            <a:r>
              <a:rPr spc="-5" dirty="0"/>
              <a:t>Data</a:t>
            </a:r>
            <a:r>
              <a:rPr spc="-25" dirty="0"/>
              <a:t> </a:t>
            </a:r>
            <a:r>
              <a:rPr dirty="0"/>
              <a:t>Science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8</a:t>
            </a:fld>
            <a:endParaRPr spc="-30" dirty="0"/>
          </a:p>
        </p:txBody>
      </p:sp>
      <p:sp>
        <p:nvSpPr>
          <p:cNvPr id="3" name="object 3"/>
          <p:cNvSpPr txBox="1"/>
          <p:nvPr/>
        </p:nvSpPr>
        <p:spPr>
          <a:xfrm>
            <a:off x="460044" y="1423543"/>
            <a:ext cx="50171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0312"/>
              <a:buFont typeface="Segoe UI Symbol"/>
              <a:buChar char="⚫"/>
              <a:tabLst>
                <a:tab pos="241935" algn="l"/>
              </a:tabLst>
            </a:pPr>
            <a:r>
              <a:rPr sz="3200" spc="-155" dirty="0">
                <a:latin typeface="Trebuchet MS"/>
                <a:cs typeface="Trebuchet MS"/>
              </a:rPr>
              <a:t>Im</a:t>
            </a:r>
            <a:r>
              <a:rPr sz="3200" spc="-150" dirty="0">
                <a:latin typeface="Trebuchet MS"/>
                <a:cs typeface="Trebuchet MS"/>
              </a:rPr>
              <a:t>p</a:t>
            </a:r>
            <a:r>
              <a:rPr sz="3200" spc="40" dirty="0">
                <a:latin typeface="Trebuchet MS"/>
                <a:cs typeface="Trebuchet MS"/>
              </a:rPr>
              <a:t>o</a:t>
            </a:r>
            <a:r>
              <a:rPr sz="3200" spc="85" dirty="0">
                <a:latin typeface="Trebuchet MS"/>
                <a:cs typeface="Trebuchet MS"/>
              </a:rPr>
              <a:t>r</a:t>
            </a:r>
            <a:r>
              <a:rPr sz="3200" spc="-200" dirty="0">
                <a:latin typeface="Trebuchet MS"/>
                <a:cs typeface="Trebuchet MS"/>
              </a:rPr>
              <a:t>ting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nece</a:t>
            </a:r>
            <a:r>
              <a:rPr sz="3200" spc="-125" dirty="0">
                <a:latin typeface="Trebuchet MS"/>
                <a:cs typeface="Trebuchet MS"/>
              </a:rPr>
              <a:t>ssa</a:t>
            </a:r>
            <a:r>
              <a:rPr sz="3200" spc="-5" dirty="0">
                <a:latin typeface="Trebuchet MS"/>
                <a:cs typeface="Trebuchet MS"/>
              </a:rPr>
              <a:t>r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235" dirty="0">
                <a:latin typeface="Trebuchet MS"/>
                <a:cs typeface="Trebuchet MS"/>
              </a:rPr>
              <a:t>l</a:t>
            </a:r>
            <a:r>
              <a:rPr sz="3200" spc="-220" dirty="0">
                <a:latin typeface="Trebuchet MS"/>
                <a:cs typeface="Trebuchet MS"/>
              </a:rPr>
              <a:t>i</a:t>
            </a:r>
            <a:r>
              <a:rPr sz="3200" spc="-135" dirty="0">
                <a:latin typeface="Trebuchet MS"/>
                <a:cs typeface="Trebuchet MS"/>
              </a:rPr>
              <a:t>braries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34028" y="2220493"/>
            <a:ext cx="6971030" cy="721360"/>
            <a:chOff x="4034028" y="2220493"/>
            <a:chExt cx="6971030" cy="7213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4028" y="2487206"/>
              <a:ext cx="1277112" cy="23783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155186" y="2549651"/>
              <a:ext cx="1117600" cy="78105"/>
            </a:xfrm>
            <a:custGeom>
              <a:avLst/>
              <a:gdLst/>
              <a:ahLst/>
              <a:cxnLst/>
              <a:rect l="l" t="t" r="r" b="b"/>
              <a:pathLst>
                <a:path w="1117600" h="78105">
                  <a:moveTo>
                    <a:pt x="77724" y="0"/>
                  </a:moveTo>
                  <a:lnTo>
                    <a:pt x="0" y="38862"/>
                  </a:lnTo>
                  <a:lnTo>
                    <a:pt x="77724" y="77724"/>
                  </a:lnTo>
                  <a:lnTo>
                    <a:pt x="77724" y="51815"/>
                  </a:lnTo>
                  <a:lnTo>
                    <a:pt x="64769" y="51815"/>
                  </a:lnTo>
                  <a:lnTo>
                    <a:pt x="64769" y="25908"/>
                  </a:lnTo>
                  <a:lnTo>
                    <a:pt x="77724" y="25908"/>
                  </a:lnTo>
                  <a:lnTo>
                    <a:pt x="77724" y="0"/>
                  </a:lnTo>
                  <a:close/>
                </a:path>
                <a:path w="1117600" h="78105">
                  <a:moveTo>
                    <a:pt x="77724" y="25908"/>
                  </a:moveTo>
                  <a:lnTo>
                    <a:pt x="64769" y="25908"/>
                  </a:lnTo>
                  <a:lnTo>
                    <a:pt x="64769" y="51815"/>
                  </a:lnTo>
                  <a:lnTo>
                    <a:pt x="77724" y="51815"/>
                  </a:lnTo>
                  <a:lnTo>
                    <a:pt x="77724" y="25908"/>
                  </a:lnTo>
                  <a:close/>
                </a:path>
                <a:path w="1117600" h="78105">
                  <a:moveTo>
                    <a:pt x="1117346" y="25908"/>
                  </a:moveTo>
                  <a:lnTo>
                    <a:pt x="77724" y="25908"/>
                  </a:lnTo>
                  <a:lnTo>
                    <a:pt x="77724" y="51815"/>
                  </a:lnTo>
                  <a:lnTo>
                    <a:pt x="1117346" y="51815"/>
                  </a:lnTo>
                  <a:lnTo>
                    <a:pt x="1117346" y="25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200" y="2261603"/>
              <a:ext cx="5594604" cy="5608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23332" y="2220493"/>
              <a:ext cx="5437632" cy="72082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57444" y="2289047"/>
              <a:ext cx="5504815" cy="471170"/>
            </a:xfrm>
            <a:custGeom>
              <a:avLst/>
              <a:gdLst/>
              <a:ahLst/>
              <a:cxnLst/>
              <a:rect l="l" t="t" r="r" b="b"/>
              <a:pathLst>
                <a:path w="5504815" h="471169">
                  <a:moveTo>
                    <a:pt x="5504688" y="0"/>
                  </a:moveTo>
                  <a:lnTo>
                    <a:pt x="0" y="0"/>
                  </a:lnTo>
                  <a:lnTo>
                    <a:pt x="0" y="470915"/>
                  </a:lnTo>
                  <a:lnTo>
                    <a:pt x="5504688" y="470915"/>
                  </a:lnTo>
                  <a:lnTo>
                    <a:pt x="5504688" y="0"/>
                  </a:lnTo>
                  <a:close/>
                </a:path>
              </a:pathLst>
            </a:custGeom>
            <a:solidFill>
              <a:srgbClr val="0A5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57444" y="2289047"/>
              <a:ext cx="5504815" cy="471170"/>
            </a:xfrm>
            <a:custGeom>
              <a:avLst/>
              <a:gdLst/>
              <a:ahLst/>
              <a:cxnLst/>
              <a:rect l="l" t="t" r="r" b="b"/>
              <a:pathLst>
                <a:path w="5504815" h="471169">
                  <a:moveTo>
                    <a:pt x="0" y="470915"/>
                  </a:moveTo>
                  <a:lnTo>
                    <a:pt x="5504688" y="470915"/>
                  </a:lnTo>
                  <a:lnTo>
                    <a:pt x="5504688" y="0"/>
                  </a:lnTo>
                  <a:lnTo>
                    <a:pt x="0" y="0"/>
                  </a:lnTo>
                  <a:lnTo>
                    <a:pt x="0" y="47091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457444" y="2289048"/>
            <a:ext cx="5504815" cy="47117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65"/>
              </a:spcBef>
            </a:pPr>
            <a:r>
              <a:rPr sz="2400" spc="-204" dirty="0">
                <a:solidFill>
                  <a:srgbClr val="FFFFFF"/>
                </a:solidFill>
                <a:latin typeface="Trebuchet MS"/>
                <a:cs typeface="Trebuchet MS"/>
              </a:rPr>
              <a:t>‘pand</a:t>
            </a:r>
            <a:r>
              <a:rPr sz="2400" spc="-21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400" spc="-204" dirty="0">
                <a:solidFill>
                  <a:srgbClr val="FFFFFF"/>
                </a:solidFill>
                <a:latin typeface="Trebuchet MS"/>
                <a:cs typeface="Trebuchet MS"/>
              </a:rPr>
              <a:t>s’</a:t>
            </a:r>
            <a:r>
              <a:rPr sz="24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FFFFFF"/>
                </a:solidFill>
                <a:latin typeface="Trebuchet MS"/>
                <a:cs typeface="Trebuchet MS"/>
              </a:rPr>
              <a:t>libra</a:t>
            </a:r>
            <a:r>
              <a:rPr sz="2400" spc="-5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2400" spc="-135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2400" spc="-60" dirty="0">
                <a:solidFill>
                  <a:srgbClr val="FFFFFF"/>
                </a:solidFill>
                <a:latin typeface="Trebuchet MS"/>
                <a:cs typeface="Trebuchet MS"/>
              </a:rPr>
              <a:t> to</a:t>
            </a:r>
            <a:r>
              <a:rPr sz="24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Trebuchet MS"/>
                <a:cs typeface="Trebuchet MS"/>
              </a:rPr>
              <a:t>w</a:t>
            </a:r>
            <a:r>
              <a:rPr sz="2400" spc="-5" dirty="0">
                <a:solidFill>
                  <a:srgbClr val="FFFFFF"/>
                </a:solidFill>
                <a:latin typeface="Trebuchet MS"/>
                <a:cs typeface="Trebuchet MS"/>
              </a:rPr>
              <a:t>ork</a:t>
            </a:r>
            <a:r>
              <a:rPr sz="24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FFFFFF"/>
                </a:solidFill>
                <a:latin typeface="Trebuchet MS"/>
                <a:cs typeface="Trebuchet MS"/>
              </a:rPr>
              <a:t>wi</a:t>
            </a:r>
            <a:r>
              <a:rPr sz="2400" spc="-10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2400" spc="-114" dirty="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sz="2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FFFFFF"/>
                </a:solidFill>
                <a:latin typeface="Trebuchet MS"/>
                <a:cs typeface="Trebuchet MS"/>
              </a:rPr>
              <a:t>dataf</a:t>
            </a:r>
            <a:r>
              <a:rPr sz="2400" spc="-15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2400" spc="-15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400" spc="-24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2400" spc="-105" dirty="0">
                <a:solidFill>
                  <a:srgbClr val="FFFFFF"/>
                </a:solidFill>
                <a:latin typeface="Trebuchet MS"/>
                <a:cs typeface="Trebuchet MS"/>
              </a:rPr>
              <a:t>es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047744" y="3073933"/>
            <a:ext cx="7004684" cy="721360"/>
            <a:chOff x="4047744" y="3073933"/>
            <a:chExt cx="7004684" cy="72136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47744" y="3365030"/>
              <a:ext cx="1263408" cy="23783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168902" y="3427476"/>
              <a:ext cx="1104900" cy="78105"/>
            </a:xfrm>
            <a:custGeom>
              <a:avLst/>
              <a:gdLst/>
              <a:ahLst/>
              <a:cxnLst/>
              <a:rect l="l" t="t" r="r" b="b"/>
              <a:pathLst>
                <a:path w="1104900" h="78104">
                  <a:moveTo>
                    <a:pt x="77724" y="0"/>
                  </a:moveTo>
                  <a:lnTo>
                    <a:pt x="0" y="38862"/>
                  </a:lnTo>
                  <a:lnTo>
                    <a:pt x="77724" y="77724"/>
                  </a:lnTo>
                  <a:lnTo>
                    <a:pt x="77724" y="51815"/>
                  </a:lnTo>
                  <a:lnTo>
                    <a:pt x="64770" y="51815"/>
                  </a:lnTo>
                  <a:lnTo>
                    <a:pt x="64770" y="25908"/>
                  </a:lnTo>
                  <a:lnTo>
                    <a:pt x="77724" y="25908"/>
                  </a:lnTo>
                  <a:lnTo>
                    <a:pt x="77724" y="0"/>
                  </a:lnTo>
                  <a:close/>
                </a:path>
                <a:path w="1104900" h="78104">
                  <a:moveTo>
                    <a:pt x="77724" y="25908"/>
                  </a:moveTo>
                  <a:lnTo>
                    <a:pt x="64770" y="25908"/>
                  </a:lnTo>
                  <a:lnTo>
                    <a:pt x="64770" y="51815"/>
                  </a:lnTo>
                  <a:lnTo>
                    <a:pt x="77724" y="51815"/>
                  </a:lnTo>
                  <a:lnTo>
                    <a:pt x="77724" y="25908"/>
                  </a:lnTo>
                  <a:close/>
                </a:path>
                <a:path w="1104900" h="78104">
                  <a:moveTo>
                    <a:pt x="1104392" y="25908"/>
                  </a:moveTo>
                  <a:lnTo>
                    <a:pt x="77724" y="25908"/>
                  </a:lnTo>
                  <a:lnTo>
                    <a:pt x="77724" y="51815"/>
                  </a:lnTo>
                  <a:lnTo>
                    <a:pt x="1104392" y="51815"/>
                  </a:lnTo>
                  <a:lnTo>
                    <a:pt x="1104392" y="25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10200" y="3115043"/>
              <a:ext cx="5611367" cy="5517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23332" y="3073933"/>
              <a:ext cx="5728716" cy="72082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457444" y="3142488"/>
              <a:ext cx="5521960" cy="462280"/>
            </a:xfrm>
            <a:custGeom>
              <a:avLst/>
              <a:gdLst/>
              <a:ahLst/>
              <a:cxnLst/>
              <a:rect l="l" t="t" r="r" b="b"/>
              <a:pathLst>
                <a:path w="5521959" h="462279">
                  <a:moveTo>
                    <a:pt x="5521452" y="0"/>
                  </a:moveTo>
                  <a:lnTo>
                    <a:pt x="0" y="0"/>
                  </a:lnTo>
                  <a:lnTo>
                    <a:pt x="0" y="461772"/>
                  </a:lnTo>
                  <a:lnTo>
                    <a:pt x="5521452" y="461772"/>
                  </a:lnTo>
                  <a:lnTo>
                    <a:pt x="5521452" y="0"/>
                  </a:lnTo>
                  <a:close/>
                </a:path>
              </a:pathLst>
            </a:custGeom>
            <a:solidFill>
              <a:srgbClr val="0A5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57444" y="3142488"/>
              <a:ext cx="5521960" cy="462280"/>
            </a:xfrm>
            <a:custGeom>
              <a:avLst/>
              <a:gdLst/>
              <a:ahLst/>
              <a:cxnLst/>
              <a:rect l="l" t="t" r="r" b="b"/>
              <a:pathLst>
                <a:path w="5521959" h="462279">
                  <a:moveTo>
                    <a:pt x="0" y="461772"/>
                  </a:moveTo>
                  <a:lnTo>
                    <a:pt x="5521452" y="461772"/>
                  </a:lnTo>
                  <a:lnTo>
                    <a:pt x="5521452" y="0"/>
                  </a:lnTo>
                  <a:lnTo>
                    <a:pt x="0" y="0"/>
                  </a:lnTo>
                  <a:lnTo>
                    <a:pt x="0" y="46177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457444" y="3142488"/>
            <a:ext cx="5521960" cy="46228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70"/>
              </a:spcBef>
            </a:pPr>
            <a:r>
              <a:rPr sz="2400" spc="-360" dirty="0">
                <a:solidFill>
                  <a:srgbClr val="FFFFFF"/>
                </a:solidFill>
                <a:latin typeface="Trebuchet MS"/>
                <a:cs typeface="Trebuchet MS"/>
              </a:rPr>
              <a:t>‘</a:t>
            </a:r>
            <a:r>
              <a:rPr sz="2400" spc="-140" dirty="0">
                <a:solidFill>
                  <a:srgbClr val="FFFFFF"/>
                </a:solidFill>
                <a:latin typeface="Trebuchet MS"/>
                <a:cs typeface="Trebuchet MS"/>
              </a:rPr>
              <a:t>num</a:t>
            </a:r>
            <a:r>
              <a:rPr sz="2400" spc="-204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2400" spc="-135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2400" spc="-360" dirty="0">
                <a:solidFill>
                  <a:srgbClr val="FFFFFF"/>
                </a:solidFill>
                <a:latin typeface="Trebuchet MS"/>
                <a:cs typeface="Trebuchet MS"/>
              </a:rPr>
              <a:t>’</a:t>
            </a:r>
            <a:r>
              <a:rPr sz="24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FFFFFF"/>
                </a:solidFill>
                <a:latin typeface="Trebuchet MS"/>
                <a:cs typeface="Trebuchet MS"/>
              </a:rPr>
              <a:t>libra</a:t>
            </a:r>
            <a:r>
              <a:rPr sz="2400" spc="-5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2400" spc="-135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2400" spc="-60" dirty="0">
                <a:solidFill>
                  <a:srgbClr val="FFFFFF"/>
                </a:solidFill>
                <a:latin typeface="Trebuchet MS"/>
                <a:cs typeface="Trebuchet MS"/>
              </a:rPr>
              <a:t> to 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do</a:t>
            </a:r>
            <a:r>
              <a:rPr sz="24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FFFFFF"/>
                </a:solidFill>
                <a:latin typeface="Trebuchet MS"/>
                <a:cs typeface="Trebuchet MS"/>
              </a:rPr>
              <a:t>numerical</a:t>
            </a:r>
            <a:r>
              <a:rPr sz="24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2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2400" spc="-110" dirty="0">
                <a:solidFill>
                  <a:srgbClr val="FFFFFF"/>
                </a:solidFill>
                <a:latin typeface="Trebuchet MS"/>
                <a:cs typeface="Trebuchet MS"/>
              </a:rPr>
              <a:t>perations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47116" y="2275319"/>
            <a:ext cx="3662679" cy="515620"/>
            <a:chOff x="547116" y="2275319"/>
            <a:chExt cx="3662679" cy="515620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7116" y="2275319"/>
              <a:ext cx="3662172" cy="51512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3024" y="2301239"/>
              <a:ext cx="3560064" cy="413003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614172" y="3203473"/>
            <a:ext cx="3369945" cy="501650"/>
            <a:chOff x="614172" y="3203473"/>
            <a:chExt cx="3369945" cy="501650"/>
          </a:xfrm>
        </p:grpSpPr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4172" y="3203473"/>
              <a:ext cx="3369564" cy="50137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0080" y="3229356"/>
              <a:ext cx="3267455" cy="399288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606551" y="4044683"/>
            <a:ext cx="5433060" cy="1780539"/>
            <a:chOff x="606551" y="4044683"/>
            <a:chExt cx="5433060" cy="1780539"/>
          </a:xfrm>
        </p:grpSpPr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4171" y="4044683"/>
              <a:ext cx="5425440" cy="48769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0079" y="4070604"/>
              <a:ext cx="5323332" cy="38557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93419" y="5143500"/>
              <a:ext cx="4994148" cy="5517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6551" y="5103876"/>
              <a:ext cx="5030724" cy="72082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40663" y="5170932"/>
              <a:ext cx="4904740" cy="462280"/>
            </a:xfrm>
            <a:custGeom>
              <a:avLst/>
              <a:gdLst/>
              <a:ahLst/>
              <a:cxnLst/>
              <a:rect l="l" t="t" r="r" b="b"/>
              <a:pathLst>
                <a:path w="4904740" h="462279">
                  <a:moveTo>
                    <a:pt x="4904232" y="0"/>
                  </a:moveTo>
                  <a:lnTo>
                    <a:pt x="0" y="0"/>
                  </a:lnTo>
                  <a:lnTo>
                    <a:pt x="0" y="461772"/>
                  </a:lnTo>
                  <a:lnTo>
                    <a:pt x="4904232" y="461772"/>
                  </a:lnTo>
                  <a:lnTo>
                    <a:pt x="4904232" y="0"/>
                  </a:lnTo>
                  <a:close/>
                </a:path>
              </a:pathLst>
            </a:custGeom>
            <a:solidFill>
              <a:srgbClr val="0A5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40663" y="5170932"/>
              <a:ext cx="4904740" cy="462280"/>
            </a:xfrm>
            <a:custGeom>
              <a:avLst/>
              <a:gdLst/>
              <a:ahLst/>
              <a:cxnLst/>
              <a:rect l="l" t="t" r="r" b="b"/>
              <a:pathLst>
                <a:path w="4904740" h="462279">
                  <a:moveTo>
                    <a:pt x="0" y="461772"/>
                  </a:moveTo>
                  <a:lnTo>
                    <a:pt x="4904232" y="461772"/>
                  </a:lnTo>
                  <a:lnTo>
                    <a:pt x="4904232" y="0"/>
                  </a:lnTo>
                  <a:lnTo>
                    <a:pt x="0" y="0"/>
                  </a:lnTo>
                  <a:lnTo>
                    <a:pt x="0" y="46177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40663" y="5170932"/>
            <a:ext cx="4904740" cy="46228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0"/>
              </a:spcBef>
            </a:pPr>
            <a:r>
              <a:rPr sz="2400" spc="-190" dirty="0">
                <a:solidFill>
                  <a:srgbClr val="FFFFFF"/>
                </a:solidFill>
                <a:latin typeface="Trebuchet MS"/>
                <a:cs typeface="Trebuchet MS"/>
              </a:rPr>
              <a:t>‘matplotlib</a:t>
            </a:r>
            <a:r>
              <a:rPr sz="2400" spc="-150" dirty="0">
                <a:solidFill>
                  <a:srgbClr val="FFFFFF"/>
                </a:solidFill>
                <a:latin typeface="Trebuchet MS"/>
                <a:cs typeface="Trebuchet MS"/>
              </a:rPr>
              <a:t>’</a:t>
            </a:r>
            <a:r>
              <a:rPr sz="24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FFFFFF"/>
                </a:solidFill>
                <a:latin typeface="Trebuchet MS"/>
                <a:cs typeface="Trebuchet MS"/>
              </a:rPr>
              <a:t>libra</a:t>
            </a:r>
            <a:r>
              <a:rPr sz="2400" spc="-5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2400" spc="-135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2400" spc="-60" dirty="0">
                <a:solidFill>
                  <a:srgbClr val="FFFFFF"/>
                </a:solidFill>
                <a:latin typeface="Trebuchet MS"/>
                <a:cs typeface="Trebuchet MS"/>
              </a:rPr>
              <a:t> to 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do</a:t>
            </a:r>
            <a:r>
              <a:rPr sz="24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FFFFFF"/>
                </a:solidFill>
                <a:latin typeface="Trebuchet MS"/>
                <a:cs typeface="Trebuchet MS"/>
              </a:rPr>
              <a:t>visualization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046476" y="4430255"/>
            <a:ext cx="238125" cy="770255"/>
            <a:chOff x="3046476" y="4430255"/>
            <a:chExt cx="238125" cy="770255"/>
          </a:xfrm>
        </p:grpSpPr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46476" y="4430255"/>
              <a:ext cx="237832" cy="76963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128772" y="4452365"/>
              <a:ext cx="78105" cy="610870"/>
            </a:xfrm>
            <a:custGeom>
              <a:avLst/>
              <a:gdLst/>
              <a:ahLst/>
              <a:cxnLst/>
              <a:rect l="l" t="t" r="r" b="b"/>
              <a:pathLst>
                <a:path w="78105" h="610870">
                  <a:moveTo>
                    <a:pt x="25907" y="533145"/>
                  </a:moveTo>
                  <a:lnTo>
                    <a:pt x="0" y="533145"/>
                  </a:lnTo>
                  <a:lnTo>
                    <a:pt x="38861" y="610869"/>
                  </a:lnTo>
                  <a:lnTo>
                    <a:pt x="71246" y="546099"/>
                  </a:lnTo>
                  <a:lnTo>
                    <a:pt x="25907" y="546099"/>
                  </a:lnTo>
                  <a:lnTo>
                    <a:pt x="25907" y="533145"/>
                  </a:lnTo>
                  <a:close/>
                </a:path>
                <a:path w="78105" h="610870">
                  <a:moveTo>
                    <a:pt x="51815" y="0"/>
                  </a:moveTo>
                  <a:lnTo>
                    <a:pt x="25907" y="0"/>
                  </a:lnTo>
                  <a:lnTo>
                    <a:pt x="25907" y="546099"/>
                  </a:lnTo>
                  <a:lnTo>
                    <a:pt x="51815" y="546099"/>
                  </a:lnTo>
                  <a:lnTo>
                    <a:pt x="51815" y="0"/>
                  </a:lnTo>
                  <a:close/>
                </a:path>
                <a:path w="78105" h="610870">
                  <a:moveTo>
                    <a:pt x="77723" y="533145"/>
                  </a:moveTo>
                  <a:lnTo>
                    <a:pt x="51815" y="533145"/>
                  </a:lnTo>
                  <a:lnTo>
                    <a:pt x="51815" y="546099"/>
                  </a:lnTo>
                  <a:lnTo>
                    <a:pt x="71246" y="546099"/>
                  </a:lnTo>
                  <a:lnTo>
                    <a:pt x="77723" y="533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9" name="Picture 2" descr="JIMS, Rohini, Sector 5 | Delhi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53" y="337515"/>
            <a:ext cx="60845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14" dirty="0">
                <a:solidFill>
                  <a:srgbClr val="0A5293"/>
                </a:solidFill>
                <a:latin typeface="Trebuchet MS"/>
                <a:cs typeface="Trebuchet MS"/>
              </a:rPr>
              <a:t>Impo</a:t>
            </a:r>
            <a:r>
              <a:rPr sz="4400" b="0" spc="-10" dirty="0">
                <a:solidFill>
                  <a:srgbClr val="0A5293"/>
                </a:solidFill>
                <a:latin typeface="Trebuchet MS"/>
                <a:cs typeface="Trebuchet MS"/>
              </a:rPr>
              <a:t>r</a:t>
            </a:r>
            <a:r>
              <a:rPr sz="4400" b="0" spc="-265" dirty="0">
                <a:solidFill>
                  <a:srgbClr val="0A5293"/>
                </a:solidFill>
                <a:latin typeface="Trebuchet MS"/>
                <a:cs typeface="Trebuchet MS"/>
              </a:rPr>
              <a:t>tin</a:t>
            </a:r>
            <a:r>
              <a:rPr sz="4400" b="0" spc="-320" dirty="0">
                <a:solidFill>
                  <a:srgbClr val="0A5293"/>
                </a:solidFill>
                <a:latin typeface="Trebuchet MS"/>
                <a:cs typeface="Trebuchet MS"/>
              </a:rPr>
              <a:t>g</a:t>
            </a:r>
            <a:r>
              <a:rPr sz="4400" b="0" spc="-14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340" dirty="0">
                <a:solidFill>
                  <a:srgbClr val="0A5293"/>
                </a:solidFill>
                <a:latin typeface="Trebuchet MS"/>
                <a:cs typeface="Trebuchet MS"/>
              </a:rPr>
              <a:t>data</a:t>
            </a:r>
            <a:r>
              <a:rPr sz="4400" b="0" spc="-12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170" dirty="0">
                <a:solidFill>
                  <a:srgbClr val="0A5293"/>
                </a:solidFill>
                <a:latin typeface="Trebuchet MS"/>
                <a:cs typeface="Trebuchet MS"/>
              </a:rPr>
              <a:t>int</a:t>
            </a:r>
            <a:r>
              <a:rPr sz="4400" b="0" spc="-215" dirty="0">
                <a:solidFill>
                  <a:srgbClr val="0A5293"/>
                </a:solidFill>
                <a:latin typeface="Trebuchet MS"/>
                <a:cs typeface="Trebuchet MS"/>
              </a:rPr>
              <a:t>o</a:t>
            </a:r>
            <a:r>
              <a:rPr sz="4400" b="0" spc="-10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114" dirty="0">
                <a:solidFill>
                  <a:srgbClr val="0A5293"/>
                </a:solidFill>
                <a:latin typeface="Trebuchet MS"/>
                <a:cs typeface="Trebuchet MS"/>
              </a:rPr>
              <a:t>S</a:t>
            </a:r>
            <a:r>
              <a:rPr sz="4400" b="0" spc="-400" dirty="0">
                <a:solidFill>
                  <a:srgbClr val="0A5293"/>
                </a:solidFill>
                <a:latin typeface="Trebuchet MS"/>
                <a:cs typeface="Trebuchet MS"/>
              </a:rPr>
              <a:t>p</a:t>
            </a:r>
            <a:r>
              <a:rPr sz="4400" b="0" spc="-175" dirty="0">
                <a:solidFill>
                  <a:srgbClr val="0A5293"/>
                </a:solidFill>
                <a:latin typeface="Trebuchet MS"/>
                <a:cs typeface="Trebuchet MS"/>
              </a:rPr>
              <a:t>yder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Python</a:t>
            </a:r>
            <a:r>
              <a:rPr spc="30" dirty="0"/>
              <a:t> </a:t>
            </a:r>
            <a:r>
              <a:rPr spc="-5" dirty="0"/>
              <a:t>for</a:t>
            </a:r>
            <a:r>
              <a:rPr spc="-15" dirty="0"/>
              <a:t> </a:t>
            </a:r>
            <a:r>
              <a:rPr spc="-5" dirty="0"/>
              <a:t>Data</a:t>
            </a:r>
            <a:r>
              <a:rPr spc="-25" dirty="0"/>
              <a:t> </a:t>
            </a:r>
            <a:r>
              <a:rPr dirty="0"/>
              <a:t>Science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9</a:t>
            </a:fld>
            <a:endParaRPr spc="-30" dirty="0"/>
          </a:p>
        </p:txBody>
      </p:sp>
      <p:sp>
        <p:nvSpPr>
          <p:cNvPr id="3" name="object 3"/>
          <p:cNvSpPr txBox="1"/>
          <p:nvPr/>
        </p:nvSpPr>
        <p:spPr>
          <a:xfrm>
            <a:off x="339953" y="1220800"/>
            <a:ext cx="26676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0312"/>
              <a:buFont typeface="Segoe UI Symbol"/>
              <a:buChar char="⚫"/>
              <a:tabLst>
                <a:tab pos="241300" algn="l"/>
              </a:tabLst>
            </a:pPr>
            <a:r>
              <a:rPr sz="3200" spc="-80" dirty="0">
                <a:latin typeface="Trebuchet MS"/>
                <a:cs typeface="Trebuchet MS"/>
              </a:rPr>
              <a:t>Impo</a:t>
            </a:r>
            <a:r>
              <a:rPr sz="3200" dirty="0">
                <a:latin typeface="Trebuchet MS"/>
                <a:cs typeface="Trebuchet MS"/>
              </a:rPr>
              <a:t>r</a:t>
            </a:r>
            <a:r>
              <a:rPr sz="3200" spc="-200" dirty="0">
                <a:latin typeface="Trebuchet MS"/>
                <a:cs typeface="Trebuchet MS"/>
              </a:rPr>
              <a:t>ting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-245" dirty="0">
                <a:latin typeface="Trebuchet MS"/>
                <a:cs typeface="Trebuchet MS"/>
              </a:rPr>
              <a:t>data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9953" y="4052061"/>
            <a:ext cx="756983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3891A7"/>
              </a:buClr>
              <a:buSzPct val="70312"/>
              <a:buFont typeface="Segoe UI Symbol"/>
              <a:buChar char="⚫"/>
              <a:tabLst>
                <a:tab pos="241300" algn="l"/>
              </a:tabLst>
            </a:pPr>
            <a:r>
              <a:rPr sz="3200" spc="-75" dirty="0">
                <a:latin typeface="Trebuchet MS"/>
                <a:cs typeface="Trebuchet MS"/>
              </a:rPr>
              <a:t>Rem</a:t>
            </a:r>
            <a:r>
              <a:rPr sz="3200" spc="-105" dirty="0">
                <a:latin typeface="Trebuchet MS"/>
                <a:cs typeface="Trebuchet MS"/>
              </a:rPr>
              <a:t>o</a:t>
            </a:r>
            <a:r>
              <a:rPr sz="3200" spc="-155" dirty="0">
                <a:latin typeface="Trebuchet MS"/>
                <a:cs typeface="Trebuchet MS"/>
              </a:rPr>
              <a:t>vi</a:t>
            </a:r>
            <a:r>
              <a:rPr sz="3200" spc="-215" dirty="0">
                <a:latin typeface="Trebuchet MS"/>
                <a:cs typeface="Trebuchet MS"/>
              </a:rPr>
              <a:t>n</a:t>
            </a:r>
            <a:r>
              <a:rPr sz="3200" spc="-240" dirty="0">
                <a:latin typeface="Trebuchet MS"/>
                <a:cs typeface="Trebuchet MS"/>
              </a:rPr>
              <a:t>g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mi</a:t>
            </a:r>
            <a:r>
              <a:rPr sz="3200" spc="-120" dirty="0">
                <a:latin typeface="Trebuchet MS"/>
                <a:cs typeface="Trebuchet MS"/>
              </a:rPr>
              <a:t>ssi</a:t>
            </a:r>
            <a:r>
              <a:rPr sz="3200" spc="-180" dirty="0">
                <a:latin typeface="Trebuchet MS"/>
                <a:cs typeface="Trebuchet MS"/>
              </a:rPr>
              <a:t>n</a:t>
            </a:r>
            <a:r>
              <a:rPr sz="3200" spc="-240" dirty="0">
                <a:latin typeface="Trebuchet MS"/>
                <a:cs typeface="Trebuchet MS"/>
              </a:rPr>
              <a:t>g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val</a:t>
            </a:r>
            <a:r>
              <a:rPr sz="3200" spc="-250" dirty="0">
                <a:latin typeface="Trebuchet MS"/>
                <a:cs typeface="Trebuchet MS"/>
              </a:rPr>
              <a:t>u</a:t>
            </a:r>
            <a:r>
              <a:rPr sz="3200" spc="-140" dirty="0">
                <a:latin typeface="Trebuchet MS"/>
                <a:cs typeface="Trebuchet MS"/>
              </a:rPr>
              <a:t>es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f</a:t>
            </a:r>
            <a:r>
              <a:rPr sz="3200" spc="-265" dirty="0">
                <a:latin typeface="Trebuchet MS"/>
                <a:cs typeface="Trebuchet MS"/>
              </a:rPr>
              <a:t>r</a:t>
            </a:r>
            <a:r>
              <a:rPr sz="3200" spc="-70" dirty="0">
                <a:latin typeface="Trebuchet MS"/>
                <a:cs typeface="Trebuchet MS"/>
              </a:rPr>
              <a:t>om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th</a:t>
            </a:r>
            <a:r>
              <a:rPr sz="3200" spc="-204" dirty="0">
                <a:latin typeface="Trebuchet MS"/>
                <a:cs typeface="Trebuchet MS"/>
              </a:rPr>
              <a:t>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229" dirty="0">
                <a:latin typeface="Trebuchet MS"/>
                <a:cs typeface="Trebuchet MS"/>
              </a:rPr>
              <a:t>dataframe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41019" y="1883651"/>
            <a:ext cx="8366759" cy="2060575"/>
            <a:chOff x="541019" y="1883651"/>
            <a:chExt cx="8366759" cy="20605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19" y="1883651"/>
              <a:ext cx="8366759" cy="86259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6927" y="1909572"/>
              <a:ext cx="8264652" cy="76047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1019" y="2741675"/>
              <a:ext cx="4451604" cy="12024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6927" y="2767583"/>
              <a:ext cx="4349496" cy="110032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352799" y="3506724"/>
              <a:ext cx="1564005" cy="326390"/>
            </a:xfrm>
            <a:custGeom>
              <a:avLst/>
              <a:gdLst/>
              <a:ahLst/>
              <a:cxnLst/>
              <a:rect l="l" t="t" r="r" b="b"/>
              <a:pathLst>
                <a:path w="1564004" h="326389">
                  <a:moveTo>
                    <a:pt x="1563624" y="0"/>
                  </a:moveTo>
                  <a:lnTo>
                    <a:pt x="0" y="0"/>
                  </a:lnTo>
                  <a:lnTo>
                    <a:pt x="0" y="326136"/>
                  </a:lnTo>
                  <a:lnTo>
                    <a:pt x="1563624" y="326136"/>
                  </a:lnTo>
                  <a:lnTo>
                    <a:pt x="1563624" y="0"/>
                  </a:lnTo>
                  <a:close/>
                </a:path>
              </a:pathLst>
            </a:custGeom>
            <a:solidFill>
              <a:srgbClr val="FFAB4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20623" y="4735067"/>
            <a:ext cx="7084059" cy="1731645"/>
            <a:chOff x="420623" y="4735067"/>
            <a:chExt cx="7084059" cy="173164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0623" y="4735067"/>
              <a:ext cx="7083552" cy="5532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6531" y="4760975"/>
              <a:ext cx="6981444" cy="45110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1019" y="5314187"/>
              <a:ext cx="4451604" cy="115215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6927" y="5340095"/>
              <a:ext cx="4349496" cy="105003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352800" y="6030467"/>
              <a:ext cx="1564005" cy="325120"/>
            </a:xfrm>
            <a:custGeom>
              <a:avLst/>
              <a:gdLst/>
              <a:ahLst/>
              <a:cxnLst/>
              <a:rect l="l" t="t" r="r" b="b"/>
              <a:pathLst>
                <a:path w="1564004" h="325120">
                  <a:moveTo>
                    <a:pt x="1563624" y="0"/>
                  </a:moveTo>
                  <a:lnTo>
                    <a:pt x="0" y="0"/>
                  </a:lnTo>
                  <a:lnTo>
                    <a:pt x="0" y="324611"/>
                  </a:lnTo>
                  <a:lnTo>
                    <a:pt x="1563624" y="324611"/>
                  </a:lnTo>
                  <a:lnTo>
                    <a:pt x="1563624" y="0"/>
                  </a:lnTo>
                  <a:close/>
                </a:path>
              </a:pathLst>
            </a:custGeom>
            <a:solidFill>
              <a:srgbClr val="FFAB4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Picture 2" descr="JIMS, Rohini, Sector 5 | Delhi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6069" y="443230"/>
            <a:ext cx="26765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240" dirty="0">
                <a:solidFill>
                  <a:srgbClr val="0A5293"/>
                </a:solidFill>
                <a:latin typeface="Trebuchet MS"/>
                <a:cs typeface="Trebuchet MS"/>
              </a:rPr>
              <a:t>Scatte</a:t>
            </a:r>
            <a:r>
              <a:rPr sz="4400" b="0" spc="-195" dirty="0">
                <a:solidFill>
                  <a:srgbClr val="0A5293"/>
                </a:solidFill>
                <a:latin typeface="Trebuchet MS"/>
                <a:cs typeface="Trebuchet MS"/>
              </a:rPr>
              <a:t>r</a:t>
            </a:r>
            <a:r>
              <a:rPr sz="4400" b="0" spc="-130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200" dirty="0">
                <a:solidFill>
                  <a:srgbClr val="0A5293"/>
                </a:solidFill>
                <a:latin typeface="Trebuchet MS"/>
                <a:cs typeface="Trebuchet MS"/>
              </a:rPr>
              <a:t>plot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Python</a:t>
            </a:r>
            <a:r>
              <a:rPr spc="30" dirty="0"/>
              <a:t> </a:t>
            </a:r>
            <a:r>
              <a:rPr spc="-5" dirty="0"/>
              <a:t>for</a:t>
            </a:r>
            <a:r>
              <a:rPr spc="-15" dirty="0"/>
              <a:t> </a:t>
            </a:r>
            <a:r>
              <a:rPr spc="-5" dirty="0"/>
              <a:t>Data</a:t>
            </a:r>
            <a:r>
              <a:rPr spc="-25" dirty="0"/>
              <a:t> </a:t>
            </a:r>
            <a:r>
              <a:rPr dirty="0"/>
              <a:t>Science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10</a:t>
            </a:fld>
            <a:endParaRPr spc="-30" dirty="0"/>
          </a:p>
        </p:txBody>
      </p:sp>
      <p:grpSp>
        <p:nvGrpSpPr>
          <p:cNvPr id="3" name="object 3"/>
          <p:cNvGrpSpPr/>
          <p:nvPr/>
        </p:nvGrpSpPr>
        <p:grpSpPr>
          <a:xfrm>
            <a:off x="550163" y="1737347"/>
            <a:ext cx="9930765" cy="3197860"/>
            <a:chOff x="550163" y="1737347"/>
            <a:chExt cx="9930765" cy="31978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0163" y="1737347"/>
              <a:ext cx="9930384" cy="73458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071" y="1763267"/>
              <a:ext cx="9828276" cy="6324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0163" y="2407907"/>
              <a:ext cx="9930384" cy="73305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6071" y="2433827"/>
              <a:ext cx="9828276" cy="6309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0163" y="3076943"/>
              <a:ext cx="9930384" cy="7345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6071" y="3102863"/>
              <a:ext cx="9828276" cy="6324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0163" y="3774922"/>
              <a:ext cx="9930384" cy="5319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6071" y="3800855"/>
              <a:ext cx="9828276" cy="42976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0163" y="4270260"/>
              <a:ext cx="9930384" cy="66445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6071" y="4296155"/>
              <a:ext cx="9828276" cy="5623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24328" y="1854682"/>
              <a:ext cx="2752344" cy="46789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650236" y="1880615"/>
              <a:ext cx="2650490" cy="365760"/>
            </a:xfrm>
            <a:custGeom>
              <a:avLst/>
              <a:gdLst/>
              <a:ahLst/>
              <a:cxnLst/>
              <a:rect l="l" t="t" r="r" b="b"/>
              <a:pathLst>
                <a:path w="2650490" h="365760">
                  <a:moveTo>
                    <a:pt x="2650236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2650236" y="365760"/>
                  </a:lnTo>
                  <a:lnTo>
                    <a:pt x="2650236" y="0"/>
                  </a:lnTo>
                  <a:close/>
                </a:path>
              </a:pathLst>
            </a:custGeom>
            <a:solidFill>
              <a:srgbClr val="EDFF41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58611" y="1821154"/>
              <a:ext cx="3200399" cy="46789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684519" y="1847087"/>
              <a:ext cx="3098800" cy="365760"/>
            </a:xfrm>
            <a:custGeom>
              <a:avLst/>
              <a:gdLst/>
              <a:ahLst/>
              <a:cxnLst/>
              <a:rect l="l" t="t" r="r" b="b"/>
              <a:pathLst>
                <a:path w="3098800" h="365760">
                  <a:moveTo>
                    <a:pt x="3098292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3098292" y="365760"/>
                  </a:lnTo>
                  <a:lnTo>
                    <a:pt x="3098292" y="0"/>
                  </a:lnTo>
                  <a:close/>
                </a:path>
              </a:pathLst>
            </a:custGeom>
            <a:solidFill>
              <a:srgbClr val="EDFF41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885691" y="1456182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rebuchet MS"/>
                <a:cs typeface="Trebuchet MS"/>
              </a:rPr>
              <a:t>x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29043" y="1401571"/>
            <a:ext cx="159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35" dirty="0">
                <a:latin typeface="Trebuchet MS"/>
                <a:cs typeface="Trebuchet MS"/>
              </a:rPr>
              <a:t>y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22" name="Picture 2" descr="JIMS, Rohini, Sector 5 | Delhi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53" y="351282"/>
            <a:ext cx="26765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240" dirty="0">
                <a:solidFill>
                  <a:srgbClr val="0A5293"/>
                </a:solidFill>
                <a:latin typeface="Trebuchet MS"/>
                <a:cs typeface="Trebuchet MS"/>
              </a:rPr>
              <a:t>Scatte</a:t>
            </a:r>
            <a:r>
              <a:rPr sz="4400" b="0" spc="-195" dirty="0">
                <a:solidFill>
                  <a:srgbClr val="0A5293"/>
                </a:solidFill>
                <a:latin typeface="Trebuchet MS"/>
                <a:cs typeface="Trebuchet MS"/>
              </a:rPr>
              <a:t>r</a:t>
            </a:r>
            <a:r>
              <a:rPr sz="4400" b="0" spc="-130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200" dirty="0">
                <a:solidFill>
                  <a:srgbClr val="0A5293"/>
                </a:solidFill>
                <a:latin typeface="Trebuchet MS"/>
                <a:cs typeface="Trebuchet MS"/>
              </a:rPr>
              <a:t>plot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Python</a:t>
            </a:r>
            <a:r>
              <a:rPr spc="30" dirty="0"/>
              <a:t> </a:t>
            </a:r>
            <a:r>
              <a:rPr spc="-5" dirty="0"/>
              <a:t>for</a:t>
            </a:r>
            <a:r>
              <a:rPr spc="-15" dirty="0"/>
              <a:t> </a:t>
            </a:r>
            <a:r>
              <a:rPr spc="-5" dirty="0"/>
              <a:t>Data</a:t>
            </a:r>
            <a:r>
              <a:rPr spc="-25" dirty="0"/>
              <a:t> </a:t>
            </a:r>
            <a:r>
              <a:rPr dirty="0"/>
              <a:t>Science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11</a:t>
            </a:fld>
            <a:endParaRPr spc="-30" dirty="0"/>
          </a:p>
        </p:txBody>
      </p:sp>
      <p:sp>
        <p:nvSpPr>
          <p:cNvPr id="3" name="object 3"/>
          <p:cNvSpPr txBox="1"/>
          <p:nvPr/>
        </p:nvSpPr>
        <p:spPr>
          <a:xfrm>
            <a:off x="492963" y="1220800"/>
            <a:ext cx="96907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0312"/>
              <a:buFont typeface="Segoe UI Symbol"/>
              <a:buChar char="⚫"/>
              <a:tabLst>
                <a:tab pos="241300" algn="l"/>
              </a:tabLst>
            </a:pPr>
            <a:r>
              <a:rPr sz="3200" spc="-95" dirty="0">
                <a:latin typeface="Trebuchet MS"/>
                <a:cs typeface="Trebuchet MS"/>
              </a:rPr>
              <a:t>The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pr</a:t>
            </a:r>
            <a:r>
              <a:rPr sz="3200" spc="-80" dirty="0">
                <a:latin typeface="Trebuchet MS"/>
                <a:cs typeface="Trebuchet MS"/>
              </a:rPr>
              <a:t>i</a:t>
            </a:r>
            <a:r>
              <a:rPr sz="3200" spc="-195" dirty="0">
                <a:latin typeface="Trebuchet MS"/>
                <a:cs typeface="Trebuchet MS"/>
              </a:rPr>
              <a:t>ce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165" dirty="0">
                <a:latin typeface="Trebuchet MS"/>
                <a:cs typeface="Trebuchet MS"/>
              </a:rPr>
              <a:t>of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th</a:t>
            </a:r>
            <a:r>
              <a:rPr sz="3200" spc="-204" dirty="0">
                <a:latin typeface="Trebuchet MS"/>
                <a:cs typeface="Trebuchet MS"/>
              </a:rPr>
              <a:t>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car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dec</a:t>
            </a:r>
            <a:r>
              <a:rPr sz="3200" spc="-170" dirty="0">
                <a:latin typeface="Trebuchet MS"/>
                <a:cs typeface="Trebuchet MS"/>
              </a:rPr>
              <a:t>r</a:t>
            </a:r>
            <a:r>
              <a:rPr sz="3200" spc="-175" dirty="0">
                <a:latin typeface="Trebuchet MS"/>
                <a:cs typeface="Trebuchet MS"/>
              </a:rPr>
              <a:t>eases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as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54" dirty="0">
                <a:latin typeface="Trebuchet MS"/>
                <a:cs typeface="Trebuchet MS"/>
              </a:rPr>
              <a:t>age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65" dirty="0">
                <a:latin typeface="Trebuchet MS"/>
                <a:cs typeface="Trebuchet MS"/>
              </a:rPr>
              <a:t>of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th</a:t>
            </a:r>
            <a:r>
              <a:rPr sz="3200" spc="-204" dirty="0">
                <a:latin typeface="Trebuchet MS"/>
                <a:cs typeface="Trebuchet MS"/>
              </a:rPr>
              <a:t>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car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i</a:t>
            </a:r>
            <a:r>
              <a:rPr sz="3200" spc="-229" dirty="0">
                <a:latin typeface="Trebuchet MS"/>
                <a:cs typeface="Trebuchet MS"/>
              </a:rPr>
              <a:t>n</a:t>
            </a:r>
            <a:r>
              <a:rPr sz="3200" spc="-90" dirty="0">
                <a:latin typeface="Trebuchet MS"/>
                <a:cs typeface="Trebuchet MS"/>
              </a:rPr>
              <a:t>c</a:t>
            </a:r>
            <a:r>
              <a:rPr sz="3200" spc="-130" dirty="0">
                <a:latin typeface="Trebuchet MS"/>
                <a:cs typeface="Trebuchet MS"/>
              </a:rPr>
              <a:t>r</a:t>
            </a:r>
            <a:r>
              <a:rPr sz="3200" spc="-175" dirty="0">
                <a:latin typeface="Trebuchet MS"/>
                <a:cs typeface="Trebuchet MS"/>
              </a:rPr>
              <a:t>eases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5508" y="1813560"/>
            <a:ext cx="6570345" cy="4543425"/>
            <a:chOff x="635508" y="1813560"/>
            <a:chExt cx="6570345" cy="45434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508" y="1813560"/>
              <a:ext cx="6569964" cy="45430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1416" y="1839468"/>
              <a:ext cx="6467856" cy="4440936"/>
            </a:xfrm>
            <a:prstGeom prst="rect">
              <a:avLst/>
            </a:prstGeom>
          </p:spPr>
        </p:pic>
      </p:grpSp>
      <p:pic>
        <p:nvPicPr>
          <p:cNvPr id="9" name="Picture 2" descr="JIMS, Rohini, Sector 5 | Delhi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8235" y="2313432"/>
            <a:ext cx="8857488" cy="16809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28971" y="2917317"/>
            <a:ext cx="21767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30" dirty="0">
                <a:solidFill>
                  <a:srgbClr val="0A5293"/>
                </a:solidFill>
                <a:latin typeface="Trebuchet MS"/>
                <a:cs typeface="Trebuchet MS"/>
              </a:rPr>
              <a:t>Histogram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Python</a:t>
            </a:r>
            <a:r>
              <a:rPr spc="30" dirty="0"/>
              <a:t> </a:t>
            </a:r>
            <a:r>
              <a:rPr spc="-5" dirty="0"/>
              <a:t>for</a:t>
            </a:r>
            <a:r>
              <a:rPr spc="-15" dirty="0"/>
              <a:t> </a:t>
            </a:r>
            <a:r>
              <a:rPr spc="-5" dirty="0"/>
              <a:t>Data</a:t>
            </a:r>
            <a:r>
              <a:rPr spc="-25" dirty="0"/>
              <a:t> </a:t>
            </a:r>
            <a:r>
              <a:rPr dirty="0"/>
              <a:t>Science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12</a:t>
            </a:fld>
            <a:endParaRPr spc="-30" dirty="0"/>
          </a:p>
        </p:txBody>
      </p:sp>
      <p:pic>
        <p:nvPicPr>
          <p:cNvPr id="6" name="Picture 2" descr="JIMS, Rohini, Sector 5 | Del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755" y="316230"/>
            <a:ext cx="23964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40" dirty="0">
                <a:solidFill>
                  <a:srgbClr val="0A5293"/>
                </a:solidFill>
                <a:latin typeface="Trebuchet MS"/>
                <a:cs typeface="Trebuchet MS"/>
              </a:rPr>
              <a:t>Histogram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Python</a:t>
            </a:r>
            <a:r>
              <a:rPr spc="30" dirty="0"/>
              <a:t> </a:t>
            </a:r>
            <a:r>
              <a:rPr spc="-5" dirty="0"/>
              <a:t>for</a:t>
            </a:r>
            <a:r>
              <a:rPr spc="-15" dirty="0"/>
              <a:t> </a:t>
            </a:r>
            <a:r>
              <a:rPr spc="-5" dirty="0"/>
              <a:t>Data</a:t>
            </a:r>
            <a:r>
              <a:rPr spc="-25" dirty="0"/>
              <a:t> </a:t>
            </a:r>
            <a:r>
              <a:rPr dirty="0"/>
              <a:t>Science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13</a:t>
            </a:fld>
            <a:endParaRPr spc="-30" dirty="0"/>
          </a:p>
        </p:txBody>
      </p:sp>
      <p:sp>
        <p:nvSpPr>
          <p:cNvPr id="3" name="object 3"/>
          <p:cNvSpPr txBox="1"/>
          <p:nvPr/>
        </p:nvSpPr>
        <p:spPr>
          <a:xfrm>
            <a:off x="505155" y="1189225"/>
            <a:ext cx="7037705" cy="472122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40"/>
              </a:spcBef>
            </a:pPr>
            <a:r>
              <a:rPr sz="2800" spc="-15" dirty="0">
                <a:latin typeface="Trebuchet MS"/>
                <a:cs typeface="Trebuchet MS"/>
              </a:rPr>
              <a:t>What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i</a:t>
            </a:r>
            <a:r>
              <a:rPr sz="2800" spc="-145" dirty="0">
                <a:latin typeface="Trebuchet MS"/>
                <a:cs typeface="Trebuchet MS"/>
              </a:rPr>
              <a:t>s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280" dirty="0">
                <a:latin typeface="Trebuchet MS"/>
                <a:cs typeface="Trebuchet MS"/>
              </a:rPr>
              <a:t>a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40" dirty="0">
                <a:latin typeface="Trebuchet MS"/>
                <a:cs typeface="Trebuchet MS"/>
              </a:rPr>
              <a:t>his</a:t>
            </a:r>
            <a:r>
              <a:rPr sz="2800" spc="-130" dirty="0">
                <a:latin typeface="Trebuchet MS"/>
                <a:cs typeface="Trebuchet MS"/>
              </a:rPr>
              <a:t>t</a:t>
            </a:r>
            <a:r>
              <a:rPr sz="2800" spc="-105" dirty="0">
                <a:latin typeface="Trebuchet MS"/>
                <a:cs typeface="Trebuchet MS"/>
              </a:rPr>
              <a:t>ogr</a:t>
            </a:r>
            <a:r>
              <a:rPr sz="2800" spc="-130" dirty="0">
                <a:latin typeface="Trebuchet MS"/>
                <a:cs typeface="Trebuchet MS"/>
              </a:rPr>
              <a:t>a</a:t>
            </a:r>
            <a:r>
              <a:rPr sz="2800" spc="-135" dirty="0">
                <a:latin typeface="Trebuchet MS"/>
                <a:cs typeface="Trebuchet MS"/>
              </a:rPr>
              <a:t>m?</a:t>
            </a:r>
            <a:endParaRPr sz="2800">
              <a:latin typeface="Trebuchet MS"/>
              <a:cs typeface="Trebuchet MS"/>
            </a:endParaRPr>
          </a:p>
          <a:p>
            <a:pPr marL="469265" marR="5080" indent="-457200" algn="just">
              <a:lnSpc>
                <a:spcPct val="110000"/>
              </a:lnSpc>
              <a:buClr>
                <a:srgbClr val="0096A7"/>
              </a:buClr>
              <a:buFont typeface="Arial MT"/>
              <a:buChar char="•"/>
              <a:tabLst>
                <a:tab pos="469900" algn="l"/>
              </a:tabLst>
            </a:pPr>
            <a:r>
              <a:rPr sz="2800" spc="-135" dirty="0">
                <a:latin typeface="Trebuchet MS"/>
                <a:cs typeface="Trebuchet MS"/>
              </a:rPr>
              <a:t>It </a:t>
            </a:r>
            <a:r>
              <a:rPr sz="2800" spc="-125" dirty="0">
                <a:latin typeface="Trebuchet MS"/>
                <a:cs typeface="Trebuchet MS"/>
              </a:rPr>
              <a:t>is </a:t>
            </a:r>
            <a:r>
              <a:rPr sz="2800" spc="-280" dirty="0">
                <a:latin typeface="Trebuchet MS"/>
                <a:cs typeface="Trebuchet MS"/>
              </a:rPr>
              <a:t>a</a:t>
            </a:r>
            <a:r>
              <a:rPr sz="2800" spc="-275" dirty="0">
                <a:latin typeface="Trebuchet MS"/>
                <a:cs typeface="Trebuchet MS"/>
              </a:rPr>
              <a:t> </a:t>
            </a:r>
            <a:r>
              <a:rPr sz="2800" spc="-185" dirty="0">
                <a:latin typeface="Trebuchet MS"/>
                <a:cs typeface="Trebuchet MS"/>
              </a:rPr>
              <a:t>graphical </a:t>
            </a:r>
            <a:r>
              <a:rPr sz="2800" spc="-135" dirty="0">
                <a:latin typeface="Trebuchet MS"/>
                <a:cs typeface="Trebuchet MS"/>
              </a:rPr>
              <a:t>representation </a:t>
            </a:r>
            <a:r>
              <a:rPr sz="2800" spc="-150" dirty="0">
                <a:latin typeface="Trebuchet MS"/>
                <a:cs typeface="Trebuchet MS"/>
              </a:rPr>
              <a:t>of </a:t>
            </a:r>
            <a:r>
              <a:rPr sz="2800" spc="-215" dirty="0">
                <a:latin typeface="Trebuchet MS"/>
                <a:cs typeface="Trebuchet MS"/>
              </a:rPr>
              <a:t>data </a:t>
            </a:r>
            <a:r>
              <a:rPr sz="2800" spc="-150" dirty="0">
                <a:latin typeface="Trebuchet MS"/>
                <a:cs typeface="Trebuchet MS"/>
              </a:rPr>
              <a:t>using 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bars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o</a:t>
            </a:r>
            <a:r>
              <a:rPr sz="2800" spc="-125" dirty="0">
                <a:latin typeface="Trebuchet MS"/>
                <a:cs typeface="Trebuchet MS"/>
              </a:rPr>
              <a:t>f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254" dirty="0">
                <a:latin typeface="Trebuchet MS"/>
                <a:cs typeface="Trebuchet MS"/>
              </a:rPr>
              <a:t>dif</a:t>
            </a:r>
            <a:r>
              <a:rPr sz="2800" spc="-265" dirty="0">
                <a:latin typeface="Trebuchet MS"/>
                <a:cs typeface="Trebuchet MS"/>
              </a:rPr>
              <a:t>f</a:t>
            </a:r>
            <a:r>
              <a:rPr sz="2800" spc="-100" dirty="0">
                <a:latin typeface="Trebuchet MS"/>
                <a:cs typeface="Trebuchet MS"/>
              </a:rPr>
              <a:t>e</a:t>
            </a:r>
            <a:r>
              <a:rPr sz="2800" spc="-135" dirty="0">
                <a:latin typeface="Trebuchet MS"/>
                <a:cs typeface="Trebuchet MS"/>
              </a:rPr>
              <a:t>r</a:t>
            </a:r>
            <a:r>
              <a:rPr sz="2800" spc="-160" dirty="0">
                <a:latin typeface="Trebuchet MS"/>
                <a:cs typeface="Trebuchet MS"/>
              </a:rPr>
              <a:t>e</a:t>
            </a:r>
            <a:r>
              <a:rPr sz="2800" spc="-155" dirty="0">
                <a:latin typeface="Trebuchet MS"/>
                <a:cs typeface="Trebuchet MS"/>
              </a:rPr>
              <a:t>n</a:t>
            </a:r>
            <a:r>
              <a:rPr sz="2800" spc="-180" dirty="0">
                <a:latin typeface="Trebuchet MS"/>
                <a:cs typeface="Trebuchet MS"/>
              </a:rPr>
              <a:t>t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60" dirty="0">
                <a:latin typeface="Trebuchet MS"/>
                <a:cs typeface="Trebuchet MS"/>
              </a:rPr>
              <a:t>h</a:t>
            </a:r>
            <a:r>
              <a:rPr sz="2800" spc="-155" dirty="0">
                <a:latin typeface="Trebuchet MS"/>
                <a:cs typeface="Trebuchet MS"/>
              </a:rPr>
              <a:t>e</a:t>
            </a:r>
            <a:r>
              <a:rPr sz="2800" spc="-160" dirty="0">
                <a:latin typeface="Trebuchet MS"/>
                <a:cs typeface="Trebuchet MS"/>
              </a:rPr>
              <a:t>ights</a:t>
            </a:r>
            <a:endParaRPr sz="2800">
              <a:latin typeface="Trebuchet MS"/>
              <a:cs typeface="Trebuchet MS"/>
            </a:endParaRPr>
          </a:p>
          <a:p>
            <a:pPr marL="469265" marR="5715" indent="-457200" algn="just">
              <a:lnSpc>
                <a:spcPct val="110000"/>
              </a:lnSpc>
              <a:spcBef>
                <a:spcPts val="5"/>
              </a:spcBef>
              <a:buClr>
                <a:srgbClr val="0096A7"/>
              </a:buClr>
              <a:buFont typeface="Arial MT"/>
              <a:buChar char="•"/>
              <a:tabLst>
                <a:tab pos="469900" algn="l"/>
              </a:tabLst>
            </a:pPr>
            <a:r>
              <a:rPr sz="2800" spc="-90" dirty="0">
                <a:latin typeface="Trebuchet MS"/>
                <a:cs typeface="Trebuchet MS"/>
              </a:rPr>
              <a:t>Histogram </a:t>
            </a:r>
            <a:r>
              <a:rPr sz="2800" spc="-95" dirty="0">
                <a:latin typeface="Trebuchet MS"/>
                <a:cs typeface="Trebuchet MS"/>
              </a:rPr>
              <a:t>groups </a:t>
            </a:r>
            <a:r>
              <a:rPr sz="2800" spc="-125" dirty="0">
                <a:latin typeface="Trebuchet MS"/>
                <a:cs typeface="Trebuchet MS"/>
              </a:rPr>
              <a:t>numbers </a:t>
            </a:r>
            <a:r>
              <a:rPr sz="2800" spc="-120" dirty="0">
                <a:latin typeface="Trebuchet MS"/>
                <a:cs typeface="Trebuchet MS"/>
              </a:rPr>
              <a:t>into </a:t>
            </a:r>
            <a:r>
              <a:rPr sz="2800" spc="-145" dirty="0">
                <a:latin typeface="Trebuchet MS"/>
                <a:cs typeface="Trebuchet MS"/>
              </a:rPr>
              <a:t>ranges </a:t>
            </a:r>
            <a:r>
              <a:rPr sz="2800" spc="-185" dirty="0">
                <a:latin typeface="Trebuchet MS"/>
                <a:cs typeface="Trebuchet MS"/>
              </a:rPr>
              <a:t>and </a:t>
            </a:r>
            <a:r>
              <a:rPr sz="2800" spc="-180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the </a:t>
            </a:r>
            <a:r>
              <a:rPr sz="2800" spc="-175" dirty="0">
                <a:latin typeface="Trebuchet MS"/>
                <a:cs typeface="Trebuchet MS"/>
              </a:rPr>
              <a:t>height</a:t>
            </a:r>
            <a:r>
              <a:rPr sz="2800" spc="-17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of </a:t>
            </a:r>
            <a:r>
              <a:rPr sz="2800" spc="-190" dirty="0">
                <a:latin typeface="Trebuchet MS"/>
                <a:cs typeface="Trebuchet MS"/>
              </a:rPr>
              <a:t>each</a:t>
            </a:r>
            <a:r>
              <a:rPr sz="2800" spc="459" dirty="0">
                <a:latin typeface="Trebuchet MS"/>
                <a:cs typeface="Trebuchet MS"/>
              </a:rPr>
              <a:t> </a:t>
            </a:r>
            <a:r>
              <a:rPr sz="2800" spc="-140" dirty="0">
                <a:latin typeface="Trebuchet MS"/>
                <a:cs typeface="Trebuchet MS"/>
              </a:rPr>
              <a:t>bar </a:t>
            </a:r>
            <a:r>
              <a:rPr sz="2800" spc="-155" dirty="0">
                <a:latin typeface="Trebuchet MS"/>
                <a:cs typeface="Trebuchet MS"/>
              </a:rPr>
              <a:t>depicts </a:t>
            </a:r>
            <a:r>
              <a:rPr sz="2800" spc="-165" dirty="0">
                <a:latin typeface="Trebuchet MS"/>
                <a:cs typeface="Trebuchet MS"/>
              </a:rPr>
              <a:t>the </a:t>
            </a:r>
            <a:r>
              <a:rPr sz="2800" spc="-170" dirty="0">
                <a:latin typeface="Trebuchet MS"/>
                <a:cs typeface="Trebuchet MS"/>
              </a:rPr>
              <a:t>frequency </a:t>
            </a:r>
            <a:r>
              <a:rPr sz="2800" spc="-165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of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90" dirty="0">
                <a:latin typeface="Trebuchet MS"/>
                <a:cs typeface="Trebuchet MS"/>
              </a:rPr>
              <a:t>each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r</a:t>
            </a:r>
            <a:r>
              <a:rPr sz="2800" spc="-165" dirty="0">
                <a:latin typeface="Trebuchet MS"/>
                <a:cs typeface="Trebuchet MS"/>
              </a:rPr>
              <a:t>a</a:t>
            </a:r>
            <a:r>
              <a:rPr sz="2800" spc="-180" dirty="0">
                <a:latin typeface="Trebuchet MS"/>
                <a:cs typeface="Trebuchet MS"/>
              </a:rPr>
              <a:t>nge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30" dirty="0">
                <a:latin typeface="Trebuchet MS"/>
                <a:cs typeface="Trebuchet MS"/>
              </a:rPr>
              <a:t>or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60" dirty="0">
                <a:latin typeface="Trebuchet MS"/>
                <a:cs typeface="Trebuchet MS"/>
              </a:rPr>
              <a:t>bin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96A7"/>
              </a:buClr>
              <a:buFont typeface="Arial MT"/>
              <a:buChar char="•"/>
            </a:pPr>
            <a:endParaRPr sz="345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800" spc="240" dirty="0">
                <a:latin typeface="Trebuchet MS"/>
                <a:cs typeface="Trebuchet MS"/>
              </a:rPr>
              <a:t>W</a:t>
            </a:r>
            <a:r>
              <a:rPr sz="2800" spc="155" dirty="0">
                <a:latin typeface="Trebuchet MS"/>
                <a:cs typeface="Trebuchet MS"/>
              </a:rPr>
              <a:t>h</a:t>
            </a:r>
            <a:r>
              <a:rPr sz="2800" spc="-160" dirty="0">
                <a:latin typeface="Trebuchet MS"/>
                <a:cs typeface="Trebuchet MS"/>
              </a:rPr>
              <a:t>en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to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u</a:t>
            </a:r>
            <a:r>
              <a:rPr sz="2800" spc="-80" dirty="0">
                <a:latin typeface="Trebuchet MS"/>
                <a:cs typeface="Trebuchet MS"/>
              </a:rPr>
              <a:t>s</a:t>
            </a:r>
            <a:r>
              <a:rPr sz="2800" spc="-190" dirty="0">
                <a:latin typeface="Trebuchet MS"/>
                <a:cs typeface="Trebuchet MS"/>
              </a:rPr>
              <a:t>e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hi</a:t>
            </a:r>
            <a:r>
              <a:rPr sz="2800" spc="-120" dirty="0">
                <a:latin typeface="Trebuchet MS"/>
                <a:cs typeface="Trebuchet MS"/>
              </a:rPr>
              <a:t>s</a:t>
            </a:r>
            <a:r>
              <a:rPr sz="2800" spc="-60" dirty="0">
                <a:latin typeface="Trebuchet MS"/>
                <a:cs typeface="Trebuchet MS"/>
              </a:rPr>
              <a:t>t</a:t>
            </a:r>
            <a:r>
              <a:rPr sz="2800" spc="-75" dirty="0">
                <a:latin typeface="Trebuchet MS"/>
                <a:cs typeface="Trebuchet MS"/>
              </a:rPr>
              <a:t>o</a:t>
            </a:r>
            <a:r>
              <a:rPr sz="2800" spc="-110" dirty="0">
                <a:latin typeface="Trebuchet MS"/>
                <a:cs typeface="Trebuchet MS"/>
              </a:rPr>
              <a:t>g</a:t>
            </a:r>
            <a:r>
              <a:rPr sz="2800" spc="-95" dirty="0">
                <a:latin typeface="Trebuchet MS"/>
                <a:cs typeface="Trebuchet MS"/>
              </a:rPr>
              <a:t>r</a:t>
            </a:r>
            <a:r>
              <a:rPr sz="2800" spc="-155" dirty="0">
                <a:latin typeface="Trebuchet MS"/>
                <a:cs typeface="Trebuchet MS"/>
              </a:rPr>
              <a:t>ams?</a:t>
            </a:r>
            <a:endParaRPr sz="2800">
              <a:latin typeface="Trebuchet MS"/>
              <a:cs typeface="Trebuchet MS"/>
            </a:endParaRPr>
          </a:p>
          <a:p>
            <a:pPr marL="469265" marR="5080" indent="-457200" algn="just">
              <a:lnSpc>
                <a:spcPts val="3700"/>
              </a:lnSpc>
              <a:spcBef>
                <a:spcPts val="90"/>
              </a:spcBef>
              <a:buClr>
                <a:srgbClr val="0096A7"/>
              </a:buClr>
              <a:buFont typeface="Arial MT"/>
              <a:buChar char="•"/>
              <a:tabLst>
                <a:tab pos="469900" algn="l"/>
              </a:tabLst>
            </a:pPr>
            <a:r>
              <a:rPr sz="2800" spc="-160" dirty="0">
                <a:latin typeface="Trebuchet MS"/>
                <a:cs typeface="Trebuchet MS"/>
              </a:rPr>
              <a:t>To</a:t>
            </a:r>
            <a:r>
              <a:rPr sz="2800" spc="-155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represent</a:t>
            </a:r>
            <a:r>
              <a:rPr sz="2800" spc="-130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the</a:t>
            </a:r>
            <a:r>
              <a:rPr sz="2800" spc="-165" dirty="0">
                <a:latin typeface="Trebuchet MS"/>
                <a:cs typeface="Trebuchet MS"/>
              </a:rPr>
              <a:t> frequency</a:t>
            </a:r>
            <a:r>
              <a:rPr sz="2800" spc="-16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distribution</a:t>
            </a:r>
            <a:r>
              <a:rPr sz="2800" spc="-12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of 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-155" dirty="0">
                <a:latin typeface="Trebuchet MS"/>
                <a:cs typeface="Trebuchet MS"/>
              </a:rPr>
              <a:t>n</a:t>
            </a:r>
            <a:r>
              <a:rPr sz="2800" spc="-120" dirty="0">
                <a:latin typeface="Trebuchet MS"/>
                <a:cs typeface="Trebuchet MS"/>
              </a:rPr>
              <a:t>u</a:t>
            </a:r>
            <a:r>
              <a:rPr sz="2800" spc="-180" dirty="0">
                <a:latin typeface="Trebuchet MS"/>
                <a:cs typeface="Trebuchet MS"/>
              </a:rPr>
              <a:t>m</a:t>
            </a:r>
            <a:r>
              <a:rPr sz="2800" spc="-170" dirty="0">
                <a:latin typeface="Trebuchet MS"/>
                <a:cs typeface="Trebuchet MS"/>
              </a:rPr>
              <a:t>erical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va</a:t>
            </a:r>
            <a:r>
              <a:rPr sz="2800" spc="-125" dirty="0">
                <a:latin typeface="Trebuchet MS"/>
                <a:cs typeface="Trebuchet MS"/>
              </a:rPr>
              <a:t>r</a:t>
            </a:r>
            <a:r>
              <a:rPr sz="2800" spc="-190" dirty="0">
                <a:latin typeface="Trebuchet MS"/>
                <a:cs typeface="Trebuchet MS"/>
              </a:rPr>
              <a:t>iables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6" name="Picture 2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2976" y="484708"/>
            <a:ext cx="23958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50" dirty="0">
                <a:solidFill>
                  <a:srgbClr val="0A5293"/>
                </a:solidFill>
                <a:latin typeface="Trebuchet MS"/>
                <a:cs typeface="Trebuchet MS"/>
              </a:rPr>
              <a:t>Hist</a:t>
            </a:r>
            <a:r>
              <a:rPr sz="4400" b="0" spc="-80" dirty="0">
                <a:solidFill>
                  <a:srgbClr val="0A5293"/>
                </a:solidFill>
                <a:latin typeface="Trebuchet MS"/>
                <a:cs typeface="Trebuchet MS"/>
              </a:rPr>
              <a:t>o</a:t>
            </a:r>
            <a:r>
              <a:rPr sz="4400" b="0" spc="-245" dirty="0">
                <a:solidFill>
                  <a:srgbClr val="0A5293"/>
                </a:solidFill>
                <a:latin typeface="Trebuchet MS"/>
                <a:cs typeface="Trebuchet MS"/>
              </a:rPr>
              <a:t>gram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Python</a:t>
            </a:r>
            <a:r>
              <a:rPr spc="30" dirty="0"/>
              <a:t> </a:t>
            </a:r>
            <a:r>
              <a:rPr spc="-5" dirty="0"/>
              <a:t>for</a:t>
            </a:r>
            <a:r>
              <a:rPr spc="-15" dirty="0"/>
              <a:t> </a:t>
            </a:r>
            <a:r>
              <a:rPr spc="-5" dirty="0"/>
              <a:t>Data</a:t>
            </a:r>
            <a:r>
              <a:rPr spc="-25" dirty="0"/>
              <a:t> </a:t>
            </a:r>
            <a:r>
              <a:rPr dirty="0"/>
              <a:t>Science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14</a:t>
            </a:fld>
            <a:endParaRPr spc="-30" dirty="0"/>
          </a:p>
        </p:txBody>
      </p:sp>
      <p:grpSp>
        <p:nvGrpSpPr>
          <p:cNvPr id="3" name="object 3"/>
          <p:cNvGrpSpPr/>
          <p:nvPr/>
        </p:nvGrpSpPr>
        <p:grpSpPr>
          <a:xfrm>
            <a:off x="515112" y="2577083"/>
            <a:ext cx="6007735" cy="3927475"/>
            <a:chOff x="515112" y="2577083"/>
            <a:chExt cx="6007735" cy="39274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112" y="2577083"/>
              <a:ext cx="6007608" cy="392734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20" y="2602991"/>
              <a:ext cx="5905500" cy="3825239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376427" y="1684032"/>
            <a:ext cx="4444365" cy="582295"/>
            <a:chOff x="376427" y="1684032"/>
            <a:chExt cx="4444365" cy="58229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6427" y="1684032"/>
              <a:ext cx="4443984" cy="58215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2335" y="1709927"/>
              <a:ext cx="4341876" cy="48006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029967" y="1781555"/>
              <a:ext cx="2528570" cy="408940"/>
            </a:xfrm>
            <a:custGeom>
              <a:avLst/>
              <a:gdLst/>
              <a:ahLst/>
              <a:cxnLst/>
              <a:rect l="l" t="t" r="r" b="b"/>
              <a:pathLst>
                <a:path w="2528570" h="408939">
                  <a:moveTo>
                    <a:pt x="2528316" y="0"/>
                  </a:moveTo>
                  <a:lnTo>
                    <a:pt x="0" y="0"/>
                  </a:lnTo>
                  <a:lnTo>
                    <a:pt x="0" y="408432"/>
                  </a:lnTo>
                  <a:lnTo>
                    <a:pt x="2528316" y="408432"/>
                  </a:lnTo>
                  <a:lnTo>
                    <a:pt x="2528316" y="0"/>
                  </a:lnTo>
                  <a:close/>
                </a:path>
              </a:pathLst>
            </a:custGeom>
            <a:solidFill>
              <a:srgbClr val="EDFF41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724905" y="1685924"/>
            <a:ext cx="49256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60" dirty="0">
                <a:latin typeface="Trebuchet MS"/>
                <a:cs typeface="Trebuchet MS"/>
              </a:rPr>
              <a:t>His</a:t>
            </a:r>
            <a:r>
              <a:rPr sz="2800" spc="-45" dirty="0">
                <a:latin typeface="Trebuchet MS"/>
                <a:cs typeface="Trebuchet MS"/>
              </a:rPr>
              <a:t>t</a:t>
            </a:r>
            <a:r>
              <a:rPr sz="2800" spc="-105" dirty="0">
                <a:latin typeface="Trebuchet MS"/>
                <a:cs typeface="Trebuchet MS"/>
              </a:rPr>
              <a:t>ogr</a:t>
            </a:r>
            <a:r>
              <a:rPr sz="2800" spc="-135" dirty="0">
                <a:latin typeface="Trebuchet MS"/>
                <a:cs typeface="Trebuchet MS"/>
              </a:rPr>
              <a:t>a</a:t>
            </a:r>
            <a:r>
              <a:rPr sz="2800" spc="-170" dirty="0">
                <a:latin typeface="Trebuchet MS"/>
                <a:cs typeface="Trebuchet MS"/>
              </a:rPr>
              <a:t>m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wi</a:t>
            </a:r>
            <a:r>
              <a:rPr sz="2800" spc="-120" dirty="0">
                <a:latin typeface="Trebuchet MS"/>
                <a:cs typeface="Trebuchet MS"/>
              </a:rPr>
              <a:t>t</a:t>
            </a:r>
            <a:r>
              <a:rPr sz="2800" spc="-135" dirty="0">
                <a:latin typeface="Trebuchet MS"/>
                <a:cs typeface="Trebuchet MS"/>
              </a:rPr>
              <a:t>h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210" dirty="0">
                <a:latin typeface="Trebuchet MS"/>
                <a:cs typeface="Trebuchet MS"/>
              </a:rPr>
              <a:t>default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160" dirty="0">
                <a:latin typeface="Trebuchet MS"/>
                <a:cs typeface="Trebuchet MS"/>
              </a:rPr>
              <a:t>argume</a:t>
            </a:r>
            <a:r>
              <a:rPr sz="2800" spc="-145" dirty="0">
                <a:latin typeface="Trebuchet MS"/>
                <a:cs typeface="Trebuchet MS"/>
              </a:rPr>
              <a:t>n</a:t>
            </a:r>
            <a:r>
              <a:rPr sz="2800" spc="-120" dirty="0">
                <a:latin typeface="Trebuchet MS"/>
                <a:cs typeface="Trebuchet MS"/>
              </a:rPr>
              <a:t>ts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69179" y="1863890"/>
            <a:ext cx="870585" cy="238125"/>
            <a:chOff x="4869179" y="1863890"/>
            <a:chExt cx="870585" cy="23812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69179" y="1863890"/>
              <a:ext cx="870216" cy="23783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912613" y="1926336"/>
              <a:ext cx="710565" cy="78105"/>
            </a:xfrm>
            <a:custGeom>
              <a:avLst/>
              <a:gdLst/>
              <a:ahLst/>
              <a:cxnLst/>
              <a:rect l="l" t="t" r="r" b="b"/>
              <a:pathLst>
                <a:path w="710564" h="78105">
                  <a:moveTo>
                    <a:pt x="632840" y="0"/>
                  </a:moveTo>
                  <a:lnTo>
                    <a:pt x="632840" y="77724"/>
                  </a:lnTo>
                  <a:lnTo>
                    <a:pt x="684657" y="51815"/>
                  </a:lnTo>
                  <a:lnTo>
                    <a:pt x="645795" y="51815"/>
                  </a:lnTo>
                  <a:lnTo>
                    <a:pt x="645795" y="25908"/>
                  </a:lnTo>
                  <a:lnTo>
                    <a:pt x="684657" y="25908"/>
                  </a:lnTo>
                  <a:lnTo>
                    <a:pt x="632840" y="0"/>
                  </a:lnTo>
                  <a:close/>
                </a:path>
                <a:path w="710564" h="78105">
                  <a:moveTo>
                    <a:pt x="632840" y="25908"/>
                  </a:moveTo>
                  <a:lnTo>
                    <a:pt x="0" y="25908"/>
                  </a:lnTo>
                  <a:lnTo>
                    <a:pt x="0" y="51815"/>
                  </a:lnTo>
                  <a:lnTo>
                    <a:pt x="632840" y="51815"/>
                  </a:lnTo>
                  <a:lnTo>
                    <a:pt x="632840" y="25908"/>
                  </a:lnTo>
                  <a:close/>
                </a:path>
                <a:path w="710564" h="78105">
                  <a:moveTo>
                    <a:pt x="684657" y="25908"/>
                  </a:moveTo>
                  <a:lnTo>
                    <a:pt x="645795" y="25908"/>
                  </a:lnTo>
                  <a:lnTo>
                    <a:pt x="645795" y="51815"/>
                  </a:lnTo>
                  <a:lnTo>
                    <a:pt x="684657" y="51815"/>
                  </a:lnTo>
                  <a:lnTo>
                    <a:pt x="710564" y="38862"/>
                  </a:lnTo>
                  <a:lnTo>
                    <a:pt x="684657" y="25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156966" y="134086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rebuchet MS"/>
                <a:cs typeface="Trebuchet MS"/>
              </a:rPr>
              <a:t>x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7" name="Picture 2" descr="JIMS, Rohini, Sector 5 | Delhi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811" y="339039"/>
            <a:ext cx="23958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50" dirty="0">
                <a:solidFill>
                  <a:srgbClr val="0A5293"/>
                </a:solidFill>
                <a:latin typeface="Trebuchet MS"/>
                <a:cs typeface="Trebuchet MS"/>
              </a:rPr>
              <a:t>Hist</a:t>
            </a:r>
            <a:r>
              <a:rPr sz="4400" b="0" spc="-80" dirty="0">
                <a:solidFill>
                  <a:srgbClr val="0A5293"/>
                </a:solidFill>
                <a:latin typeface="Trebuchet MS"/>
                <a:cs typeface="Trebuchet MS"/>
              </a:rPr>
              <a:t>o</a:t>
            </a:r>
            <a:r>
              <a:rPr sz="4400" b="0" spc="-245" dirty="0">
                <a:solidFill>
                  <a:srgbClr val="0A5293"/>
                </a:solidFill>
                <a:latin typeface="Trebuchet MS"/>
                <a:cs typeface="Trebuchet MS"/>
              </a:rPr>
              <a:t>gram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Python</a:t>
            </a:r>
            <a:r>
              <a:rPr spc="30" dirty="0"/>
              <a:t> </a:t>
            </a:r>
            <a:r>
              <a:rPr spc="-5" dirty="0"/>
              <a:t>for</a:t>
            </a:r>
            <a:r>
              <a:rPr spc="-15" dirty="0"/>
              <a:t> </a:t>
            </a:r>
            <a:r>
              <a:rPr spc="-5" dirty="0"/>
              <a:t>Data</a:t>
            </a:r>
            <a:r>
              <a:rPr spc="-25" dirty="0"/>
              <a:t> </a:t>
            </a:r>
            <a:r>
              <a:rPr dirty="0"/>
              <a:t>Science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15</a:t>
            </a:fld>
            <a:endParaRPr spc="-30" dirty="0"/>
          </a:p>
        </p:txBody>
      </p:sp>
      <p:grpSp>
        <p:nvGrpSpPr>
          <p:cNvPr id="3" name="object 3"/>
          <p:cNvGrpSpPr/>
          <p:nvPr/>
        </p:nvGrpSpPr>
        <p:grpSpPr>
          <a:xfrm>
            <a:off x="469391" y="1589532"/>
            <a:ext cx="6758940" cy="4117975"/>
            <a:chOff x="469391" y="1589532"/>
            <a:chExt cx="6758940" cy="41179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9391" y="1589532"/>
              <a:ext cx="6758940" cy="178765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299" y="1615440"/>
              <a:ext cx="6656832" cy="16855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9391" y="3244570"/>
              <a:ext cx="6758940" cy="61419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5299" y="3270504"/>
              <a:ext cx="6656832" cy="51206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9391" y="3756634"/>
              <a:ext cx="6758940" cy="61419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5299" y="3782567"/>
              <a:ext cx="6656832" cy="51206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9391" y="4268711"/>
              <a:ext cx="6758940" cy="78792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5299" y="4294632"/>
              <a:ext cx="6656832" cy="6858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9391" y="4928616"/>
              <a:ext cx="6758940" cy="77877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5299" y="4954523"/>
              <a:ext cx="6656832" cy="676656"/>
            </a:xfrm>
            <a:prstGeom prst="rect">
              <a:avLst/>
            </a:prstGeom>
          </p:spPr>
        </p:pic>
      </p:grpSp>
      <p:pic>
        <p:nvPicPr>
          <p:cNvPr id="16" name="Picture 2" descr="JIMS, Rohini, Sector 5 | Delhi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53" y="351282"/>
            <a:ext cx="23964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40" dirty="0">
                <a:solidFill>
                  <a:srgbClr val="0A5293"/>
                </a:solidFill>
                <a:latin typeface="Trebuchet MS"/>
                <a:cs typeface="Trebuchet MS"/>
              </a:rPr>
              <a:t>Histogram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Python</a:t>
            </a:r>
            <a:r>
              <a:rPr spc="30" dirty="0"/>
              <a:t> </a:t>
            </a:r>
            <a:r>
              <a:rPr spc="-5" dirty="0"/>
              <a:t>for</a:t>
            </a:r>
            <a:r>
              <a:rPr spc="-15" dirty="0"/>
              <a:t> </a:t>
            </a:r>
            <a:r>
              <a:rPr spc="-5" dirty="0"/>
              <a:t>Data</a:t>
            </a:r>
            <a:r>
              <a:rPr spc="-25" dirty="0"/>
              <a:t> </a:t>
            </a:r>
            <a:r>
              <a:rPr dirty="0"/>
              <a:t>Science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16</a:t>
            </a:fld>
            <a:endParaRPr spc="-30" dirty="0"/>
          </a:p>
        </p:txBody>
      </p:sp>
      <p:sp>
        <p:nvSpPr>
          <p:cNvPr id="3" name="object 3"/>
          <p:cNvSpPr txBox="1"/>
          <p:nvPr/>
        </p:nvSpPr>
        <p:spPr>
          <a:xfrm>
            <a:off x="439927" y="1229944"/>
            <a:ext cx="9384030" cy="12204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spcBef>
                <a:spcPts val="434"/>
              </a:spcBef>
              <a:buClr>
                <a:srgbClr val="3891A7"/>
              </a:buClr>
              <a:buSzPct val="69642"/>
              <a:buFont typeface="Segoe UI Symbol"/>
              <a:buChar char="⚫"/>
              <a:tabLst>
                <a:tab pos="241300" algn="l"/>
              </a:tabLst>
            </a:pPr>
            <a:r>
              <a:rPr sz="2800" spc="-150" dirty="0">
                <a:latin typeface="Trebuchet MS"/>
                <a:cs typeface="Trebuchet MS"/>
              </a:rPr>
              <a:t>Frequency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distribution</a:t>
            </a:r>
            <a:r>
              <a:rPr sz="2800" spc="-12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of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kilometre</a:t>
            </a:r>
            <a:r>
              <a:rPr sz="2800" spc="-13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of</a:t>
            </a:r>
            <a:r>
              <a:rPr sz="2800" spc="-145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the</a:t>
            </a:r>
            <a:r>
              <a:rPr sz="2800" spc="-165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cars</a:t>
            </a:r>
            <a:r>
              <a:rPr sz="2800" spc="59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shows </a:t>
            </a:r>
            <a:r>
              <a:rPr sz="2800" spc="-190" dirty="0">
                <a:latin typeface="Trebuchet MS"/>
                <a:cs typeface="Trebuchet MS"/>
              </a:rPr>
              <a:t>that </a:t>
            </a:r>
            <a:r>
              <a:rPr sz="2800" spc="-18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most </a:t>
            </a:r>
            <a:r>
              <a:rPr sz="2800" spc="-150" dirty="0">
                <a:latin typeface="Trebuchet MS"/>
                <a:cs typeface="Trebuchet MS"/>
              </a:rPr>
              <a:t>of </a:t>
            </a:r>
            <a:r>
              <a:rPr sz="2800" spc="-165" dirty="0">
                <a:latin typeface="Trebuchet MS"/>
                <a:cs typeface="Trebuchet MS"/>
              </a:rPr>
              <a:t>the </a:t>
            </a:r>
            <a:r>
              <a:rPr sz="2800" spc="-125" dirty="0">
                <a:latin typeface="Trebuchet MS"/>
                <a:cs typeface="Trebuchet MS"/>
              </a:rPr>
              <a:t>cars </a:t>
            </a:r>
            <a:r>
              <a:rPr sz="2800" spc="-229" dirty="0">
                <a:latin typeface="Trebuchet MS"/>
                <a:cs typeface="Trebuchet MS"/>
              </a:rPr>
              <a:t>have</a:t>
            </a:r>
            <a:r>
              <a:rPr sz="2800" spc="380" dirty="0">
                <a:latin typeface="Trebuchet MS"/>
                <a:cs typeface="Trebuchet MS"/>
              </a:rPr>
              <a:t> </a:t>
            </a:r>
            <a:r>
              <a:rPr sz="2800" spc="-190" dirty="0">
                <a:latin typeface="Trebuchet MS"/>
                <a:cs typeface="Trebuchet MS"/>
              </a:rPr>
              <a:t>travelled</a:t>
            </a:r>
            <a:r>
              <a:rPr sz="2800" spc="465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between </a:t>
            </a:r>
            <a:r>
              <a:rPr sz="2400" spc="-5" dirty="0">
                <a:latin typeface="Arial MT"/>
                <a:cs typeface="Arial MT"/>
              </a:rPr>
              <a:t>50000 </a:t>
            </a:r>
            <a:r>
              <a:rPr sz="2400" dirty="0">
                <a:latin typeface="Arial MT"/>
                <a:cs typeface="Arial MT"/>
              </a:rPr>
              <a:t>– </a:t>
            </a:r>
            <a:r>
              <a:rPr sz="2400" spc="-5" dirty="0">
                <a:latin typeface="Arial MT"/>
                <a:cs typeface="Arial MT"/>
              </a:rPr>
              <a:t>100000 </a:t>
            </a:r>
            <a:r>
              <a:rPr sz="2800" spc="-125" dirty="0">
                <a:latin typeface="Trebuchet MS"/>
                <a:cs typeface="Trebuchet MS"/>
              </a:rPr>
              <a:t>km </a:t>
            </a:r>
            <a:r>
              <a:rPr sz="2800" spc="-120" dirty="0">
                <a:latin typeface="Trebuchet MS"/>
                <a:cs typeface="Trebuchet MS"/>
              </a:rPr>
              <a:t> </a:t>
            </a:r>
            <a:r>
              <a:rPr sz="2800" spc="-185" dirty="0">
                <a:latin typeface="Trebuchet MS"/>
                <a:cs typeface="Trebuchet MS"/>
              </a:rPr>
              <a:t>and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t</a:t>
            </a:r>
            <a:r>
              <a:rPr sz="2800" spc="-180" dirty="0">
                <a:latin typeface="Trebuchet MS"/>
                <a:cs typeface="Trebuchet MS"/>
              </a:rPr>
              <a:t>h</a:t>
            </a:r>
            <a:r>
              <a:rPr sz="2800" spc="-100" dirty="0">
                <a:latin typeface="Trebuchet MS"/>
                <a:cs typeface="Trebuchet MS"/>
              </a:rPr>
              <a:t>e</a:t>
            </a:r>
            <a:r>
              <a:rPr sz="2800" spc="-135" dirty="0">
                <a:latin typeface="Trebuchet MS"/>
                <a:cs typeface="Trebuchet MS"/>
              </a:rPr>
              <a:t>r</a:t>
            </a:r>
            <a:r>
              <a:rPr sz="2800" spc="-190" dirty="0">
                <a:latin typeface="Trebuchet MS"/>
                <a:cs typeface="Trebuchet MS"/>
              </a:rPr>
              <a:t>e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a</a:t>
            </a:r>
            <a:r>
              <a:rPr sz="2800" spc="-185" dirty="0">
                <a:latin typeface="Trebuchet MS"/>
                <a:cs typeface="Trebuchet MS"/>
              </a:rPr>
              <a:t>r</a:t>
            </a:r>
            <a:r>
              <a:rPr sz="2800" spc="-190" dirty="0">
                <a:latin typeface="Trebuchet MS"/>
                <a:cs typeface="Trebuchet MS"/>
              </a:rPr>
              <a:t>e</a:t>
            </a:r>
            <a:r>
              <a:rPr sz="2800" spc="-50" dirty="0">
                <a:latin typeface="Trebuchet MS"/>
                <a:cs typeface="Trebuchet MS"/>
              </a:rPr>
              <a:t> o</a:t>
            </a:r>
            <a:r>
              <a:rPr sz="2800" spc="-45" dirty="0">
                <a:latin typeface="Trebuchet MS"/>
                <a:cs typeface="Trebuchet MS"/>
              </a:rPr>
              <a:t>n</a:t>
            </a:r>
            <a:r>
              <a:rPr sz="2800" spc="-245" dirty="0">
                <a:latin typeface="Trebuchet MS"/>
                <a:cs typeface="Trebuchet MS"/>
              </a:rPr>
              <a:t>l</a:t>
            </a:r>
            <a:r>
              <a:rPr sz="2800" spc="-160" dirty="0">
                <a:latin typeface="Trebuchet MS"/>
                <a:cs typeface="Trebuchet MS"/>
              </a:rPr>
              <a:t>y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370" dirty="0">
                <a:latin typeface="Trebuchet MS"/>
                <a:cs typeface="Trebuchet MS"/>
              </a:rPr>
              <a:t>f</a:t>
            </a:r>
            <a:r>
              <a:rPr sz="2800" spc="-235" dirty="0">
                <a:latin typeface="Trebuchet MS"/>
                <a:cs typeface="Trebuchet MS"/>
              </a:rPr>
              <a:t>e</a:t>
            </a:r>
            <a:r>
              <a:rPr sz="2800" spc="-75" dirty="0">
                <a:latin typeface="Trebuchet MS"/>
                <a:cs typeface="Trebuchet MS"/>
              </a:rPr>
              <a:t>w </a:t>
            </a:r>
            <a:r>
              <a:rPr sz="2800" spc="-155" dirty="0">
                <a:latin typeface="Trebuchet MS"/>
                <a:cs typeface="Trebuchet MS"/>
              </a:rPr>
              <a:t>ca</a:t>
            </a:r>
            <a:r>
              <a:rPr sz="2800" spc="-130" dirty="0">
                <a:latin typeface="Trebuchet MS"/>
                <a:cs typeface="Trebuchet MS"/>
              </a:rPr>
              <a:t>r</a:t>
            </a:r>
            <a:r>
              <a:rPr sz="2800" spc="-60" dirty="0">
                <a:latin typeface="Trebuchet MS"/>
                <a:cs typeface="Trebuchet MS"/>
              </a:rPr>
              <a:t>s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wi</a:t>
            </a:r>
            <a:r>
              <a:rPr sz="2800" spc="-120" dirty="0">
                <a:latin typeface="Trebuchet MS"/>
                <a:cs typeface="Trebuchet MS"/>
              </a:rPr>
              <a:t>t</a:t>
            </a:r>
            <a:r>
              <a:rPr sz="2800" spc="-135" dirty="0">
                <a:latin typeface="Trebuchet MS"/>
                <a:cs typeface="Trebuchet MS"/>
              </a:rPr>
              <a:t>h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m</a:t>
            </a:r>
            <a:r>
              <a:rPr sz="2800" spc="-50" dirty="0">
                <a:latin typeface="Trebuchet MS"/>
                <a:cs typeface="Trebuchet MS"/>
              </a:rPr>
              <a:t>or</a:t>
            </a:r>
            <a:r>
              <a:rPr sz="2800" spc="-190" dirty="0">
                <a:latin typeface="Trebuchet MS"/>
                <a:cs typeface="Trebuchet MS"/>
              </a:rPr>
              <a:t>e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dis</a:t>
            </a:r>
            <a:r>
              <a:rPr sz="2800" spc="-130" dirty="0">
                <a:latin typeface="Trebuchet MS"/>
                <a:cs typeface="Trebuchet MS"/>
              </a:rPr>
              <a:t>t</a:t>
            </a:r>
            <a:r>
              <a:rPr sz="2800" spc="-190" dirty="0">
                <a:latin typeface="Trebuchet MS"/>
                <a:cs typeface="Trebuchet MS"/>
              </a:rPr>
              <a:t>ance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tr</a:t>
            </a:r>
            <a:r>
              <a:rPr sz="2800" spc="-385" dirty="0">
                <a:latin typeface="Trebuchet MS"/>
                <a:cs typeface="Trebuchet MS"/>
              </a:rPr>
              <a:t>a</a:t>
            </a:r>
            <a:r>
              <a:rPr sz="2800" spc="-215" dirty="0">
                <a:latin typeface="Trebuchet MS"/>
                <a:cs typeface="Trebuchet MS"/>
              </a:rPr>
              <a:t>v</a:t>
            </a:r>
            <a:r>
              <a:rPr sz="2800" spc="-185" dirty="0">
                <a:latin typeface="Trebuchet MS"/>
                <a:cs typeface="Trebuchet MS"/>
              </a:rPr>
              <a:t>ell</a:t>
            </a:r>
            <a:r>
              <a:rPr sz="2800" spc="-254" dirty="0">
                <a:latin typeface="Trebuchet MS"/>
                <a:cs typeface="Trebuchet MS"/>
              </a:rPr>
              <a:t>e</a:t>
            </a:r>
            <a:r>
              <a:rPr sz="2800" spc="-135" dirty="0">
                <a:latin typeface="Trebuchet MS"/>
                <a:cs typeface="Trebuchet MS"/>
              </a:rPr>
              <a:t>d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99516" y="2552700"/>
            <a:ext cx="5645150" cy="3945890"/>
            <a:chOff x="699516" y="2552700"/>
            <a:chExt cx="5645150" cy="39458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516" y="2552700"/>
              <a:ext cx="5644896" cy="39456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5424" y="2578607"/>
              <a:ext cx="5542788" cy="3843528"/>
            </a:xfrm>
            <a:prstGeom prst="rect">
              <a:avLst/>
            </a:prstGeom>
          </p:spPr>
        </p:pic>
      </p:grpSp>
      <p:pic>
        <p:nvPicPr>
          <p:cNvPr id="9" name="Picture 2" descr="JIMS, Rohini, Sector 5 | Delhi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8235" y="2313432"/>
            <a:ext cx="8857488" cy="16809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74334" y="2917317"/>
            <a:ext cx="168528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30" dirty="0">
                <a:solidFill>
                  <a:srgbClr val="0A5293"/>
                </a:solidFill>
                <a:latin typeface="Trebuchet MS"/>
                <a:cs typeface="Trebuchet MS"/>
              </a:rPr>
              <a:t>Bar</a:t>
            </a:r>
            <a:r>
              <a:rPr sz="4000" b="0" spc="-9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000" b="0" spc="-225" dirty="0">
                <a:solidFill>
                  <a:srgbClr val="0A5293"/>
                </a:solidFill>
                <a:latin typeface="Trebuchet MS"/>
                <a:cs typeface="Trebuchet MS"/>
              </a:rPr>
              <a:t>p</a:t>
            </a:r>
            <a:r>
              <a:rPr sz="4000" b="0" spc="-175" dirty="0">
                <a:solidFill>
                  <a:srgbClr val="0A5293"/>
                </a:solidFill>
                <a:latin typeface="Trebuchet MS"/>
                <a:cs typeface="Trebuchet MS"/>
              </a:rPr>
              <a:t>lot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Python</a:t>
            </a:r>
            <a:r>
              <a:rPr spc="30" dirty="0"/>
              <a:t> </a:t>
            </a:r>
            <a:r>
              <a:rPr spc="-5" dirty="0"/>
              <a:t>for</a:t>
            </a:r>
            <a:r>
              <a:rPr spc="-15" dirty="0"/>
              <a:t> </a:t>
            </a:r>
            <a:r>
              <a:rPr spc="-5" dirty="0"/>
              <a:t>Data</a:t>
            </a:r>
            <a:r>
              <a:rPr spc="-25" dirty="0"/>
              <a:t> </a:t>
            </a:r>
            <a:r>
              <a:rPr dirty="0"/>
              <a:t>Science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17</a:t>
            </a:fld>
            <a:endParaRPr spc="-30" dirty="0"/>
          </a:p>
        </p:txBody>
      </p:sp>
      <p:pic>
        <p:nvPicPr>
          <p:cNvPr id="6" name="Picture 2" descr="JIMS, Rohini, Sector 5 | Delh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755" y="316230"/>
            <a:ext cx="185038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40" dirty="0">
                <a:solidFill>
                  <a:srgbClr val="0A5293"/>
                </a:solidFill>
                <a:latin typeface="Trebuchet MS"/>
                <a:cs typeface="Trebuchet MS"/>
              </a:rPr>
              <a:t>Bar</a:t>
            </a:r>
            <a:r>
              <a:rPr sz="4400" b="0" spc="-12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200" dirty="0">
                <a:solidFill>
                  <a:srgbClr val="0A5293"/>
                </a:solidFill>
                <a:latin typeface="Trebuchet MS"/>
                <a:cs typeface="Trebuchet MS"/>
              </a:rPr>
              <a:t>plot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pc="-15" dirty="0"/>
              <a:t>What</a:t>
            </a:r>
            <a:r>
              <a:rPr spc="-65" dirty="0"/>
              <a:t> </a:t>
            </a:r>
            <a:r>
              <a:rPr spc="-105" dirty="0"/>
              <a:t>i</a:t>
            </a:r>
            <a:r>
              <a:rPr spc="-145" dirty="0"/>
              <a:t>s</a:t>
            </a:r>
            <a:r>
              <a:rPr spc="-75" dirty="0"/>
              <a:t> </a:t>
            </a:r>
            <a:r>
              <a:rPr spc="-280" dirty="0"/>
              <a:t>a</a:t>
            </a:r>
            <a:r>
              <a:rPr spc="-60" dirty="0"/>
              <a:t> </a:t>
            </a:r>
            <a:r>
              <a:rPr spc="-140" dirty="0"/>
              <a:t>bar</a:t>
            </a:r>
            <a:r>
              <a:rPr spc="-60" dirty="0"/>
              <a:t> </a:t>
            </a:r>
            <a:r>
              <a:rPr spc="-135" dirty="0"/>
              <a:t>plo</a:t>
            </a:r>
            <a:r>
              <a:rPr spc="-110" dirty="0"/>
              <a:t>t</a:t>
            </a:r>
            <a:r>
              <a:rPr spc="-100" dirty="0"/>
              <a:t>?</a:t>
            </a:r>
          </a:p>
          <a:p>
            <a:pPr marL="469265" marR="5080" indent="-457200">
              <a:lnSpc>
                <a:spcPct val="110000"/>
              </a:lnSpc>
              <a:buClr>
                <a:srgbClr val="0096A7"/>
              </a:buClr>
              <a:buFont typeface="Arial MT"/>
              <a:buChar char="•"/>
              <a:tabLst>
                <a:tab pos="469265" algn="l"/>
                <a:tab pos="469900" algn="l"/>
                <a:tab pos="1365885" algn="l"/>
                <a:tab pos="2289175" algn="l"/>
                <a:tab pos="4189729" algn="l"/>
                <a:tab pos="5090795" algn="l"/>
                <a:tab pos="6012815" algn="l"/>
              </a:tabLst>
            </a:pPr>
            <a:r>
              <a:rPr spc="210" dirty="0"/>
              <a:t>A</a:t>
            </a:r>
            <a:r>
              <a:rPr spc="130" dirty="0"/>
              <a:t> </a:t>
            </a:r>
            <a:r>
              <a:rPr spc="-145" dirty="0"/>
              <a:t>bar</a:t>
            </a:r>
            <a:r>
              <a:rPr spc="130" dirty="0"/>
              <a:t> </a:t>
            </a:r>
            <a:r>
              <a:rPr spc="-130" dirty="0"/>
              <a:t>plot</a:t>
            </a:r>
            <a:r>
              <a:rPr spc="155" dirty="0"/>
              <a:t> </a:t>
            </a:r>
            <a:r>
              <a:rPr spc="-125" dirty="0"/>
              <a:t>is</a:t>
            </a:r>
            <a:r>
              <a:rPr spc="140" dirty="0"/>
              <a:t> </a:t>
            </a:r>
            <a:r>
              <a:rPr spc="-280" dirty="0"/>
              <a:t>a</a:t>
            </a:r>
            <a:r>
              <a:rPr spc="130" dirty="0"/>
              <a:t> </a:t>
            </a:r>
            <a:r>
              <a:rPr spc="-130" dirty="0"/>
              <a:t>plot</a:t>
            </a:r>
            <a:r>
              <a:rPr spc="145" dirty="0"/>
              <a:t> </a:t>
            </a:r>
            <a:r>
              <a:rPr spc="-195" dirty="0"/>
              <a:t>that</a:t>
            </a:r>
            <a:r>
              <a:rPr spc="135" dirty="0"/>
              <a:t> </a:t>
            </a:r>
            <a:r>
              <a:rPr spc="-125" dirty="0"/>
              <a:t>presents</a:t>
            </a:r>
            <a:r>
              <a:rPr spc="145" dirty="0"/>
              <a:t> </a:t>
            </a:r>
            <a:r>
              <a:rPr spc="-165" dirty="0"/>
              <a:t>categorical </a:t>
            </a:r>
            <a:r>
              <a:rPr spc="-825" dirty="0"/>
              <a:t> </a:t>
            </a:r>
            <a:r>
              <a:rPr spc="-220" dirty="0"/>
              <a:t>da</a:t>
            </a:r>
            <a:r>
              <a:rPr spc="-150" dirty="0"/>
              <a:t>t</a:t>
            </a:r>
            <a:r>
              <a:rPr spc="-280" dirty="0"/>
              <a:t>a</a:t>
            </a:r>
            <a:r>
              <a:rPr dirty="0"/>
              <a:t>	</a:t>
            </a:r>
            <a:r>
              <a:rPr spc="-165" dirty="0"/>
              <a:t>wi</a:t>
            </a:r>
            <a:r>
              <a:rPr spc="-120" dirty="0"/>
              <a:t>t</a:t>
            </a:r>
            <a:r>
              <a:rPr spc="-135" dirty="0"/>
              <a:t>h</a:t>
            </a:r>
            <a:r>
              <a:rPr dirty="0"/>
              <a:t>	</a:t>
            </a:r>
            <a:r>
              <a:rPr spc="-50" dirty="0"/>
              <a:t>r</a:t>
            </a:r>
            <a:r>
              <a:rPr spc="-195" dirty="0"/>
              <a:t>ec</a:t>
            </a:r>
            <a:r>
              <a:rPr spc="-145" dirty="0"/>
              <a:t>t</a:t>
            </a:r>
            <a:r>
              <a:rPr spc="-204" dirty="0"/>
              <a:t>a</a:t>
            </a:r>
            <a:r>
              <a:rPr spc="-200" dirty="0"/>
              <a:t>n</a:t>
            </a:r>
            <a:r>
              <a:rPr spc="-165" dirty="0"/>
              <a:t>gular</a:t>
            </a:r>
            <a:r>
              <a:rPr dirty="0"/>
              <a:t>	</a:t>
            </a:r>
            <a:r>
              <a:rPr spc="-120" dirty="0"/>
              <a:t>bars</a:t>
            </a:r>
            <a:r>
              <a:rPr dirty="0"/>
              <a:t>	</a:t>
            </a:r>
            <a:r>
              <a:rPr spc="-165" dirty="0"/>
              <a:t>wi</a:t>
            </a:r>
            <a:r>
              <a:rPr spc="-120" dirty="0"/>
              <a:t>t</a:t>
            </a:r>
            <a:r>
              <a:rPr spc="-135" dirty="0"/>
              <a:t>h</a:t>
            </a:r>
            <a:r>
              <a:rPr dirty="0"/>
              <a:t>	</a:t>
            </a:r>
            <a:r>
              <a:rPr spc="-165" dirty="0"/>
              <a:t>lengths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Python</a:t>
            </a:r>
            <a:r>
              <a:rPr spc="30" dirty="0"/>
              <a:t> </a:t>
            </a:r>
            <a:r>
              <a:rPr spc="-5" dirty="0"/>
              <a:t>for</a:t>
            </a:r>
            <a:r>
              <a:rPr spc="-15" dirty="0"/>
              <a:t> </a:t>
            </a:r>
            <a:r>
              <a:rPr spc="-5" dirty="0"/>
              <a:t>Data</a:t>
            </a:r>
            <a:r>
              <a:rPr spc="-25" dirty="0"/>
              <a:t> </a:t>
            </a:r>
            <a:r>
              <a:rPr dirty="0"/>
              <a:t>Science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18</a:t>
            </a:fld>
            <a:endParaRPr spc="-30" dirty="0"/>
          </a:p>
        </p:txBody>
      </p:sp>
      <p:sp>
        <p:nvSpPr>
          <p:cNvPr id="4" name="object 4"/>
          <p:cNvSpPr txBox="1"/>
          <p:nvPr/>
        </p:nvSpPr>
        <p:spPr>
          <a:xfrm>
            <a:off x="3824732" y="2641854"/>
            <a:ext cx="6767068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40105" algn="l"/>
                <a:tab pos="2161540" algn="l"/>
                <a:tab pos="3086735" algn="l"/>
              </a:tabLst>
            </a:pPr>
            <a:r>
              <a:rPr sz="2800" spc="-170" dirty="0">
                <a:latin typeface="Trebuchet MS"/>
                <a:cs typeface="Trebuchet MS"/>
              </a:rPr>
              <a:t>t</a:t>
            </a:r>
            <a:r>
              <a:rPr sz="2800" spc="-160" dirty="0">
                <a:latin typeface="Trebuchet MS"/>
                <a:cs typeface="Trebuchet MS"/>
              </a:rPr>
              <a:t>he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85" dirty="0">
                <a:latin typeface="Trebuchet MS"/>
                <a:cs typeface="Trebuchet MS"/>
              </a:rPr>
              <a:t>cou</a:t>
            </a:r>
            <a:r>
              <a:rPr sz="2800" spc="-125" dirty="0">
                <a:latin typeface="Trebuchet MS"/>
                <a:cs typeface="Trebuchet MS"/>
              </a:rPr>
              <a:t>nts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35" dirty="0">
                <a:latin typeface="Trebuchet MS"/>
                <a:cs typeface="Trebuchet MS"/>
              </a:rPr>
              <a:t>t</a:t>
            </a:r>
            <a:r>
              <a:rPr sz="2800" spc="-180" dirty="0">
                <a:latin typeface="Trebuchet MS"/>
                <a:cs typeface="Trebuchet MS"/>
              </a:rPr>
              <a:t>h</a:t>
            </a:r>
            <a:r>
              <a:rPr sz="2800" spc="-229" dirty="0">
                <a:latin typeface="Trebuchet MS"/>
                <a:cs typeface="Trebuchet MS"/>
              </a:rPr>
              <a:t>at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35" dirty="0">
                <a:latin typeface="Trebuchet MS"/>
                <a:cs typeface="Trebuchet MS"/>
              </a:rPr>
              <a:t>t</a:t>
            </a:r>
            <a:r>
              <a:rPr sz="2800" spc="-180" dirty="0">
                <a:latin typeface="Trebuchet MS"/>
                <a:cs typeface="Trebuchet MS"/>
              </a:rPr>
              <a:t>h</a:t>
            </a:r>
            <a:r>
              <a:rPr sz="2800" spc="-235" dirty="0">
                <a:latin typeface="Trebuchet MS"/>
                <a:cs typeface="Trebuchet MS"/>
              </a:rPr>
              <a:t>e</a:t>
            </a:r>
            <a:r>
              <a:rPr sz="2800" spc="-160" dirty="0">
                <a:latin typeface="Trebuchet MS"/>
                <a:cs typeface="Trebuchet MS"/>
              </a:rPr>
              <a:t>y</a:t>
            </a:r>
            <a:endParaRPr sz="28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5155" y="2598572"/>
            <a:ext cx="3275965" cy="1433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293370">
              <a:lnSpc>
                <a:spcPct val="110000"/>
              </a:lnSpc>
              <a:spcBef>
                <a:spcPts val="100"/>
              </a:spcBef>
              <a:tabLst>
                <a:tab pos="2658110" algn="l"/>
              </a:tabLst>
            </a:pPr>
            <a:r>
              <a:rPr sz="2800" spc="-85" dirty="0">
                <a:latin typeface="Trebuchet MS"/>
                <a:cs typeface="Trebuchet MS"/>
              </a:rPr>
              <a:t>p</a:t>
            </a:r>
            <a:r>
              <a:rPr sz="2800" spc="-130" dirty="0">
                <a:latin typeface="Trebuchet MS"/>
                <a:cs typeface="Trebuchet MS"/>
              </a:rPr>
              <a:t>r</a:t>
            </a:r>
            <a:r>
              <a:rPr sz="2800" spc="-60" dirty="0">
                <a:latin typeface="Trebuchet MS"/>
                <a:cs typeface="Trebuchet MS"/>
              </a:rPr>
              <a:t>op</a:t>
            </a:r>
            <a:r>
              <a:rPr sz="2800" spc="30" dirty="0">
                <a:latin typeface="Trebuchet MS"/>
                <a:cs typeface="Trebuchet MS"/>
              </a:rPr>
              <a:t>o</a:t>
            </a:r>
            <a:r>
              <a:rPr sz="2800" spc="75" dirty="0">
                <a:latin typeface="Trebuchet MS"/>
                <a:cs typeface="Trebuchet MS"/>
              </a:rPr>
              <a:t>r</a:t>
            </a:r>
            <a:r>
              <a:rPr sz="2800" spc="-95" dirty="0">
                <a:latin typeface="Trebuchet MS"/>
                <a:cs typeface="Trebuchet MS"/>
              </a:rPr>
              <a:t>ti</a:t>
            </a:r>
            <a:r>
              <a:rPr sz="2800" spc="-130" dirty="0">
                <a:latin typeface="Trebuchet MS"/>
                <a:cs typeface="Trebuchet MS"/>
              </a:rPr>
              <a:t>o</a:t>
            </a:r>
            <a:r>
              <a:rPr sz="2800" spc="-210" dirty="0">
                <a:latin typeface="Trebuchet MS"/>
                <a:cs typeface="Trebuchet MS"/>
              </a:rPr>
              <a:t>nal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60" dirty="0">
                <a:latin typeface="Trebuchet MS"/>
                <a:cs typeface="Trebuchet MS"/>
              </a:rPr>
              <a:t>to  </a:t>
            </a:r>
            <a:r>
              <a:rPr sz="2800" spc="-135" dirty="0">
                <a:latin typeface="Trebuchet MS"/>
                <a:cs typeface="Trebuchet MS"/>
              </a:rPr>
              <a:t>represent</a:t>
            </a:r>
            <a:endParaRPr sz="2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800" spc="75" dirty="0">
                <a:latin typeface="Trebuchet MS"/>
                <a:cs typeface="Trebuchet MS"/>
              </a:rPr>
              <a:t>Wh</a:t>
            </a:r>
            <a:r>
              <a:rPr sz="2800" spc="60" dirty="0">
                <a:latin typeface="Trebuchet MS"/>
                <a:cs typeface="Trebuchet MS"/>
              </a:rPr>
              <a:t>e</a:t>
            </a:r>
            <a:r>
              <a:rPr sz="2800" spc="-135" dirty="0">
                <a:latin typeface="Trebuchet MS"/>
                <a:cs typeface="Trebuchet MS"/>
              </a:rPr>
              <a:t>n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to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use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140" dirty="0">
                <a:latin typeface="Trebuchet MS"/>
                <a:cs typeface="Trebuchet MS"/>
              </a:rPr>
              <a:t>bar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plo</a:t>
            </a:r>
            <a:r>
              <a:rPr sz="2800" spc="-110" dirty="0">
                <a:latin typeface="Trebuchet MS"/>
                <a:cs typeface="Trebuchet MS"/>
              </a:rPr>
              <a:t>t</a:t>
            </a:r>
            <a:r>
              <a:rPr sz="2800" spc="-100" dirty="0">
                <a:latin typeface="Trebuchet MS"/>
                <a:cs typeface="Trebuchet MS"/>
              </a:rPr>
              <a:t>?</a:t>
            </a:r>
            <a:endParaRPr sz="28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5155" y="4007002"/>
            <a:ext cx="7037705" cy="1903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10000"/>
              </a:lnSpc>
              <a:spcBef>
                <a:spcPts val="100"/>
              </a:spcBef>
              <a:buClr>
                <a:srgbClr val="0096A7"/>
              </a:buClr>
              <a:buFont typeface="Arial MT"/>
              <a:buChar char="•"/>
              <a:tabLst>
                <a:tab pos="469265" algn="l"/>
                <a:tab pos="469900" algn="l"/>
                <a:tab pos="1025525" algn="l"/>
                <a:tab pos="2612390" algn="l"/>
                <a:tab pos="3275329" algn="l"/>
                <a:tab pos="4878705" algn="l"/>
                <a:tab pos="6737984" algn="l"/>
              </a:tabLst>
            </a:pPr>
            <a:r>
              <a:rPr sz="2800" spc="-370" dirty="0">
                <a:latin typeface="Trebuchet MS"/>
                <a:cs typeface="Trebuchet MS"/>
              </a:rPr>
              <a:t>T</a:t>
            </a:r>
            <a:r>
              <a:rPr sz="2800" spc="45" dirty="0">
                <a:latin typeface="Trebuchet MS"/>
                <a:cs typeface="Trebuchet MS"/>
              </a:rPr>
              <a:t>o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50" dirty="0">
                <a:latin typeface="Trebuchet MS"/>
                <a:cs typeface="Trebuchet MS"/>
              </a:rPr>
              <a:t>r</a:t>
            </a:r>
            <a:r>
              <a:rPr sz="2800" spc="-175" dirty="0">
                <a:latin typeface="Trebuchet MS"/>
                <a:cs typeface="Trebuchet MS"/>
              </a:rPr>
              <a:t>ep</a:t>
            </a:r>
            <a:r>
              <a:rPr sz="2800" spc="-50" dirty="0">
                <a:latin typeface="Trebuchet MS"/>
                <a:cs typeface="Trebuchet MS"/>
              </a:rPr>
              <a:t>r</a:t>
            </a:r>
            <a:r>
              <a:rPr sz="2800" spc="-150" dirty="0">
                <a:latin typeface="Trebuchet MS"/>
                <a:cs typeface="Trebuchet MS"/>
              </a:rPr>
              <a:t>esent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70" dirty="0">
                <a:latin typeface="Trebuchet MS"/>
                <a:cs typeface="Trebuchet MS"/>
              </a:rPr>
              <a:t>the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55" dirty="0">
                <a:latin typeface="Trebuchet MS"/>
                <a:cs typeface="Trebuchet MS"/>
              </a:rPr>
              <a:t>f</a:t>
            </a:r>
            <a:r>
              <a:rPr sz="2800" spc="-220" dirty="0">
                <a:latin typeface="Trebuchet MS"/>
                <a:cs typeface="Trebuchet MS"/>
              </a:rPr>
              <a:t>r</a:t>
            </a:r>
            <a:r>
              <a:rPr sz="2800" spc="-175" dirty="0">
                <a:latin typeface="Trebuchet MS"/>
                <a:cs typeface="Trebuchet MS"/>
              </a:rPr>
              <a:t>eq</a:t>
            </a:r>
            <a:r>
              <a:rPr sz="2800" spc="-155" dirty="0">
                <a:latin typeface="Trebuchet MS"/>
                <a:cs typeface="Trebuchet MS"/>
              </a:rPr>
              <a:t>uency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45" dirty="0">
                <a:latin typeface="Trebuchet MS"/>
                <a:cs typeface="Trebuchet MS"/>
              </a:rPr>
              <a:t>dis</a:t>
            </a:r>
            <a:r>
              <a:rPr sz="2800" spc="-130" dirty="0">
                <a:latin typeface="Trebuchet MS"/>
                <a:cs typeface="Trebuchet MS"/>
              </a:rPr>
              <a:t>t</a:t>
            </a:r>
            <a:r>
              <a:rPr sz="2800" spc="-110" dirty="0">
                <a:latin typeface="Trebuchet MS"/>
                <a:cs typeface="Trebuchet MS"/>
              </a:rPr>
              <a:t>rib</a:t>
            </a:r>
            <a:r>
              <a:rPr sz="2800" spc="-140" dirty="0">
                <a:latin typeface="Trebuchet MS"/>
                <a:cs typeface="Trebuchet MS"/>
              </a:rPr>
              <a:t>u</a:t>
            </a:r>
            <a:r>
              <a:rPr sz="2800" spc="-95" dirty="0">
                <a:latin typeface="Trebuchet MS"/>
                <a:cs typeface="Trebuchet MS"/>
              </a:rPr>
              <a:t>ti</a:t>
            </a:r>
            <a:r>
              <a:rPr sz="2800" spc="-140" dirty="0">
                <a:latin typeface="Trebuchet MS"/>
                <a:cs typeface="Trebuchet MS"/>
              </a:rPr>
              <a:t>o</a:t>
            </a:r>
            <a:r>
              <a:rPr sz="2800" spc="-135" dirty="0">
                <a:latin typeface="Trebuchet MS"/>
                <a:cs typeface="Trebuchet MS"/>
              </a:rPr>
              <a:t>n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20" dirty="0">
                <a:latin typeface="Trebuchet MS"/>
                <a:cs typeface="Trebuchet MS"/>
              </a:rPr>
              <a:t>of  </a:t>
            </a:r>
            <a:r>
              <a:rPr sz="2800" spc="-170" dirty="0">
                <a:latin typeface="Trebuchet MS"/>
                <a:cs typeface="Trebuchet MS"/>
              </a:rPr>
              <a:t>categorical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variables</a:t>
            </a:r>
            <a:endParaRPr sz="2800">
              <a:latin typeface="Trebuchet MS"/>
              <a:cs typeface="Trebuchet MS"/>
            </a:endParaRPr>
          </a:p>
          <a:p>
            <a:pPr marL="469265" marR="5080" indent="-457200">
              <a:lnSpc>
                <a:spcPts val="3700"/>
              </a:lnSpc>
              <a:spcBef>
                <a:spcPts val="95"/>
              </a:spcBef>
              <a:buClr>
                <a:srgbClr val="0096A7"/>
              </a:buClr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800" spc="215" dirty="0">
                <a:latin typeface="Trebuchet MS"/>
                <a:cs typeface="Trebuchet MS"/>
              </a:rPr>
              <a:t>A</a:t>
            </a:r>
            <a:r>
              <a:rPr sz="2800" dirty="0">
                <a:latin typeface="Trebuchet MS"/>
                <a:cs typeface="Trebuchet MS"/>
              </a:rPr>
              <a:t> </a:t>
            </a:r>
            <a:r>
              <a:rPr sz="2800" spc="-140" dirty="0">
                <a:latin typeface="Trebuchet MS"/>
                <a:cs typeface="Trebuchet MS"/>
              </a:rPr>
              <a:t>bar</a:t>
            </a:r>
            <a:r>
              <a:rPr sz="2800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diagram</a:t>
            </a:r>
            <a:r>
              <a:rPr sz="2800" spc="20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makes</a:t>
            </a:r>
            <a:r>
              <a:rPr sz="2800" spc="15" dirty="0">
                <a:latin typeface="Trebuchet MS"/>
                <a:cs typeface="Trebuchet MS"/>
              </a:rPr>
              <a:t> </a:t>
            </a:r>
            <a:r>
              <a:rPr sz="2800" spc="-185" dirty="0">
                <a:latin typeface="Trebuchet MS"/>
                <a:cs typeface="Trebuchet MS"/>
              </a:rPr>
              <a:t>it</a:t>
            </a:r>
            <a:r>
              <a:rPr sz="2800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easy</a:t>
            </a:r>
            <a:r>
              <a:rPr sz="2800" spc="1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to</a:t>
            </a:r>
            <a:r>
              <a:rPr sz="2800" spc="15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compare</a:t>
            </a:r>
            <a:r>
              <a:rPr sz="2800" spc="5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sets </a:t>
            </a:r>
            <a:r>
              <a:rPr sz="2800" spc="-825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o</a:t>
            </a:r>
            <a:r>
              <a:rPr sz="2800" spc="-125" dirty="0">
                <a:latin typeface="Trebuchet MS"/>
                <a:cs typeface="Trebuchet MS"/>
              </a:rPr>
              <a:t>f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220" dirty="0">
                <a:latin typeface="Trebuchet MS"/>
                <a:cs typeface="Trebuchet MS"/>
              </a:rPr>
              <a:t>data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b</a:t>
            </a:r>
            <a:r>
              <a:rPr sz="2800" spc="-170" dirty="0">
                <a:latin typeface="Trebuchet MS"/>
                <a:cs typeface="Trebuchet MS"/>
              </a:rPr>
              <a:t>e</a:t>
            </a:r>
            <a:r>
              <a:rPr sz="2800" spc="-90" dirty="0">
                <a:latin typeface="Trebuchet MS"/>
                <a:cs typeface="Trebuchet MS"/>
              </a:rPr>
              <a:t>t</a:t>
            </a:r>
            <a:r>
              <a:rPr sz="2800" spc="-220" dirty="0">
                <a:latin typeface="Trebuchet MS"/>
                <a:cs typeface="Trebuchet MS"/>
              </a:rPr>
              <a:t>w</a:t>
            </a:r>
            <a:r>
              <a:rPr sz="2800" spc="-190" dirty="0">
                <a:latin typeface="Trebuchet MS"/>
                <a:cs typeface="Trebuchet MS"/>
              </a:rPr>
              <a:t>e</a:t>
            </a:r>
            <a:r>
              <a:rPr sz="2800" spc="-185" dirty="0">
                <a:latin typeface="Trebuchet MS"/>
                <a:cs typeface="Trebuchet MS"/>
              </a:rPr>
              <a:t>e</a:t>
            </a:r>
            <a:r>
              <a:rPr sz="2800" spc="-135" dirty="0">
                <a:latin typeface="Trebuchet MS"/>
                <a:cs typeface="Trebuchet MS"/>
              </a:rPr>
              <a:t>n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254" dirty="0">
                <a:latin typeface="Trebuchet MS"/>
                <a:cs typeface="Trebuchet MS"/>
              </a:rPr>
              <a:t>dif</a:t>
            </a:r>
            <a:r>
              <a:rPr sz="2800" spc="-265" dirty="0">
                <a:latin typeface="Trebuchet MS"/>
                <a:cs typeface="Trebuchet MS"/>
              </a:rPr>
              <a:t>f</a:t>
            </a:r>
            <a:r>
              <a:rPr sz="2800" spc="-100" dirty="0">
                <a:latin typeface="Trebuchet MS"/>
                <a:cs typeface="Trebuchet MS"/>
              </a:rPr>
              <a:t>e</a:t>
            </a:r>
            <a:r>
              <a:rPr sz="2800" spc="-135" dirty="0">
                <a:latin typeface="Trebuchet MS"/>
                <a:cs typeface="Trebuchet MS"/>
              </a:rPr>
              <a:t>r</a:t>
            </a:r>
            <a:r>
              <a:rPr sz="2800" spc="-160" dirty="0">
                <a:latin typeface="Trebuchet MS"/>
                <a:cs typeface="Trebuchet MS"/>
              </a:rPr>
              <a:t>e</a:t>
            </a:r>
            <a:r>
              <a:rPr sz="2800" spc="-155" dirty="0">
                <a:latin typeface="Trebuchet MS"/>
                <a:cs typeface="Trebuchet MS"/>
              </a:rPr>
              <a:t>n</a:t>
            </a:r>
            <a:r>
              <a:rPr sz="2800" spc="-180" dirty="0">
                <a:latin typeface="Trebuchet MS"/>
                <a:cs typeface="Trebuchet MS"/>
              </a:rPr>
              <a:t>t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g</a:t>
            </a:r>
            <a:r>
              <a:rPr sz="2800" spc="-170" dirty="0">
                <a:latin typeface="Trebuchet MS"/>
                <a:cs typeface="Trebuchet MS"/>
              </a:rPr>
              <a:t>r</a:t>
            </a:r>
            <a:r>
              <a:rPr sz="2800" spc="-50" dirty="0">
                <a:latin typeface="Trebuchet MS"/>
                <a:cs typeface="Trebuchet MS"/>
              </a:rPr>
              <a:t>o</a:t>
            </a:r>
            <a:r>
              <a:rPr sz="2800" spc="-45" dirty="0">
                <a:latin typeface="Trebuchet MS"/>
                <a:cs typeface="Trebuchet MS"/>
              </a:rPr>
              <a:t>u</a:t>
            </a:r>
            <a:r>
              <a:rPr sz="2800" spc="-110" dirty="0">
                <a:latin typeface="Trebuchet MS"/>
                <a:cs typeface="Trebuchet MS"/>
              </a:rPr>
              <a:t>ps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9" name="Picture 2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8391" y="351282"/>
            <a:ext cx="185038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40" dirty="0">
                <a:solidFill>
                  <a:srgbClr val="0A5293"/>
                </a:solidFill>
                <a:latin typeface="Trebuchet MS"/>
                <a:cs typeface="Trebuchet MS"/>
              </a:rPr>
              <a:t>Bar</a:t>
            </a:r>
            <a:r>
              <a:rPr sz="4400" b="0" spc="-12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200" dirty="0">
                <a:solidFill>
                  <a:srgbClr val="0A5293"/>
                </a:solidFill>
                <a:latin typeface="Trebuchet MS"/>
                <a:cs typeface="Trebuchet MS"/>
              </a:rPr>
              <a:t>plot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Python</a:t>
            </a:r>
            <a:r>
              <a:rPr spc="30" dirty="0"/>
              <a:t> </a:t>
            </a:r>
            <a:r>
              <a:rPr spc="-5" dirty="0"/>
              <a:t>for</a:t>
            </a:r>
            <a:r>
              <a:rPr spc="-15" dirty="0"/>
              <a:t> </a:t>
            </a:r>
            <a:r>
              <a:rPr spc="-5" dirty="0"/>
              <a:t>Data</a:t>
            </a:r>
            <a:r>
              <a:rPr spc="-25" dirty="0"/>
              <a:t> </a:t>
            </a:r>
            <a:r>
              <a:rPr dirty="0"/>
              <a:t>Science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19</a:t>
            </a:fld>
            <a:endParaRPr spc="-30" dirty="0"/>
          </a:p>
        </p:txBody>
      </p:sp>
      <p:grpSp>
        <p:nvGrpSpPr>
          <p:cNvPr id="3" name="object 3"/>
          <p:cNvGrpSpPr/>
          <p:nvPr/>
        </p:nvGrpSpPr>
        <p:grpSpPr>
          <a:xfrm>
            <a:off x="384047" y="1479803"/>
            <a:ext cx="6341745" cy="1137285"/>
            <a:chOff x="384047" y="1479803"/>
            <a:chExt cx="6341745" cy="1137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4047" y="1479803"/>
              <a:ext cx="6341363" cy="11369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9955" y="1505711"/>
              <a:ext cx="6239256" cy="103479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062352" y="2769819"/>
            <a:ext cx="1651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x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31185" y="2759201"/>
            <a:ext cx="201231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30" dirty="0">
                <a:latin typeface="Trebuchet MS"/>
                <a:cs typeface="Trebuchet MS"/>
              </a:rPr>
              <a:t>h</a:t>
            </a:r>
            <a:r>
              <a:rPr sz="2200" spc="-125" dirty="0">
                <a:latin typeface="Trebuchet MS"/>
                <a:cs typeface="Trebuchet MS"/>
              </a:rPr>
              <a:t>e</a:t>
            </a:r>
            <a:r>
              <a:rPr sz="2200" spc="-150" dirty="0">
                <a:latin typeface="Trebuchet MS"/>
                <a:cs typeface="Trebuchet MS"/>
              </a:rPr>
              <a:t>igh</a:t>
            </a:r>
            <a:r>
              <a:rPr sz="2200" spc="-130" dirty="0">
                <a:latin typeface="Trebuchet MS"/>
                <a:cs typeface="Trebuchet MS"/>
              </a:rPr>
              <a:t>t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of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t</a:t>
            </a:r>
            <a:r>
              <a:rPr sz="2200" spc="-140" dirty="0">
                <a:latin typeface="Trebuchet MS"/>
                <a:cs typeface="Trebuchet MS"/>
              </a:rPr>
              <a:t>h</a:t>
            </a:r>
            <a:r>
              <a:rPr sz="2200" spc="-150" dirty="0">
                <a:latin typeface="Trebuchet MS"/>
                <a:cs typeface="Trebuchet MS"/>
              </a:rPr>
              <a:t>e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25" dirty="0">
                <a:latin typeface="Trebuchet MS"/>
                <a:cs typeface="Trebuchet MS"/>
              </a:rPr>
              <a:t>b</a:t>
            </a:r>
            <a:r>
              <a:rPr sz="2200" spc="-120" dirty="0">
                <a:latin typeface="Trebuchet MS"/>
                <a:cs typeface="Trebuchet MS"/>
              </a:rPr>
              <a:t>a</a:t>
            </a:r>
            <a:r>
              <a:rPr sz="2200" spc="-100" dirty="0">
                <a:latin typeface="Trebuchet MS"/>
                <a:cs typeface="Trebuchet MS"/>
              </a:rPr>
              <a:t>r</a:t>
            </a:r>
            <a:r>
              <a:rPr sz="2200" spc="-50" dirty="0">
                <a:latin typeface="Trebuchet MS"/>
                <a:cs typeface="Trebuchet MS"/>
              </a:rPr>
              <a:t>s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4047" y="3145510"/>
            <a:ext cx="9543415" cy="2487295"/>
            <a:chOff x="384047" y="3145510"/>
            <a:chExt cx="9543415" cy="248729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4047" y="3660647"/>
              <a:ext cx="9543288" cy="19720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9955" y="3686555"/>
              <a:ext cx="9441180" cy="186994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940052" y="3735323"/>
              <a:ext cx="2240280" cy="251460"/>
            </a:xfrm>
            <a:custGeom>
              <a:avLst/>
              <a:gdLst/>
              <a:ahLst/>
              <a:cxnLst/>
              <a:rect l="l" t="t" r="r" b="b"/>
              <a:pathLst>
                <a:path w="2240279" h="251460">
                  <a:moveTo>
                    <a:pt x="882396" y="0"/>
                  </a:moveTo>
                  <a:lnTo>
                    <a:pt x="0" y="0"/>
                  </a:lnTo>
                  <a:lnTo>
                    <a:pt x="0" y="251460"/>
                  </a:lnTo>
                  <a:lnTo>
                    <a:pt x="882396" y="251460"/>
                  </a:lnTo>
                  <a:lnTo>
                    <a:pt x="882396" y="0"/>
                  </a:lnTo>
                  <a:close/>
                </a:path>
                <a:path w="2240279" h="251460">
                  <a:moveTo>
                    <a:pt x="2240267" y="0"/>
                  </a:moveTo>
                  <a:lnTo>
                    <a:pt x="1171956" y="0"/>
                  </a:lnTo>
                  <a:lnTo>
                    <a:pt x="1171956" y="251460"/>
                  </a:lnTo>
                  <a:lnTo>
                    <a:pt x="2240267" y="251460"/>
                  </a:lnTo>
                  <a:lnTo>
                    <a:pt x="2240267" y="0"/>
                  </a:lnTo>
                  <a:close/>
                </a:path>
              </a:pathLst>
            </a:custGeom>
            <a:solidFill>
              <a:srgbClr val="EDFF41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22347" y="3145510"/>
              <a:ext cx="237832" cy="67820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104643" y="3167633"/>
              <a:ext cx="78105" cy="520065"/>
            </a:xfrm>
            <a:custGeom>
              <a:avLst/>
              <a:gdLst/>
              <a:ahLst/>
              <a:cxnLst/>
              <a:rect l="l" t="t" r="r" b="b"/>
              <a:pathLst>
                <a:path w="78105" h="520064">
                  <a:moveTo>
                    <a:pt x="25907" y="441959"/>
                  </a:moveTo>
                  <a:lnTo>
                    <a:pt x="0" y="441959"/>
                  </a:lnTo>
                  <a:lnTo>
                    <a:pt x="38862" y="519683"/>
                  </a:lnTo>
                  <a:lnTo>
                    <a:pt x="71246" y="454913"/>
                  </a:lnTo>
                  <a:lnTo>
                    <a:pt x="25907" y="454913"/>
                  </a:lnTo>
                  <a:lnTo>
                    <a:pt x="25907" y="441959"/>
                  </a:lnTo>
                  <a:close/>
                </a:path>
                <a:path w="78105" h="520064">
                  <a:moveTo>
                    <a:pt x="51816" y="0"/>
                  </a:moveTo>
                  <a:lnTo>
                    <a:pt x="25907" y="0"/>
                  </a:lnTo>
                  <a:lnTo>
                    <a:pt x="25907" y="454913"/>
                  </a:lnTo>
                  <a:lnTo>
                    <a:pt x="51816" y="454913"/>
                  </a:lnTo>
                  <a:lnTo>
                    <a:pt x="51816" y="0"/>
                  </a:lnTo>
                  <a:close/>
                </a:path>
                <a:path w="78105" h="520064">
                  <a:moveTo>
                    <a:pt x="77724" y="441959"/>
                  </a:moveTo>
                  <a:lnTo>
                    <a:pt x="51816" y="441959"/>
                  </a:lnTo>
                  <a:lnTo>
                    <a:pt x="51816" y="454913"/>
                  </a:lnTo>
                  <a:lnTo>
                    <a:pt x="71246" y="454913"/>
                  </a:lnTo>
                  <a:lnTo>
                    <a:pt x="77724" y="4419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72255" y="3156178"/>
              <a:ext cx="237832" cy="67820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654551" y="3178301"/>
              <a:ext cx="78105" cy="520065"/>
            </a:xfrm>
            <a:custGeom>
              <a:avLst/>
              <a:gdLst/>
              <a:ahLst/>
              <a:cxnLst/>
              <a:rect l="l" t="t" r="r" b="b"/>
              <a:pathLst>
                <a:path w="78104" h="520064">
                  <a:moveTo>
                    <a:pt x="25908" y="441960"/>
                  </a:moveTo>
                  <a:lnTo>
                    <a:pt x="0" y="441960"/>
                  </a:lnTo>
                  <a:lnTo>
                    <a:pt x="38862" y="519684"/>
                  </a:lnTo>
                  <a:lnTo>
                    <a:pt x="71247" y="454914"/>
                  </a:lnTo>
                  <a:lnTo>
                    <a:pt x="25908" y="454914"/>
                  </a:lnTo>
                  <a:lnTo>
                    <a:pt x="25908" y="441960"/>
                  </a:lnTo>
                  <a:close/>
                </a:path>
                <a:path w="78104" h="520064">
                  <a:moveTo>
                    <a:pt x="51815" y="0"/>
                  </a:moveTo>
                  <a:lnTo>
                    <a:pt x="25908" y="0"/>
                  </a:lnTo>
                  <a:lnTo>
                    <a:pt x="25908" y="454914"/>
                  </a:lnTo>
                  <a:lnTo>
                    <a:pt x="51815" y="454914"/>
                  </a:lnTo>
                  <a:lnTo>
                    <a:pt x="51815" y="0"/>
                  </a:lnTo>
                  <a:close/>
                </a:path>
                <a:path w="78104" h="520064">
                  <a:moveTo>
                    <a:pt x="77724" y="441960"/>
                  </a:moveTo>
                  <a:lnTo>
                    <a:pt x="51815" y="441960"/>
                  </a:lnTo>
                  <a:lnTo>
                    <a:pt x="51815" y="454914"/>
                  </a:lnTo>
                  <a:lnTo>
                    <a:pt x="71247" y="454914"/>
                  </a:lnTo>
                  <a:lnTo>
                    <a:pt x="77724" y="4419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Picture 2" descr="JIMS, Rohini, Sector 5 | Delhi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53" y="351282"/>
            <a:ext cx="185038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40" dirty="0">
                <a:solidFill>
                  <a:srgbClr val="0A5293"/>
                </a:solidFill>
                <a:latin typeface="Trebuchet MS"/>
                <a:cs typeface="Trebuchet MS"/>
              </a:rPr>
              <a:t>Bar</a:t>
            </a:r>
            <a:r>
              <a:rPr sz="4400" b="0" spc="-12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200" dirty="0">
                <a:solidFill>
                  <a:srgbClr val="0A5293"/>
                </a:solidFill>
                <a:latin typeface="Trebuchet MS"/>
                <a:cs typeface="Trebuchet MS"/>
              </a:rPr>
              <a:t>plot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Python</a:t>
            </a:r>
            <a:r>
              <a:rPr spc="30" dirty="0"/>
              <a:t> </a:t>
            </a:r>
            <a:r>
              <a:rPr spc="-5" dirty="0"/>
              <a:t>for</a:t>
            </a:r>
            <a:r>
              <a:rPr spc="-15" dirty="0"/>
              <a:t> </a:t>
            </a:r>
            <a:r>
              <a:rPr spc="-5" dirty="0"/>
              <a:t>Data</a:t>
            </a:r>
            <a:r>
              <a:rPr spc="-25" dirty="0"/>
              <a:t> </a:t>
            </a:r>
            <a:r>
              <a:rPr dirty="0"/>
              <a:t>Science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20</a:t>
            </a:fld>
            <a:endParaRPr spc="-3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553921"/>
            <a:ext cx="592963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0312"/>
              <a:buFont typeface="Segoe UI Symbol"/>
              <a:buChar char="⚫"/>
              <a:tabLst>
                <a:tab pos="241300" algn="l"/>
              </a:tabLst>
            </a:pPr>
            <a:r>
              <a:rPr sz="3200" spc="-95" dirty="0">
                <a:latin typeface="Trebuchet MS"/>
                <a:cs typeface="Trebuchet MS"/>
              </a:rPr>
              <a:t>F</a:t>
            </a:r>
            <a:r>
              <a:rPr sz="3200" spc="-125" dirty="0">
                <a:latin typeface="Trebuchet MS"/>
                <a:cs typeface="Trebuchet MS"/>
              </a:rPr>
              <a:t>r</a:t>
            </a:r>
            <a:r>
              <a:rPr sz="3200" spc="-195" dirty="0">
                <a:latin typeface="Trebuchet MS"/>
                <a:cs typeface="Trebuchet MS"/>
              </a:rPr>
              <a:t>eq</a:t>
            </a:r>
            <a:r>
              <a:rPr sz="3200" spc="-180" dirty="0">
                <a:latin typeface="Trebuchet MS"/>
                <a:cs typeface="Trebuchet MS"/>
              </a:rPr>
              <a:t>u</a:t>
            </a:r>
            <a:r>
              <a:rPr sz="3200" spc="-175" dirty="0">
                <a:latin typeface="Trebuchet MS"/>
                <a:cs typeface="Trebuchet MS"/>
              </a:rPr>
              <a:t>e</a:t>
            </a:r>
            <a:r>
              <a:rPr sz="3200" spc="-170" dirty="0">
                <a:latin typeface="Trebuchet MS"/>
                <a:cs typeface="Trebuchet MS"/>
              </a:rPr>
              <a:t>ncy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145" dirty="0">
                <a:latin typeface="Trebuchet MS"/>
                <a:cs typeface="Trebuchet MS"/>
              </a:rPr>
              <a:t>distr</a:t>
            </a:r>
            <a:r>
              <a:rPr sz="3200" spc="-90" dirty="0">
                <a:latin typeface="Trebuchet MS"/>
                <a:cs typeface="Trebuchet MS"/>
              </a:rPr>
              <a:t>i</a:t>
            </a:r>
            <a:r>
              <a:rPr sz="3200" spc="-165" dirty="0">
                <a:latin typeface="Trebuchet MS"/>
                <a:cs typeface="Trebuchet MS"/>
              </a:rPr>
              <a:t>b</a:t>
            </a:r>
            <a:r>
              <a:rPr sz="3200" spc="-160" dirty="0">
                <a:latin typeface="Trebuchet MS"/>
                <a:cs typeface="Trebuchet MS"/>
              </a:rPr>
              <a:t>u</a:t>
            </a:r>
            <a:r>
              <a:rPr sz="3200" spc="-130" dirty="0">
                <a:latin typeface="Trebuchet MS"/>
                <a:cs typeface="Trebuchet MS"/>
              </a:rPr>
              <a:t>tion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-165" dirty="0">
                <a:latin typeface="Trebuchet MS"/>
                <a:cs typeface="Trebuchet MS"/>
              </a:rPr>
              <a:t>of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45" dirty="0">
                <a:latin typeface="Trebuchet MS"/>
                <a:cs typeface="Trebuchet MS"/>
              </a:rPr>
              <a:t>fuel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type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44296" y="2272283"/>
            <a:ext cx="5923915" cy="4168140"/>
            <a:chOff x="844296" y="2272283"/>
            <a:chExt cx="5923915" cy="41681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296" y="2272283"/>
              <a:ext cx="5923787" cy="416814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0204" y="2298191"/>
              <a:ext cx="5821680" cy="4066032"/>
            </a:xfrm>
            <a:prstGeom prst="rect">
              <a:avLst/>
            </a:prstGeom>
          </p:spPr>
        </p:pic>
      </p:grpSp>
      <p:pic>
        <p:nvPicPr>
          <p:cNvPr id="9" name="Picture 2" descr="JIMS, Rohini, Sector 5 | Delhi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3421" y="6474663"/>
            <a:ext cx="17811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222C46"/>
                </a:solidFill>
                <a:latin typeface="Arial"/>
                <a:cs typeface="Arial"/>
              </a:rPr>
              <a:t>Python</a:t>
            </a:r>
            <a:r>
              <a:rPr sz="1200" b="1" spc="30" dirty="0">
                <a:solidFill>
                  <a:srgbClr val="222C46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222C46"/>
                </a:solidFill>
                <a:latin typeface="Arial"/>
                <a:cs typeface="Arial"/>
              </a:rPr>
              <a:t>for</a:t>
            </a:r>
            <a:r>
              <a:rPr sz="1200" b="1" spc="-15" dirty="0">
                <a:solidFill>
                  <a:srgbClr val="222C46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222C46"/>
                </a:solidFill>
                <a:latin typeface="Arial"/>
                <a:cs typeface="Arial"/>
              </a:rPr>
              <a:t>Data</a:t>
            </a:r>
            <a:r>
              <a:rPr sz="1200" b="1" spc="-25" dirty="0">
                <a:solidFill>
                  <a:srgbClr val="222C46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22C46"/>
                </a:solidFill>
                <a:latin typeface="Arial"/>
                <a:cs typeface="Arial"/>
              </a:rPr>
              <a:t>Science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59388" y="6442354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222C46"/>
                </a:solidFill>
                <a:latin typeface="Trebuchet MS"/>
                <a:cs typeface="Trebuchet MS"/>
              </a:rPr>
              <a:t>21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8391" y="351282"/>
            <a:ext cx="185038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40" dirty="0">
                <a:solidFill>
                  <a:srgbClr val="0A5293"/>
                </a:solidFill>
                <a:latin typeface="Trebuchet MS"/>
                <a:cs typeface="Trebuchet MS"/>
              </a:rPr>
              <a:t>Bar</a:t>
            </a:r>
            <a:r>
              <a:rPr sz="4400" b="0" spc="-12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200" dirty="0">
                <a:solidFill>
                  <a:srgbClr val="0A5293"/>
                </a:solidFill>
                <a:latin typeface="Trebuchet MS"/>
                <a:cs typeface="Trebuchet MS"/>
              </a:rPr>
              <a:t>plot</a:t>
            </a:r>
            <a:endParaRPr sz="44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4047" y="1479803"/>
            <a:ext cx="6341745" cy="1137285"/>
            <a:chOff x="384047" y="1479803"/>
            <a:chExt cx="6341745" cy="11372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4047" y="1479803"/>
              <a:ext cx="6341363" cy="11369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9955" y="1505711"/>
              <a:ext cx="6239256" cy="1034796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384047" y="3637788"/>
            <a:ext cx="8689975" cy="2255520"/>
            <a:chOff x="384047" y="3637788"/>
            <a:chExt cx="8689975" cy="225552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4047" y="3637788"/>
              <a:ext cx="8689848" cy="225552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9955" y="3663696"/>
              <a:ext cx="8587740" cy="215341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740408" y="3790188"/>
              <a:ext cx="883919" cy="251460"/>
            </a:xfrm>
            <a:custGeom>
              <a:avLst/>
              <a:gdLst/>
              <a:ahLst/>
              <a:cxnLst/>
              <a:rect l="l" t="t" r="r" b="b"/>
              <a:pathLst>
                <a:path w="883919" h="251460">
                  <a:moveTo>
                    <a:pt x="883919" y="0"/>
                  </a:moveTo>
                  <a:lnTo>
                    <a:pt x="0" y="0"/>
                  </a:lnTo>
                  <a:lnTo>
                    <a:pt x="0" y="251460"/>
                  </a:lnTo>
                  <a:lnTo>
                    <a:pt x="883919" y="251460"/>
                  </a:lnTo>
                  <a:lnTo>
                    <a:pt x="883919" y="0"/>
                  </a:lnTo>
                  <a:close/>
                </a:path>
              </a:pathLst>
            </a:custGeom>
            <a:solidFill>
              <a:srgbClr val="EDFF41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062352" y="2769819"/>
            <a:ext cx="1651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rebuchet MS"/>
                <a:cs typeface="Trebuchet MS"/>
              </a:rPr>
              <a:t>x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86455" y="3790188"/>
            <a:ext cx="1068705" cy="251460"/>
          </a:xfrm>
          <a:custGeom>
            <a:avLst/>
            <a:gdLst/>
            <a:ahLst/>
            <a:cxnLst/>
            <a:rect l="l" t="t" r="r" b="b"/>
            <a:pathLst>
              <a:path w="1068704" h="251460">
                <a:moveTo>
                  <a:pt x="1068323" y="0"/>
                </a:moveTo>
                <a:lnTo>
                  <a:pt x="0" y="0"/>
                </a:lnTo>
                <a:lnTo>
                  <a:pt x="0" y="251460"/>
                </a:lnTo>
                <a:lnTo>
                  <a:pt x="1068323" y="251460"/>
                </a:lnTo>
                <a:lnTo>
                  <a:pt x="1068323" y="0"/>
                </a:lnTo>
                <a:close/>
              </a:path>
            </a:pathLst>
          </a:custGeom>
          <a:solidFill>
            <a:srgbClr val="EDFF41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608579" y="2816479"/>
            <a:ext cx="201231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30" dirty="0">
                <a:latin typeface="Trebuchet MS"/>
                <a:cs typeface="Trebuchet MS"/>
              </a:rPr>
              <a:t>h</a:t>
            </a:r>
            <a:r>
              <a:rPr sz="2200" spc="-125" dirty="0">
                <a:latin typeface="Trebuchet MS"/>
                <a:cs typeface="Trebuchet MS"/>
              </a:rPr>
              <a:t>e</a:t>
            </a:r>
            <a:r>
              <a:rPr sz="2200" spc="-150" dirty="0">
                <a:latin typeface="Trebuchet MS"/>
                <a:cs typeface="Trebuchet MS"/>
              </a:rPr>
              <a:t>igh</a:t>
            </a:r>
            <a:r>
              <a:rPr sz="2200" spc="-130" dirty="0">
                <a:latin typeface="Trebuchet MS"/>
                <a:cs typeface="Trebuchet MS"/>
              </a:rPr>
              <a:t>t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of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t</a:t>
            </a:r>
            <a:r>
              <a:rPr sz="2200" spc="-140" dirty="0">
                <a:latin typeface="Trebuchet MS"/>
                <a:cs typeface="Trebuchet MS"/>
              </a:rPr>
              <a:t>h</a:t>
            </a:r>
            <a:r>
              <a:rPr sz="2200" spc="-150" dirty="0">
                <a:latin typeface="Trebuchet MS"/>
                <a:cs typeface="Trebuchet MS"/>
              </a:rPr>
              <a:t>e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25" dirty="0">
                <a:latin typeface="Trebuchet MS"/>
                <a:cs typeface="Trebuchet MS"/>
              </a:rPr>
              <a:t>b</a:t>
            </a:r>
            <a:r>
              <a:rPr sz="2200" spc="-120" dirty="0">
                <a:latin typeface="Trebuchet MS"/>
                <a:cs typeface="Trebuchet MS"/>
              </a:rPr>
              <a:t>a</a:t>
            </a:r>
            <a:r>
              <a:rPr sz="2200" spc="-100" dirty="0">
                <a:latin typeface="Trebuchet MS"/>
                <a:cs typeface="Trebuchet MS"/>
              </a:rPr>
              <a:t>r</a:t>
            </a:r>
            <a:r>
              <a:rPr sz="2200" spc="-50" dirty="0">
                <a:latin typeface="Trebuchet MS"/>
                <a:cs typeface="Trebuchet MS"/>
              </a:rPr>
              <a:t>s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022348" y="3145510"/>
            <a:ext cx="1534795" cy="678815"/>
            <a:chOff x="2022348" y="3145510"/>
            <a:chExt cx="1534795" cy="678815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22348" y="3145510"/>
              <a:ext cx="237832" cy="67820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104644" y="3167633"/>
              <a:ext cx="78105" cy="520065"/>
            </a:xfrm>
            <a:custGeom>
              <a:avLst/>
              <a:gdLst/>
              <a:ahLst/>
              <a:cxnLst/>
              <a:rect l="l" t="t" r="r" b="b"/>
              <a:pathLst>
                <a:path w="78105" h="520064">
                  <a:moveTo>
                    <a:pt x="25907" y="441959"/>
                  </a:moveTo>
                  <a:lnTo>
                    <a:pt x="0" y="441959"/>
                  </a:lnTo>
                  <a:lnTo>
                    <a:pt x="38862" y="519683"/>
                  </a:lnTo>
                  <a:lnTo>
                    <a:pt x="71246" y="454913"/>
                  </a:lnTo>
                  <a:lnTo>
                    <a:pt x="25907" y="454913"/>
                  </a:lnTo>
                  <a:lnTo>
                    <a:pt x="25907" y="441959"/>
                  </a:lnTo>
                  <a:close/>
                </a:path>
                <a:path w="78105" h="520064">
                  <a:moveTo>
                    <a:pt x="51816" y="0"/>
                  </a:moveTo>
                  <a:lnTo>
                    <a:pt x="25907" y="0"/>
                  </a:lnTo>
                  <a:lnTo>
                    <a:pt x="25907" y="454913"/>
                  </a:lnTo>
                  <a:lnTo>
                    <a:pt x="51816" y="454913"/>
                  </a:lnTo>
                  <a:lnTo>
                    <a:pt x="51816" y="0"/>
                  </a:lnTo>
                  <a:close/>
                </a:path>
                <a:path w="78105" h="520064">
                  <a:moveTo>
                    <a:pt x="77724" y="441959"/>
                  </a:moveTo>
                  <a:lnTo>
                    <a:pt x="51816" y="441959"/>
                  </a:lnTo>
                  <a:lnTo>
                    <a:pt x="51816" y="454913"/>
                  </a:lnTo>
                  <a:lnTo>
                    <a:pt x="71246" y="454913"/>
                  </a:lnTo>
                  <a:lnTo>
                    <a:pt x="77724" y="4419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19272" y="3145510"/>
              <a:ext cx="237832" cy="67820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401568" y="3167633"/>
              <a:ext cx="78105" cy="520065"/>
            </a:xfrm>
            <a:custGeom>
              <a:avLst/>
              <a:gdLst/>
              <a:ahLst/>
              <a:cxnLst/>
              <a:rect l="l" t="t" r="r" b="b"/>
              <a:pathLst>
                <a:path w="78104" h="520064">
                  <a:moveTo>
                    <a:pt x="25908" y="441959"/>
                  </a:moveTo>
                  <a:lnTo>
                    <a:pt x="0" y="441959"/>
                  </a:lnTo>
                  <a:lnTo>
                    <a:pt x="38862" y="519683"/>
                  </a:lnTo>
                  <a:lnTo>
                    <a:pt x="71247" y="454913"/>
                  </a:lnTo>
                  <a:lnTo>
                    <a:pt x="25908" y="454913"/>
                  </a:lnTo>
                  <a:lnTo>
                    <a:pt x="25908" y="441959"/>
                  </a:lnTo>
                  <a:close/>
                </a:path>
                <a:path w="78104" h="520064">
                  <a:moveTo>
                    <a:pt x="51816" y="0"/>
                  </a:moveTo>
                  <a:lnTo>
                    <a:pt x="25908" y="0"/>
                  </a:lnTo>
                  <a:lnTo>
                    <a:pt x="25908" y="454913"/>
                  </a:lnTo>
                  <a:lnTo>
                    <a:pt x="51816" y="454913"/>
                  </a:lnTo>
                  <a:lnTo>
                    <a:pt x="51816" y="0"/>
                  </a:lnTo>
                  <a:close/>
                </a:path>
                <a:path w="78104" h="520064">
                  <a:moveTo>
                    <a:pt x="77724" y="441959"/>
                  </a:moveTo>
                  <a:lnTo>
                    <a:pt x="51816" y="441959"/>
                  </a:lnTo>
                  <a:lnTo>
                    <a:pt x="51816" y="454913"/>
                  </a:lnTo>
                  <a:lnTo>
                    <a:pt x="71247" y="454913"/>
                  </a:lnTo>
                  <a:lnTo>
                    <a:pt x="77724" y="4419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324605" y="5722416"/>
            <a:ext cx="3463925" cy="781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5295">
              <a:lnSpc>
                <a:spcPct val="112700"/>
              </a:lnSpc>
              <a:spcBef>
                <a:spcPts val="100"/>
              </a:spcBef>
            </a:pPr>
            <a:r>
              <a:rPr sz="2200" spc="-114" dirty="0">
                <a:latin typeface="Trebuchet MS"/>
                <a:cs typeface="Trebuchet MS"/>
              </a:rPr>
              <a:t>Set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t</a:t>
            </a:r>
            <a:r>
              <a:rPr sz="2200" spc="-140" dirty="0">
                <a:latin typeface="Trebuchet MS"/>
                <a:cs typeface="Trebuchet MS"/>
              </a:rPr>
              <a:t>h</a:t>
            </a:r>
            <a:r>
              <a:rPr sz="2200" spc="-150" dirty="0">
                <a:latin typeface="Trebuchet MS"/>
                <a:cs typeface="Trebuchet MS"/>
              </a:rPr>
              <a:t>e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60" dirty="0">
                <a:latin typeface="Trebuchet MS"/>
                <a:cs typeface="Trebuchet MS"/>
              </a:rPr>
              <a:t>la</a:t>
            </a:r>
            <a:r>
              <a:rPr sz="2200" spc="-204" dirty="0">
                <a:latin typeface="Trebuchet MS"/>
                <a:cs typeface="Trebuchet MS"/>
              </a:rPr>
              <a:t>b</a:t>
            </a:r>
            <a:r>
              <a:rPr sz="2200" spc="-125" dirty="0">
                <a:latin typeface="Trebuchet MS"/>
                <a:cs typeface="Trebuchet MS"/>
              </a:rPr>
              <a:t>els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of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t</a:t>
            </a:r>
            <a:r>
              <a:rPr sz="2200" spc="-140" dirty="0">
                <a:latin typeface="Trebuchet MS"/>
                <a:cs typeface="Trebuchet MS"/>
              </a:rPr>
              <a:t>h</a:t>
            </a:r>
            <a:r>
              <a:rPr sz="2200" spc="-150" dirty="0">
                <a:latin typeface="Trebuchet MS"/>
                <a:cs typeface="Trebuchet MS"/>
              </a:rPr>
              <a:t>e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xt</a:t>
            </a:r>
            <a:r>
              <a:rPr sz="2200" spc="-95" dirty="0">
                <a:latin typeface="Trebuchet MS"/>
                <a:cs typeface="Trebuchet MS"/>
              </a:rPr>
              <a:t>icks  </a:t>
            </a:r>
            <a:r>
              <a:rPr sz="2200" spc="-114" dirty="0">
                <a:latin typeface="Trebuchet MS"/>
                <a:cs typeface="Trebuchet MS"/>
              </a:rPr>
              <a:t>Set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t</a:t>
            </a:r>
            <a:r>
              <a:rPr sz="2200" spc="-140" dirty="0">
                <a:latin typeface="Trebuchet MS"/>
                <a:cs typeface="Trebuchet MS"/>
              </a:rPr>
              <a:t>h</a:t>
            </a:r>
            <a:r>
              <a:rPr sz="2200" spc="-150" dirty="0">
                <a:latin typeface="Trebuchet MS"/>
                <a:cs typeface="Trebuchet MS"/>
              </a:rPr>
              <a:t>e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10" dirty="0">
                <a:latin typeface="Trebuchet MS"/>
                <a:cs typeface="Trebuchet MS"/>
              </a:rPr>
              <a:t>locatio</a:t>
            </a:r>
            <a:r>
              <a:rPr sz="2200" spc="-130" dirty="0">
                <a:latin typeface="Trebuchet MS"/>
                <a:cs typeface="Trebuchet MS"/>
              </a:rPr>
              <a:t>n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spc="-120" dirty="0">
                <a:latin typeface="Trebuchet MS"/>
                <a:cs typeface="Trebuchet MS"/>
              </a:rPr>
              <a:t>of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-105" dirty="0">
                <a:latin typeface="Trebuchet MS"/>
                <a:cs typeface="Trebuchet MS"/>
              </a:rPr>
              <a:t>t</a:t>
            </a:r>
            <a:r>
              <a:rPr sz="2200" spc="-140" dirty="0">
                <a:latin typeface="Trebuchet MS"/>
                <a:cs typeface="Trebuchet MS"/>
              </a:rPr>
              <a:t>h</a:t>
            </a:r>
            <a:r>
              <a:rPr sz="2200" spc="-150" dirty="0">
                <a:latin typeface="Trebuchet MS"/>
                <a:cs typeface="Trebuchet MS"/>
              </a:rPr>
              <a:t>e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xt</a:t>
            </a:r>
            <a:r>
              <a:rPr sz="2200" spc="-100" dirty="0">
                <a:latin typeface="Trebuchet MS"/>
                <a:cs typeface="Trebuchet MS"/>
              </a:rPr>
              <a:t>icks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977895" y="5458967"/>
            <a:ext cx="736600" cy="803275"/>
            <a:chOff x="2977895" y="5458967"/>
            <a:chExt cx="736600" cy="803275"/>
          </a:xfrm>
        </p:grpSpPr>
        <p:sp>
          <p:nvSpPr>
            <p:cNvPr id="22" name="object 22"/>
            <p:cNvSpPr/>
            <p:nvPr/>
          </p:nvSpPr>
          <p:spPr>
            <a:xfrm>
              <a:off x="3397757" y="5471921"/>
              <a:ext cx="303530" cy="431800"/>
            </a:xfrm>
            <a:custGeom>
              <a:avLst/>
              <a:gdLst/>
              <a:ahLst/>
              <a:cxnLst/>
              <a:rect l="l" t="t" r="r" b="b"/>
              <a:pathLst>
                <a:path w="303529" h="431800">
                  <a:moveTo>
                    <a:pt x="75818" y="0"/>
                  </a:moveTo>
                  <a:lnTo>
                    <a:pt x="0" y="0"/>
                  </a:lnTo>
                  <a:lnTo>
                    <a:pt x="0" y="393382"/>
                  </a:lnTo>
                  <a:lnTo>
                    <a:pt x="227456" y="393382"/>
                  </a:lnTo>
                  <a:lnTo>
                    <a:pt x="227456" y="431291"/>
                  </a:lnTo>
                  <a:lnTo>
                    <a:pt x="303275" y="355472"/>
                  </a:lnTo>
                  <a:lnTo>
                    <a:pt x="227456" y="279653"/>
                  </a:lnTo>
                  <a:lnTo>
                    <a:pt x="227456" y="317563"/>
                  </a:lnTo>
                  <a:lnTo>
                    <a:pt x="75818" y="317563"/>
                  </a:lnTo>
                  <a:lnTo>
                    <a:pt x="758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97757" y="5471921"/>
              <a:ext cx="303530" cy="431800"/>
            </a:xfrm>
            <a:custGeom>
              <a:avLst/>
              <a:gdLst/>
              <a:ahLst/>
              <a:cxnLst/>
              <a:rect l="l" t="t" r="r" b="b"/>
              <a:pathLst>
                <a:path w="303529" h="431800">
                  <a:moveTo>
                    <a:pt x="75818" y="0"/>
                  </a:moveTo>
                  <a:lnTo>
                    <a:pt x="75818" y="317563"/>
                  </a:lnTo>
                  <a:lnTo>
                    <a:pt x="227456" y="317563"/>
                  </a:lnTo>
                  <a:lnTo>
                    <a:pt x="227456" y="279653"/>
                  </a:lnTo>
                  <a:lnTo>
                    <a:pt x="303275" y="355472"/>
                  </a:lnTo>
                  <a:lnTo>
                    <a:pt x="227456" y="431291"/>
                  </a:lnTo>
                  <a:lnTo>
                    <a:pt x="227456" y="393382"/>
                  </a:lnTo>
                  <a:lnTo>
                    <a:pt x="0" y="393382"/>
                  </a:lnTo>
                  <a:lnTo>
                    <a:pt x="0" y="0"/>
                  </a:lnTo>
                  <a:lnTo>
                    <a:pt x="75818" y="0"/>
                  </a:lnTo>
                  <a:close/>
                </a:path>
              </a:pathLst>
            </a:custGeom>
            <a:ln w="25908">
              <a:solidFill>
                <a:srgbClr val="2020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90849" y="5528309"/>
              <a:ext cx="256540" cy="721360"/>
            </a:xfrm>
            <a:custGeom>
              <a:avLst/>
              <a:gdLst/>
              <a:ahLst/>
              <a:cxnLst/>
              <a:rect l="l" t="t" r="r" b="b"/>
              <a:pathLst>
                <a:path w="256539" h="721360">
                  <a:moveTo>
                    <a:pt x="64007" y="0"/>
                  </a:moveTo>
                  <a:lnTo>
                    <a:pt x="0" y="0"/>
                  </a:lnTo>
                  <a:lnTo>
                    <a:pt x="0" y="688847"/>
                  </a:lnTo>
                  <a:lnTo>
                    <a:pt x="192024" y="688847"/>
                  </a:lnTo>
                  <a:lnTo>
                    <a:pt x="192024" y="720851"/>
                  </a:lnTo>
                  <a:lnTo>
                    <a:pt x="256031" y="656843"/>
                  </a:lnTo>
                  <a:lnTo>
                    <a:pt x="192024" y="592835"/>
                  </a:lnTo>
                  <a:lnTo>
                    <a:pt x="192024" y="624839"/>
                  </a:lnTo>
                  <a:lnTo>
                    <a:pt x="64007" y="624839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990849" y="5528309"/>
              <a:ext cx="256540" cy="721360"/>
            </a:xfrm>
            <a:custGeom>
              <a:avLst/>
              <a:gdLst/>
              <a:ahLst/>
              <a:cxnLst/>
              <a:rect l="l" t="t" r="r" b="b"/>
              <a:pathLst>
                <a:path w="256539" h="721360">
                  <a:moveTo>
                    <a:pt x="64007" y="0"/>
                  </a:moveTo>
                  <a:lnTo>
                    <a:pt x="64007" y="624839"/>
                  </a:lnTo>
                  <a:lnTo>
                    <a:pt x="192024" y="624839"/>
                  </a:lnTo>
                  <a:lnTo>
                    <a:pt x="192024" y="592835"/>
                  </a:lnTo>
                  <a:lnTo>
                    <a:pt x="256031" y="656843"/>
                  </a:lnTo>
                  <a:lnTo>
                    <a:pt x="192024" y="720851"/>
                  </a:lnTo>
                  <a:lnTo>
                    <a:pt x="192024" y="688847"/>
                  </a:lnTo>
                  <a:lnTo>
                    <a:pt x="0" y="688847"/>
                  </a:lnTo>
                  <a:lnTo>
                    <a:pt x="0" y="0"/>
                  </a:lnTo>
                  <a:lnTo>
                    <a:pt x="64007" y="0"/>
                  </a:lnTo>
                  <a:close/>
                </a:path>
              </a:pathLst>
            </a:custGeom>
            <a:ln w="25908">
              <a:solidFill>
                <a:srgbClr val="2020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6" name="Picture 2" descr="JIMS, Rohini, Sector 5 | Delhi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53" y="351282"/>
            <a:ext cx="185038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40" dirty="0">
                <a:solidFill>
                  <a:srgbClr val="0A5293"/>
                </a:solidFill>
                <a:latin typeface="Trebuchet MS"/>
                <a:cs typeface="Trebuchet MS"/>
              </a:rPr>
              <a:t>Bar</a:t>
            </a:r>
            <a:r>
              <a:rPr sz="4400" b="0" spc="-12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200" dirty="0">
                <a:solidFill>
                  <a:srgbClr val="0A5293"/>
                </a:solidFill>
                <a:latin typeface="Trebuchet MS"/>
                <a:cs typeface="Trebuchet MS"/>
              </a:rPr>
              <a:t>plot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Python</a:t>
            </a:r>
            <a:r>
              <a:rPr spc="30" dirty="0"/>
              <a:t> </a:t>
            </a:r>
            <a:r>
              <a:rPr spc="-5" dirty="0"/>
              <a:t>for</a:t>
            </a:r>
            <a:r>
              <a:rPr spc="-15" dirty="0"/>
              <a:t> </a:t>
            </a:r>
            <a:r>
              <a:rPr spc="-5" dirty="0"/>
              <a:t>Data</a:t>
            </a:r>
            <a:r>
              <a:rPr spc="-25" dirty="0"/>
              <a:t> </a:t>
            </a:r>
            <a:r>
              <a:rPr dirty="0"/>
              <a:t>Science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22</a:t>
            </a:fld>
            <a:endParaRPr spc="-30" dirty="0"/>
          </a:p>
        </p:txBody>
      </p:sp>
      <p:sp>
        <p:nvSpPr>
          <p:cNvPr id="3" name="object 3"/>
          <p:cNvSpPr txBox="1"/>
          <p:nvPr/>
        </p:nvSpPr>
        <p:spPr>
          <a:xfrm>
            <a:off x="453034" y="1114755"/>
            <a:ext cx="10643235" cy="953769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41300" marR="5080" indent="-229235">
              <a:lnSpc>
                <a:spcPts val="3460"/>
              </a:lnSpc>
              <a:spcBef>
                <a:spcPts val="535"/>
              </a:spcBef>
              <a:buClr>
                <a:srgbClr val="3891A7"/>
              </a:buClr>
              <a:buSzPct val="70312"/>
              <a:buFont typeface="Segoe UI Symbol"/>
              <a:buChar char="⚫"/>
              <a:tabLst>
                <a:tab pos="241935" algn="l"/>
              </a:tabLst>
            </a:pPr>
            <a:r>
              <a:rPr sz="3200" spc="-100" dirty="0">
                <a:latin typeface="Trebuchet MS"/>
                <a:cs typeface="Trebuchet MS"/>
              </a:rPr>
              <a:t>Bar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45" dirty="0">
                <a:latin typeface="Trebuchet MS"/>
                <a:cs typeface="Trebuchet MS"/>
              </a:rPr>
              <a:t>plot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165" dirty="0">
                <a:latin typeface="Trebuchet MS"/>
                <a:cs typeface="Trebuchet MS"/>
              </a:rPr>
              <a:t>of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245" dirty="0">
                <a:latin typeface="Trebuchet MS"/>
                <a:cs typeface="Trebuchet MS"/>
              </a:rPr>
              <a:t>fuel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type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70" dirty="0">
                <a:latin typeface="Trebuchet MS"/>
                <a:cs typeface="Trebuchet MS"/>
              </a:rPr>
              <a:t>shows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20" dirty="0">
                <a:latin typeface="Trebuchet MS"/>
                <a:cs typeface="Trebuchet MS"/>
              </a:rPr>
              <a:t>that</a:t>
            </a:r>
            <a:r>
              <a:rPr sz="3200" spc="-100" dirty="0">
                <a:latin typeface="Trebuchet MS"/>
                <a:cs typeface="Trebuchet MS"/>
              </a:rPr>
              <a:t> most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165" dirty="0">
                <a:latin typeface="Trebuchet MS"/>
                <a:cs typeface="Trebuchet MS"/>
              </a:rPr>
              <a:t>of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cars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254" dirty="0">
                <a:latin typeface="Trebuchet MS"/>
                <a:cs typeface="Trebuchet MS"/>
              </a:rPr>
              <a:t>have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petrol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as </a:t>
            </a:r>
            <a:r>
              <a:rPr sz="3200" spc="-950" dirty="0">
                <a:latin typeface="Trebuchet MS"/>
                <a:cs typeface="Trebuchet MS"/>
              </a:rPr>
              <a:t> </a:t>
            </a:r>
            <a:r>
              <a:rPr sz="3200" spc="-235" dirty="0">
                <a:latin typeface="Trebuchet MS"/>
                <a:cs typeface="Trebuchet MS"/>
              </a:rPr>
              <a:t>fu</a:t>
            </a:r>
            <a:r>
              <a:rPr sz="3200" spc="-275" dirty="0">
                <a:latin typeface="Trebuchet MS"/>
                <a:cs typeface="Trebuchet MS"/>
              </a:rPr>
              <a:t>e</a:t>
            </a:r>
            <a:r>
              <a:rPr sz="3200" spc="-245" dirty="0">
                <a:latin typeface="Trebuchet MS"/>
                <a:cs typeface="Trebuchet MS"/>
              </a:rPr>
              <a:t>l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type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91183" y="2270760"/>
            <a:ext cx="5721350" cy="4322445"/>
            <a:chOff x="1091183" y="2270760"/>
            <a:chExt cx="5721350" cy="43224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1183" y="2270760"/>
              <a:ext cx="5721095" cy="43220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7091" y="2296668"/>
              <a:ext cx="5618988" cy="4219956"/>
            </a:xfrm>
            <a:prstGeom prst="rect">
              <a:avLst/>
            </a:prstGeom>
          </p:spPr>
        </p:pic>
      </p:grpSp>
      <p:pic>
        <p:nvPicPr>
          <p:cNvPr id="9" name="Picture 2" descr="JIMS, Rohini, Sector 5 | Delhi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045" y="334467"/>
            <a:ext cx="21456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220" dirty="0">
                <a:solidFill>
                  <a:srgbClr val="0A5293"/>
                </a:solidFill>
                <a:latin typeface="Trebuchet MS"/>
                <a:cs typeface="Trebuchet MS"/>
              </a:rPr>
              <a:t>Summa</a:t>
            </a:r>
            <a:r>
              <a:rPr sz="4400" b="0" spc="-15" dirty="0">
                <a:solidFill>
                  <a:srgbClr val="0A5293"/>
                </a:solidFill>
                <a:latin typeface="Trebuchet MS"/>
                <a:cs typeface="Trebuchet MS"/>
              </a:rPr>
              <a:t>r</a:t>
            </a:r>
            <a:r>
              <a:rPr sz="4400" b="0" spc="-240" dirty="0">
                <a:solidFill>
                  <a:srgbClr val="0A5293"/>
                </a:solidFill>
                <a:latin typeface="Trebuchet MS"/>
                <a:cs typeface="Trebuchet MS"/>
              </a:rPr>
              <a:t>y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pc="-10" dirty="0"/>
              <a:t>Python</a:t>
            </a:r>
            <a:r>
              <a:rPr spc="30" dirty="0"/>
              <a:t> </a:t>
            </a:r>
            <a:r>
              <a:rPr spc="-5" dirty="0"/>
              <a:t>for</a:t>
            </a:r>
            <a:r>
              <a:rPr spc="-15" dirty="0"/>
              <a:t> </a:t>
            </a:r>
            <a:r>
              <a:rPr spc="-5" dirty="0"/>
              <a:t>Data</a:t>
            </a:r>
            <a:r>
              <a:rPr spc="-25" dirty="0"/>
              <a:t> </a:t>
            </a:r>
            <a:r>
              <a:rPr dirty="0"/>
              <a:t>Science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23</a:t>
            </a:fld>
            <a:endParaRPr spc="-30" dirty="0"/>
          </a:p>
        </p:txBody>
      </p:sp>
      <p:sp>
        <p:nvSpPr>
          <p:cNvPr id="3" name="object 3"/>
          <p:cNvSpPr txBox="1"/>
          <p:nvPr/>
        </p:nvSpPr>
        <p:spPr>
          <a:xfrm>
            <a:off x="646887" y="1555241"/>
            <a:ext cx="10546080" cy="34404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50" dirty="0">
                <a:latin typeface="Trebuchet MS"/>
                <a:cs typeface="Trebuchet MS"/>
              </a:rPr>
              <a:t>We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54" dirty="0">
                <a:latin typeface="Trebuchet MS"/>
                <a:cs typeface="Trebuchet MS"/>
              </a:rPr>
              <a:t>have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learnt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75" dirty="0">
                <a:latin typeface="Trebuchet MS"/>
                <a:cs typeface="Trebuchet MS"/>
              </a:rPr>
              <a:t>how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to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create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basic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plots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using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i="1" spc="-340" dirty="0">
                <a:latin typeface="Trebuchet MS"/>
                <a:cs typeface="Trebuchet MS"/>
              </a:rPr>
              <a:t>matplotlib</a:t>
            </a:r>
            <a:r>
              <a:rPr sz="3200" i="1" spc="-70" dirty="0">
                <a:latin typeface="Trebuchet MS"/>
                <a:cs typeface="Trebuchet MS"/>
              </a:rPr>
              <a:t> </a:t>
            </a:r>
            <a:r>
              <a:rPr sz="3200" spc="-145" dirty="0">
                <a:latin typeface="Trebuchet MS"/>
                <a:cs typeface="Trebuchet MS"/>
              </a:rPr>
              <a:t>library</a:t>
            </a:r>
            <a:endParaRPr sz="32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300" dirty="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lr>
                <a:srgbClr val="0096A7"/>
              </a:buClr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3200" spc="-170" dirty="0">
                <a:latin typeface="Trebuchet MS"/>
                <a:cs typeface="Trebuchet MS"/>
              </a:rPr>
              <a:t>Scatter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280" dirty="0">
                <a:latin typeface="Trebuchet MS"/>
                <a:cs typeface="Trebuchet MS"/>
              </a:rPr>
              <a:t>p</a:t>
            </a:r>
            <a:r>
              <a:rPr sz="3200" spc="-145" dirty="0">
                <a:latin typeface="Trebuchet MS"/>
                <a:cs typeface="Trebuchet MS"/>
              </a:rPr>
              <a:t>l</a:t>
            </a:r>
            <a:r>
              <a:rPr sz="3200" spc="-80" dirty="0">
                <a:latin typeface="Trebuchet MS"/>
                <a:cs typeface="Trebuchet MS"/>
              </a:rPr>
              <a:t>ot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096A7"/>
              </a:buClr>
              <a:buFont typeface="Arial MT"/>
              <a:buChar char="•"/>
            </a:pPr>
            <a:endParaRPr sz="330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lr>
                <a:srgbClr val="0096A7"/>
              </a:buClr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3200" spc="-100" dirty="0">
                <a:latin typeface="Trebuchet MS"/>
                <a:cs typeface="Trebuchet MS"/>
              </a:rPr>
              <a:t>Histogram</a:t>
            </a:r>
            <a:endParaRPr sz="32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096A7"/>
              </a:buClr>
              <a:buFont typeface="Arial MT"/>
              <a:buChar char="•"/>
            </a:pPr>
            <a:endParaRPr sz="3300" dirty="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buClr>
                <a:srgbClr val="0096A7"/>
              </a:buClr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3200" spc="-100" dirty="0">
                <a:latin typeface="Trebuchet MS"/>
                <a:cs typeface="Trebuchet MS"/>
              </a:rPr>
              <a:t>Bar</a:t>
            </a:r>
            <a:r>
              <a:rPr sz="3200" spc="-130" dirty="0">
                <a:latin typeface="Trebuchet MS"/>
                <a:cs typeface="Trebuchet MS"/>
              </a:rPr>
              <a:t> </a:t>
            </a:r>
            <a:r>
              <a:rPr sz="3200" spc="-145" dirty="0">
                <a:latin typeface="Trebuchet MS"/>
                <a:cs typeface="Trebuchet MS"/>
              </a:rPr>
              <a:t>plot</a:t>
            </a:r>
            <a:endParaRPr sz="3200" dirty="0">
              <a:latin typeface="Trebuchet MS"/>
              <a:cs typeface="Trebuchet MS"/>
            </a:endParaRPr>
          </a:p>
        </p:txBody>
      </p:sp>
      <p:pic>
        <p:nvPicPr>
          <p:cNvPr id="6" name="Picture 2" descr="JIMS, Rohini, Sector 5 | Delh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821" y="0"/>
            <a:ext cx="102870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24</TotalTime>
  <Words>573</Words>
  <Application>Microsoft Office PowerPoint</Application>
  <PresentationFormat>Widescreen</PresentationFormat>
  <Paragraphs>143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Arial MT</vt:lpstr>
      <vt:lpstr>Calibri</vt:lpstr>
      <vt:lpstr>Calibri Light</vt:lpstr>
      <vt:lpstr>Courier New</vt:lpstr>
      <vt:lpstr>Segoe UI Symbol</vt:lpstr>
      <vt:lpstr>Trebuchet MS</vt:lpstr>
      <vt:lpstr>Retrospect</vt:lpstr>
      <vt:lpstr>Data Visualization Part - 1 </vt:lpstr>
      <vt:lpstr>In this lecture</vt:lpstr>
      <vt:lpstr>Data Visualization</vt:lpstr>
      <vt:lpstr>Popular plotting libraries in Python</vt:lpstr>
      <vt:lpstr>Matplotlib</vt:lpstr>
      <vt:lpstr>Scatter plot</vt:lpstr>
      <vt:lpstr>Scatter Plot</vt:lpstr>
      <vt:lpstr>Importing data into Spyder</vt:lpstr>
      <vt:lpstr>Importing data into Spyder</vt:lpstr>
      <vt:lpstr>Scatter plot</vt:lpstr>
      <vt:lpstr>Scatter plot</vt:lpstr>
      <vt:lpstr>Histogram</vt:lpstr>
      <vt:lpstr>Histogram</vt:lpstr>
      <vt:lpstr>Histogram</vt:lpstr>
      <vt:lpstr>Histogram</vt:lpstr>
      <vt:lpstr>Histogram</vt:lpstr>
      <vt:lpstr>Bar plot</vt:lpstr>
      <vt:lpstr>Bar plot</vt:lpstr>
      <vt:lpstr>Bar plot</vt:lpstr>
      <vt:lpstr>Bar plot</vt:lpstr>
      <vt:lpstr>Bar plot</vt:lpstr>
      <vt:lpstr>Bar plot</vt:lpstr>
      <vt:lpstr>Summary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Shweta Sridhar</dc:creator>
  <cp:lastModifiedBy>deeptisharma</cp:lastModifiedBy>
  <cp:revision>2</cp:revision>
  <dcterms:created xsi:type="dcterms:W3CDTF">2023-07-10T07:20:10Z</dcterms:created>
  <dcterms:modified xsi:type="dcterms:W3CDTF">2023-07-12T07:26:39Z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2019-09-10T00:00:00Z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2023-07-10T00:00:00Z</vt:filetime>
  </property>
</Properties>
</file>