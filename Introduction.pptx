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73" r:id="rId4"/>
    <p:sldId id="261" r:id="rId5"/>
    <p:sldId id="258" r:id="rId6"/>
    <p:sldId id="259" r:id="rId7"/>
    <p:sldId id="262" r:id="rId8"/>
    <p:sldId id="263" r:id="rId9"/>
    <p:sldId id="268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F10D-745D-4C57-8239-28E4D35E77D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A2B4E-803A-4246-BCEF-DBED9531579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540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F10D-745D-4C57-8239-28E4D35E77D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A2B4E-803A-4246-BCEF-DBED95315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510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F10D-745D-4C57-8239-28E4D35E77D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A2B4E-803A-4246-BCEF-DBED9531579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69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F10D-745D-4C57-8239-28E4D35E77D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A2B4E-803A-4246-BCEF-DBED95315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799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F10D-745D-4C57-8239-28E4D35E77D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A2B4E-803A-4246-BCEF-DBED95315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14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F10D-745D-4C57-8239-28E4D35E77D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A2B4E-803A-4246-BCEF-DBED95315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923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F10D-745D-4C57-8239-28E4D35E77D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A2B4E-803A-4246-BCEF-DBED95315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483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C38F10D-745D-4C57-8239-28E4D35E77D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8A2B4E-803A-4246-BCEF-DBED95315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377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F10D-745D-4C57-8239-28E4D35E77D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A2B4E-803A-4246-BCEF-DBED95315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815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F10D-745D-4C57-8239-28E4D35E77D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A2B4E-803A-4246-BCEF-DBED95315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329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F10D-745D-4C57-8239-28E4D35E77D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A2B4E-803A-4246-BCEF-DBED95315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06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C38F10D-745D-4C57-8239-28E4D35E77D1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B8A2B4E-803A-4246-BCEF-DBED9531579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951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#_heading=h.3as4poj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#_heading=h.3as4poj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1821" y="436729"/>
            <a:ext cx="9144000" cy="2387600"/>
          </a:xfrm>
        </p:spPr>
        <p:txBody>
          <a:bodyPr/>
          <a:lstStyle/>
          <a:p>
            <a:r>
              <a:rPr lang="en-IN" dirty="0"/>
              <a:t>Course on Python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3372" y="4434551"/>
            <a:ext cx="9144000" cy="1655762"/>
          </a:xfrm>
        </p:spPr>
        <p:txBody>
          <a:bodyPr/>
          <a:lstStyle/>
          <a:p>
            <a:pPr algn="r"/>
            <a:r>
              <a:rPr lang="en-IN" b="1" dirty="0" err="1"/>
              <a:t>Dr.</a:t>
            </a:r>
            <a:r>
              <a:rPr lang="en-IN" b="1" dirty="0"/>
              <a:t> </a:t>
            </a:r>
            <a:r>
              <a:rPr lang="en-IN" b="1" dirty="0" err="1"/>
              <a:t>Deepti</a:t>
            </a:r>
            <a:r>
              <a:rPr lang="en-IN" b="1" dirty="0"/>
              <a:t> Sharma</a:t>
            </a:r>
          </a:p>
          <a:p>
            <a:pPr algn="r"/>
            <a:r>
              <a:rPr lang="en-IN" b="1" dirty="0"/>
              <a:t>Professor (IT)</a:t>
            </a:r>
          </a:p>
          <a:p>
            <a:pPr algn="r"/>
            <a:r>
              <a:rPr lang="en-IN" b="1" dirty="0"/>
              <a:t>JIMS Sec-5, </a:t>
            </a:r>
            <a:r>
              <a:rPr lang="en-IN" b="1" dirty="0" err="1"/>
              <a:t>Rohini</a:t>
            </a:r>
            <a:endParaRPr lang="en-IN" b="1" dirty="0"/>
          </a:p>
        </p:txBody>
      </p:sp>
      <p:pic>
        <p:nvPicPr>
          <p:cNvPr id="2050" name="Picture 2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5510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722" y="583490"/>
            <a:ext cx="10515600" cy="726696"/>
          </a:xfrm>
        </p:spPr>
        <p:txBody>
          <a:bodyPr/>
          <a:lstStyle/>
          <a:p>
            <a:r>
              <a:rPr lang="en-IN" dirty="0"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722" y="2074460"/>
            <a:ext cx="10652078" cy="5030551"/>
          </a:xfrm>
        </p:spPr>
        <p:txBody>
          <a:bodyPr/>
          <a:lstStyle/>
          <a:p>
            <a:r>
              <a:rPr lang="en-IN" dirty="0"/>
              <a:t>Introduction to Python</a:t>
            </a:r>
          </a:p>
          <a:p>
            <a:r>
              <a:rPr lang="en-IN" dirty="0" err="1"/>
              <a:t>Numpy</a:t>
            </a:r>
            <a:r>
              <a:rPr lang="en-IN" dirty="0"/>
              <a:t> Library</a:t>
            </a:r>
          </a:p>
          <a:p>
            <a:r>
              <a:rPr lang="en-IN" dirty="0"/>
              <a:t>Pandas Library</a:t>
            </a:r>
          </a:p>
          <a:p>
            <a:r>
              <a:rPr lang="en-IN" dirty="0"/>
              <a:t>Data Visualization Using </a:t>
            </a:r>
            <a:r>
              <a:rPr lang="en-IN" dirty="0" err="1"/>
              <a:t>Matplot</a:t>
            </a:r>
            <a:r>
              <a:rPr lang="en-IN" dirty="0"/>
              <a:t> Library</a:t>
            </a:r>
          </a:p>
        </p:txBody>
      </p:sp>
      <p:pic>
        <p:nvPicPr>
          <p:cNvPr id="5" name="Picture 2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21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908EB-640C-B540-8538-2E8AAB821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4354"/>
            <a:ext cx="10058400" cy="1450757"/>
          </a:xfrm>
        </p:spPr>
        <p:txBody>
          <a:bodyPr/>
          <a:lstStyle/>
          <a:p>
            <a:r>
              <a:rPr lang="en-US" dirty="0"/>
              <a:t>What is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85DFB-B83B-5E45-AA2C-4B83D06E0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833" y="1910056"/>
            <a:ext cx="11011468" cy="4122098"/>
          </a:xfrm>
        </p:spPr>
        <p:txBody>
          <a:bodyPr>
            <a:normAutofit/>
          </a:bodyPr>
          <a:lstStyle/>
          <a:p>
            <a:r>
              <a:rPr lang="en-US" dirty="0"/>
              <a:t>Python is a free, community-developed programming language</a:t>
            </a:r>
          </a:p>
          <a:p>
            <a:r>
              <a:rPr lang="en-US" dirty="0"/>
              <a:t>Run from: </a:t>
            </a:r>
          </a:p>
          <a:p>
            <a:pPr lvl="1"/>
            <a:r>
              <a:rPr lang="en-US" dirty="0"/>
              <a:t>command line</a:t>
            </a:r>
          </a:p>
          <a:p>
            <a:pPr lvl="1"/>
            <a:r>
              <a:rPr lang="en-US" dirty="0"/>
              <a:t>Integrated Development Environment (IDE)</a:t>
            </a:r>
          </a:p>
          <a:p>
            <a:pPr lvl="1"/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r>
              <a:rPr lang="en-US" dirty="0"/>
              <a:t>Basic Python: minimal installed libraries, but extensible via modules from the community</a:t>
            </a:r>
          </a:p>
          <a:p>
            <a:r>
              <a:rPr lang="en-US" dirty="0"/>
              <a:t>Python is the "wild west" of programming – everyone does what they want!</a:t>
            </a:r>
          </a:p>
          <a:p>
            <a:r>
              <a:rPr lang="en-US" dirty="0"/>
              <a:t>Anaconda installs a bulked-up version of Python that includes many common data science libraries, </a:t>
            </a:r>
            <a:r>
              <a:rPr lang="en-US" dirty="0" err="1"/>
              <a:t>Jupyter</a:t>
            </a:r>
            <a:r>
              <a:rPr lang="en-US" dirty="0"/>
              <a:t> notebooks, and and IDE.</a:t>
            </a:r>
          </a:p>
          <a:p>
            <a:r>
              <a:rPr lang="en-US" dirty="0"/>
              <a:t>I recommend installing Anaconda if you are serious about </a:t>
            </a:r>
            <a:r>
              <a:rPr lang="en-US"/>
              <a:t>data analysis.</a:t>
            </a:r>
            <a:endParaRPr lang="en-US" dirty="0"/>
          </a:p>
        </p:txBody>
      </p:sp>
      <p:pic>
        <p:nvPicPr>
          <p:cNvPr id="4" name="Picture 2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463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2121"/>
            <a:ext cx="12192000" cy="8083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Applications of Python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971" y="6321262"/>
            <a:ext cx="317376" cy="365125"/>
          </a:xfrm>
        </p:spPr>
        <p:txBody>
          <a:bodyPr/>
          <a:lstStyle/>
          <a:p>
            <a:fld id="{04EAA311-F8B8-413B-ACCD-5A57951484CD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99929" y="1704614"/>
            <a:ext cx="11592730" cy="4616648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00000"/>
                </a:solidFill>
              </a:rPr>
              <a:t>Embedded scripting language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00000"/>
                </a:solidFill>
              </a:rPr>
              <a:t>3D Software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00000"/>
                </a:solidFill>
              </a:rPr>
              <a:t>Web development </a:t>
            </a:r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C00000"/>
                </a:solidFill>
              </a:rPr>
              <a:t>GUI-based desktop applications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C00000"/>
                </a:solidFill>
              </a:rPr>
              <a:t>Image processing and graphic design applications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C00000"/>
                </a:solidFill>
              </a:rPr>
              <a:t>Scientific and computational applications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C00000"/>
                </a:solidFill>
              </a:rPr>
              <a:t>Operating Systems</a:t>
            </a:r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Footer Placeholder 8"/>
          <p:cNvSpPr txBox="1">
            <a:spLocks/>
          </p:cNvSpPr>
          <p:nvPr/>
        </p:nvSpPr>
        <p:spPr>
          <a:xfrm>
            <a:off x="8420669" y="6321262"/>
            <a:ext cx="35306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 Oxford University Press 2017. All rights reserved.</a:t>
            </a:r>
          </a:p>
        </p:txBody>
      </p:sp>
      <p:pic>
        <p:nvPicPr>
          <p:cNvPr id="8" name="Picture 2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959" y="-419929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78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39" y="150126"/>
            <a:ext cx="10058400" cy="900752"/>
          </a:xfrm>
        </p:spPr>
        <p:txBody>
          <a:bodyPr/>
          <a:lstStyle/>
          <a:p>
            <a:r>
              <a:rPr lang="en-IN" dirty="0"/>
              <a:t>Areas to Explore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012" y="1310184"/>
            <a:ext cx="10978259" cy="4913751"/>
          </a:xfrm>
        </p:spPr>
        <p:txBody>
          <a:bodyPr/>
          <a:lstStyle/>
          <a:p>
            <a:r>
              <a:rPr lang="en-IN" sz="2400" dirty="0">
                <a:solidFill>
                  <a:srgbClr val="FF0000"/>
                </a:solidFill>
                <a:hlinkClick r:id="rId2" action="ppaction://hlinkfile"/>
              </a:rPr>
              <a:t>SCIENTIFIC TOOLS</a:t>
            </a:r>
            <a:r>
              <a:rPr lang="en-IN" sz="2400" dirty="0">
                <a:solidFill>
                  <a:srgbClr val="FF0000"/>
                </a:solidFill>
              </a:rPr>
              <a:t> : </a:t>
            </a:r>
            <a:r>
              <a:rPr lang="en-IN" dirty="0">
                <a:solidFill>
                  <a:srgbClr val="FF0000"/>
                </a:solidFill>
              </a:rPr>
              <a:t>for simulating and </a:t>
            </a:r>
            <a:r>
              <a:rPr lang="en-IN" dirty="0" err="1">
                <a:solidFill>
                  <a:srgbClr val="FF0000"/>
                </a:solidFill>
              </a:rPr>
              <a:t>analyzing</a:t>
            </a:r>
            <a:r>
              <a:rPr lang="en-IN" dirty="0">
                <a:solidFill>
                  <a:srgbClr val="FF0000"/>
                </a:solidFill>
              </a:rPr>
              <a:t> complex systems</a:t>
            </a:r>
            <a:endParaRPr lang="en-IN" sz="2400" dirty="0">
              <a:solidFill>
                <a:srgbClr val="FF0000"/>
              </a:solidFill>
            </a:endParaRPr>
          </a:p>
          <a:p>
            <a:pPr algn="just"/>
            <a:r>
              <a:rPr lang="en-IN" dirty="0" err="1">
                <a:solidFill>
                  <a:srgbClr val="0070C0"/>
                </a:solidFill>
              </a:rPr>
              <a:t>SciPy</a:t>
            </a:r>
            <a:r>
              <a:rPr lang="en-IN" dirty="0">
                <a:solidFill>
                  <a:srgbClr val="0070C0"/>
                </a:solidFill>
              </a:rPr>
              <a:t> </a:t>
            </a:r>
            <a:r>
              <a:rPr lang="en-IN" sz="2400" dirty="0">
                <a:solidFill>
                  <a:schemeClr val="tx1"/>
                </a:solidFill>
              </a:rPr>
              <a:t>library is mainly used for numerical integration and optimization.</a:t>
            </a:r>
          </a:p>
          <a:p>
            <a:pPr algn="just"/>
            <a:r>
              <a:rPr lang="en-IN" dirty="0" err="1">
                <a:solidFill>
                  <a:srgbClr val="0070C0"/>
                </a:solidFill>
              </a:rPr>
              <a:t>NumPy</a:t>
            </a:r>
            <a:r>
              <a:rPr lang="en-IN" dirty="0">
                <a:solidFill>
                  <a:srgbClr val="0070C0"/>
                </a:solidFill>
              </a:rPr>
              <a:t> </a:t>
            </a:r>
            <a:r>
              <a:rPr lang="en-IN" sz="2400" dirty="0">
                <a:solidFill>
                  <a:schemeClr val="tx1"/>
                </a:solidFill>
              </a:rPr>
              <a:t>provides N-dimensional array objects which can be used to perform linear algebra, Fourier transform and other mathematical operations. </a:t>
            </a:r>
          </a:p>
          <a:p>
            <a:pPr algn="just"/>
            <a:r>
              <a:rPr lang="en-IN" dirty="0" err="1">
                <a:solidFill>
                  <a:srgbClr val="0070C0"/>
                </a:solidFill>
              </a:rPr>
              <a:t>SymPy</a:t>
            </a:r>
            <a:r>
              <a:rPr lang="en-IN" dirty="0">
                <a:solidFill>
                  <a:srgbClr val="0070C0"/>
                </a:solidFill>
              </a:rPr>
              <a:t> </a:t>
            </a:r>
            <a:r>
              <a:rPr lang="en-IN" sz="2400" dirty="0">
                <a:solidFill>
                  <a:schemeClr val="tx1"/>
                </a:solidFill>
              </a:rPr>
              <a:t>library is used to generate symbolic mathematics. </a:t>
            </a:r>
          </a:p>
          <a:p>
            <a:pPr algn="just"/>
            <a:r>
              <a:rPr lang="en-IN" dirty="0" err="1">
                <a:solidFill>
                  <a:srgbClr val="0070C0"/>
                </a:solidFill>
              </a:rPr>
              <a:t>Matplotlib</a:t>
            </a:r>
            <a:r>
              <a:rPr lang="en-IN" sz="2400" dirty="0">
                <a:solidFill>
                  <a:schemeClr val="tx1"/>
                </a:solidFill>
              </a:rPr>
              <a:t> is the oldest and most popular plotting library available for Python.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-265676" y="4284943"/>
            <a:ext cx="1233029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IN" sz="2400" dirty="0">
                <a:solidFill>
                  <a:srgbClr val="FF0000"/>
                </a:solidFill>
              </a:rPr>
              <a:t>Statistics</a:t>
            </a:r>
          </a:p>
          <a:p>
            <a:pPr lvl="2"/>
            <a:r>
              <a:rPr lang="en-IN" sz="2400" dirty="0" err="1">
                <a:solidFill>
                  <a:srgbClr val="00ACDC"/>
                </a:solidFill>
              </a:rPr>
              <a:t>Statsmodels</a:t>
            </a:r>
            <a:r>
              <a:rPr lang="en-IN" sz="2400" dirty="0">
                <a:solidFill>
                  <a:srgbClr val="00ACDC"/>
                </a:solidFill>
              </a:rPr>
              <a:t> </a:t>
            </a:r>
            <a:r>
              <a:rPr lang="en-IN" sz="2400" dirty="0"/>
              <a:t>is a Python library used for statistical analysis. It supports various models and features like linear aggression models, generalized linear models, discrete choice models and functions for time series analysis. </a:t>
            </a:r>
            <a:endParaRPr lang="en-IN" sz="2200" b="1" i="1" dirty="0"/>
          </a:p>
          <a:p>
            <a:pPr lvl="1"/>
            <a:endParaRPr lang="en-IN" sz="2400" dirty="0"/>
          </a:p>
        </p:txBody>
      </p:sp>
      <p:pic>
        <p:nvPicPr>
          <p:cNvPr id="5" name="Picture 2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9202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43181" y="1347036"/>
            <a:ext cx="10863618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/>
            <a:r>
              <a:rPr lang="en-IN" sz="2800" b="1" i="1" dirty="0">
                <a:hlinkClick r:id="rId2" action="ppaction://hlinkfile"/>
              </a:rPr>
              <a:t>Machine Learning</a:t>
            </a:r>
            <a:r>
              <a:rPr lang="en-IN" sz="2800" b="1" i="1" dirty="0"/>
              <a:t> </a:t>
            </a:r>
            <a:r>
              <a:rPr lang="en-IN" sz="2800" dirty="0">
                <a:solidFill>
                  <a:srgbClr val="FF0000"/>
                </a:solidFill>
              </a:rPr>
              <a:t>: </a:t>
            </a:r>
            <a:r>
              <a:rPr lang="en-IN" sz="2400" dirty="0">
                <a:solidFill>
                  <a:srgbClr val="FF0000"/>
                </a:solidFill>
              </a:rPr>
              <a:t>effective and adaptive tool to learn from experience and by a dataset.</a:t>
            </a:r>
            <a:endParaRPr lang="en-IN" sz="2800" dirty="0">
              <a:solidFill>
                <a:srgbClr val="FF0000"/>
              </a:solidFill>
            </a:endParaRPr>
          </a:p>
          <a:p>
            <a:pPr algn="just"/>
            <a:r>
              <a:rPr lang="en-IN" sz="2400" dirty="0" err="1">
                <a:solidFill>
                  <a:srgbClr val="0070C0"/>
                </a:solidFill>
              </a:rPr>
              <a:t>Scikit</a:t>
            </a:r>
            <a:r>
              <a:rPr lang="en-IN" sz="2400" dirty="0">
                <a:solidFill>
                  <a:srgbClr val="0070C0"/>
                </a:solidFill>
              </a:rPr>
              <a:t> </a:t>
            </a:r>
            <a:r>
              <a:rPr lang="en-IN" sz="2400" dirty="0"/>
              <a:t>library is mainly used for numerical integration and optimization.</a:t>
            </a:r>
          </a:p>
          <a:p>
            <a:pPr algn="just"/>
            <a:r>
              <a:rPr lang="en-IN" sz="2400" dirty="0" err="1">
                <a:solidFill>
                  <a:srgbClr val="0070C0"/>
                </a:solidFill>
              </a:rPr>
              <a:t>NumPy</a:t>
            </a:r>
            <a:r>
              <a:rPr lang="en-IN" sz="2400" dirty="0"/>
              <a:t> provides N-dimensional array objects which can be used to perform linear algebra, Fourier transform and other mathematical operations. </a:t>
            </a:r>
          </a:p>
          <a:p>
            <a:pPr algn="just"/>
            <a:r>
              <a:rPr lang="en-IN" sz="2400" dirty="0" err="1">
                <a:solidFill>
                  <a:srgbClr val="0070C0"/>
                </a:solidFill>
              </a:rPr>
              <a:t>SymPy</a:t>
            </a:r>
            <a:r>
              <a:rPr lang="en-IN" sz="2400" dirty="0"/>
              <a:t> library is used to generate symbolic mathematics. </a:t>
            </a:r>
          </a:p>
          <a:p>
            <a:pPr algn="just"/>
            <a:r>
              <a:rPr lang="en-IN" sz="2400" dirty="0" err="1">
                <a:solidFill>
                  <a:srgbClr val="0070C0"/>
                </a:solidFill>
              </a:rPr>
              <a:t>Matplotlib</a:t>
            </a:r>
            <a:r>
              <a:rPr lang="en-IN" sz="2400" dirty="0"/>
              <a:t> is the oldest and most popular plotting library available for Python.</a:t>
            </a:r>
            <a:endParaRPr lang="en-US" sz="2600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28684" y="4086247"/>
            <a:ext cx="10439400" cy="4882735"/>
          </a:xfrm>
        </p:spPr>
        <p:txBody>
          <a:bodyPr>
            <a:normAutofit/>
          </a:bodyPr>
          <a:lstStyle/>
          <a:p>
            <a:pPr lvl="1" algn="just"/>
            <a:r>
              <a:rPr lang="en-IN" sz="2800" b="1" i="1" dirty="0"/>
              <a:t>Data Analysis</a:t>
            </a:r>
          </a:p>
          <a:p>
            <a:pPr marL="384048" lvl="2" indent="0" algn="just">
              <a:buNone/>
            </a:pPr>
            <a:r>
              <a:rPr lang="en-IN" sz="2200" dirty="0">
                <a:solidFill>
                  <a:srgbClr val="00ACDC"/>
                </a:solidFill>
              </a:rPr>
              <a:t>Pandas library </a:t>
            </a:r>
            <a:r>
              <a:rPr lang="en-IN" sz="2400" dirty="0">
                <a:solidFill>
                  <a:schemeClr val="tx1"/>
                </a:solidFill>
              </a:rPr>
              <a:t>changed the landscape of data analysis in Python altogether and is available under BSD license. Pandas is built on top of </a:t>
            </a:r>
            <a:r>
              <a:rPr lang="en-IN" sz="2400" dirty="0" err="1">
                <a:solidFill>
                  <a:schemeClr val="tx1"/>
                </a:solidFill>
              </a:rPr>
              <a:t>NumPy</a:t>
            </a:r>
            <a:r>
              <a:rPr lang="en-IN" sz="2400" dirty="0">
                <a:solidFill>
                  <a:schemeClr val="tx1"/>
                </a:solidFill>
              </a:rPr>
              <a:t> and has two important data structures, namely Series and Data Frame.</a:t>
            </a:r>
          </a:p>
          <a:p>
            <a:pPr lvl="1" algn="just"/>
            <a:endParaRPr lang="en-IN" dirty="0"/>
          </a:p>
        </p:txBody>
      </p:sp>
      <p:pic>
        <p:nvPicPr>
          <p:cNvPr id="6" name="Picture 2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84" y="330385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825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279" y="1975265"/>
            <a:ext cx="10439400" cy="4882735"/>
          </a:xfrm>
        </p:spPr>
        <p:txBody>
          <a:bodyPr>
            <a:normAutofit/>
          </a:bodyPr>
          <a:lstStyle/>
          <a:p>
            <a:pPr lvl="1"/>
            <a:r>
              <a:rPr lang="en-IN" sz="2800" b="1" i="1" dirty="0"/>
              <a:t>Hypertext Transfer Protocol Library</a:t>
            </a:r>
          </a:p>
          <a:p>
            <a:pPr lvl="3"/>
            <a:r>
              <a:rPr lang="en-IN" sz="2400" dirty="0">
                <a:solidFill>
                  <a:schemeClr val="tx1"/>
                </a:solidFill>
              </a:rPr>
              <a:t>Python has a standard HTTP library called </a:t>
            </a:r>
            <a:r>
              <a:rPr lang="en-IN" sz="2400" dirty="0" err="1">
                <a:solidFill>
                  <a:srgbClr val="00B0F0"/>
                </a:solidFill>
              </a:rPr>
              <a:t>urllib.request</a:t>
            </a:r>
            <a:r>
              <a:rPr lang="en-IN" sz="2400" dirty="0">
                <a:solidFill>
                  <a:schemeClr val="tx1"/>
                </a:solidFill>
              </a:rPr>
              <a:t> to carry out most of the HTTP operations</a:t>
            </a:r>
          </a:p>
          <a:p>
            <a:pPr lvl="2"/>
            <a:r>
              <a:rPr lang="en-IN" sz="2800" b="1" i="1" dirty="0"/>
              <a:t>Database Connectors</a:t>
            </a:r>
          </a:p>
          <a:p>
            <a:pPr lvl="3"/>
            <a:r>
              <a:rPr lang="en-IN" sz="2200" dirty="0">
                <a:solidFill>
                  <a:srgbClr val="00ACDC"/>
                </a:solidFill>
              </a:rPr>
              <a:t>MySQL and PostgreSQL </a:t>
            </a:r>
            <a:r>
              <a:rPr lang="en-IN" sz="2400" dirty="0">
                <a:solidFill>
                  <a:schemeClr val="tx1"/>
                </a:solidFill>
              </a:rPr>
              <a:t>are the popular open source databases</a:t>
            </a:r>
            <a:r>
              <a:rPr lang="en-IN" sz="2200" dirty="0"/>
              <a:t>.</a:t>
            </a:r>
          </a:p>
          <a:p>
            <a:pPr lvl="2"/>
            <a:r>
              <a:rPr lang="en-IN" sz="2400" b="1" i="1" dirty="0" err="1"/>
              <a:t>Webframeworks</a:t>
            </a:r>
            <a:endParaRPr lang="en-IN" sz="2400" b="1" i="1" dirty="0"/>
          </a:p>
          <a:p>
            <a:pPr lvl="3"/>
            <a:r>
              <a:rPr lang="en-IN" sz="2200" dirty="0">
                <a:solidFill>
                  <a:srgbClr val="00ACDC"/>
                </a:solidFill>
              </a:rPr>
              <a:t>Django and Flask </a:t>
            </a:r>
            <a:r>
              <a:rPr lang="en-IN" sz="2400" dirty="0">
                <a:solidFill>
                  <a:schemeClr val="tx1"/>
                </a:solidFill>
              </a:rPr>
              <a:t>are the two most popular web frameworks</a:t>
            </a:r>
          </a:p>
          <a:p>
            <a:pPr lvl="1"/>
            <a:r>
              <a:rPr lang="en-IN" sz="2400" b="1" i="1" dirty="0"/>
              <a:t>Cloud Computing</a:t>
            </a:r>
          </a:p>
          <a:p>
            <a:pPr lvl="3"/>
            <a:r>
              <a:rPr lang="en-IN" sz="2400" dirty="0">
                <a:solidFill>
                  <a:schemeClr val="tx1"/>
                </a:solidFill>
              </a:rPr>
              <a:t>OpenStack is entirely written in Python and is used to create a scalable private and public cloud. </a:t>
            </a:r>
          </a:p>
        </p:txBody>
      </p:sp>
      <p:pic>
        <p:nvPicPr>
          <p:cNvPr id="5" name="Picture 2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5129" y="232012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722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2121"/>
            <a:ext cx="12192000" cy="8083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Slice Operations on Strings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A311-F8B8-413B-ACCD-5A57951484CD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95097" y="1550504"/>
            <a:ext cx="11752064" cy="2169825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You can extract subsets of strings by using the </a:t>
            </a:r>
            <a:r>
              <a:rPr lang="en-US" b="1" dirty="0">
                <a:solidFill>
                  <a:srgbClr val="C00000"/>
                </a:solidFill>
              </a:rPr>
              <a:t>slice operator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([ ] and [:]).  You need to specify index or the range of index of characters to be extracted. The index of the first character is 0 and the index of the last character is n-1, where n is the number of characters in the string.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If you want to extract characters starting from the end of the string, then you must specify the index as a negative number. For example, the index of the last character is -1.</a:t>
            </a:r>
          </a:p>
        </p:txBody>
      </p:sp>
      <p:sp>
        <p:nvSpPr>
          <p:cNvPr id="7" name="Footer Placeholder 8"/>
          <p:cNvSpPr txBox="1">
            <a:spLocks/>
          </p:cNvSpPr>
          <p:nvPr/>
        </p:nvSpPr>
        <p:spPr>
          <a:xfrm>
            <a:off x="8420669" y="6321262"/>
            <a:ext cx="35306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 Oxford University Press 2017.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097" y="3704480"/>
            <a:ext cx="114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Examples: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435" y="3704480"/>
            <a:ext cx="5334577" cy="272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133" y="-192387"/>
            <a:ext cx="1028700" cy="934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6999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2121"/>
            <a:ext cx="12192000" cy="8083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Lists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A311-F8B8-413B-ACCD-5A57951484CD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95097" y="1550504"/>
            <a:ext cx="11842005" cy="1754326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</a:rPr>
              <a:t>Lists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are the most versatile data type of Python language.  A list consist of items separated by commas and enclosed within square brackets The values stored in a list are accessed using indexes. The index of the first element being 0 and n-1 as that of the last element, where n is the total number of elements in the list. Like strings, you can also use the slice, concatenation and repetition operations on lists.</a:t>
            </a:r>
          </a:p>
        </p:txBody>
      </p:sp>
      <p:sp>
        <p:nvSpPr>
          <p:cNvPr id="7" name="Footer Placeholder 8"/>
          <p:cNvSpPr txBox="1">
            <a:spLocks/>
          </p:cNvSpPr>
          <p:nvPr/>
        </p:nvSpPr>
        <p:spPr>
          <a:xfrm>
            <a:off x="8420669" y="6321262"/>
            <a:ext cx="35306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 Oxford University Press 2017.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097" y="3223513"/>
            <a:ext cx="114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Examples: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957" y="3223513"/>
            <a:ext cx="6781800" cy="3189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133" y="-261832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5838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2121"/>
            <a:ext cx="12192000" cy="8083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Tuples</a:t>
            </a:r>
            <a:endParaRPr lang="en-US" sz="32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625950" y="6342721"/>
            <a:ext cx="6917210" cy="365125"/>
          </a:xfrm>
        </p:spPr>
        <p:txBody>
          <a:bodyPr/>
          <a:lstStyle/>
          <a:p>
            <a:r>
              <a:rPr lang="en-US" dirty="0"/>
              <a:t>© Oxford University Press 2017.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A311-F8B8-413B-ACCD-5A57951484CD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79883" y="1589955"/>
            <a:ext cx="11721606" cy="1338828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 </a:t>
            </a:r>
            <a:r>
              <a:rPr lang="en-US" b="1" dirty="0">
                <a:solidFill>
                  <a:srgbClr val="C00000"/>
                </a:solidFill>
              </a:rPr>
              <a:t>tuple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is similar to the list as it also consists of a number of values separated by commas and enclosed within parentheses. The main difference between lists and tuples is that you can change the values in a list but not in a tuple. This means that while tuple is a read only data type, the list is not.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883" y="3218135"/>
            <a:ext cx="114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Examples: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917" y="3045160"/>
            <a:ext cx="7201332" cy="3367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133" y="-211652"/>
            <a:ext cx="984351" cy="111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7302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2121"/>
            <a:ext cx="12192000" cy="8083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Dictionary 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A311-F8B8-413B-ACCD-5A57951484CD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4893" y="1628418"/>
            <a:ext cx="11736596" cy="1754326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Python’s dictionaries stores data in key-value pairs. The key values are usually strings and value can be of any data type. The key value pairs are enclosed with curly braces ({ }). Each key value pair separated from the other using a colon (:). To access any value in the dictionary, you just need to specify its key in square braces ([]).Basically dictionaries are used for fast retrieval of data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320" y="3629358"/>
            <a:ext cx="7215181" cy="2273860"/>
          </a:xfrm>
          <a:prstGeom prst="rect">
            <a:avLst/>
          </a:prstGeom>
        </p:spPr>
      </p:pic>
      <p:sp>
        <p:nvSpPr>
          <p:cNvPr id="7" name="Footer Placeholder 8"/>
          <p:cNvSpPr txBox="1">
            <a:spLocks/>
          </p:cNvSpPr>
          <p:nvPr/>
        </p:nvSpPr>
        <p:spPr>
          <a:xfrm>
            <a:off x="8420669" y="6321262"/>
            <a:ext cx="35306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 Oxford University Press 2017.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893" y="3460658"/>
            <a:ext cx="114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Example:</a:t>
            </a:r>
          </a:p>
        </p:txBody>
      </p:sp>
      <p:pic>
        <p:nvPicPr>
          <p:cNvPr id="9" name="Picture 2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6470" y="-183918"/>
            <a:ext cx="962240" cy="108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001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2121"/>
            <a:ext cx="12192000" cy="8083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Range() Function</a:t>
            </a:r>
            <a:endParaRPr lang="en-US" sz="32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891975" y="6299680"/>
            <a:ext cx="3718835" cy="365125"/>
          </a:xfrm>
        </p:spPr>
        <p:txBody>
          <a:bodyPr/>
          <a:lstStyle/>
          <a:p>
            <a:r>
              <a:rPr lang="en-US" dirty="0"/>
              <a:t>© Oxford University Press 2017.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A311-F8B8-413B-ACCD-5A57951484CD}" type="slidenum">
              <a:rPr lang="en-US" smtClean="0"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6686" y="1550504"/>
            <a:ext cx="1185862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If range() function is given a single argument, it produces an object with values from 0 to argument-1. For example: range(10) is equal to writing range(0, 10).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• If range() is called with two arguments, it produces values from the first to the second. For example, range(0,10).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• If range() has three arguments then the third argument specifies the interval of the sequence produced. In this case, the third argument must be an integer. For example, range(1,20,3).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66" y="4762602"/>
            <a:ext cx="10162227" cy="13652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6" y="4212811"/>
            <a:ext cx="2414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Examples:</a:t>
            </a:r>
          </a:p>
        </p:txBody>
      </p:sp>
      <p:pic>
        <p:nvPicPr>
          <p:cNvPr id="8" name="Picture 2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976662" cy="110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22573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82</TotalTime>
  <Words>927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Retrospect</vt:lpstr>
      <vt:lpstr>Course on Python </vt:lpstr>
      <vt:lpstr>Table of Contents</vt:lpstr>
      <vt:lpstr>What is Python?</vt:lpstr>
      <vt:lpstr>PowerPoint Presentation</vt:lpstr>
      <vt:lpstr>Areas to Explore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on Python </dc:title>
  <dc:creator>deeptisharma</dc:creator>
  <cp:lastModifiedBy>deeptisharma</cp:lastModifiedBy>
  <cp:revision>25</cp:revision>
  <dcterms:created xsi:type="dcterms:W3CDTF">2023-07-10T04:55:52Z</dcterms:created>
  <dcterms:modified xsi:type="dcterms:W3CDTF">2025-11-06T06:41:59Z</dcterms:modified>
</cp:coreProperties>
</file>