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1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6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7" r:id="rId39"/>
    <p:sldId id="296" r:id="rId40"/>
    <p:sldId id="298" r:id="rId41"/>
    <p:sldId id="299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C9B43-6C86-4105-AE8A-26C6AC82A911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5B555-7100-4285-9AD5-4C99DEA7E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7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B555-7100-4285-9AD5-4C99DEA7EC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0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F-61FE-4D81-8611-0097AAEF7B68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6075-E8DF-4742-8C24-79E95A67D237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8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2289-7CF1-4619-A455-B0B4017B374E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DEA8-FDD0-47AB-9B1E-6412E7EC60D7}" type="datetime1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D6ED-9C9A-4467-8EC7-039C0829B3DE}" type="datetime1">
              <a:rPr lang="en-US" smtClean="0"/>
              <a:t>7/10/2023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1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30DE-6A64-4BEE-8EF3-DF084BEA05C1}" type="datetime1">
              <a:rPr lang="en-US" smtClean="0"/>
              <a:t>7/10/2023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CAAF-2F01-498F-89B0-DB7EA8EC2343}" type="datetime1">
              <a:rPr lang="en-US" smtClean="0"/>
              <a:t>7/10/2023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F7E6-27E1-42EF-8BDB-5661503F4C2D}" type="datetime1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5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6676-04F5-493E-A02A-6B73A4AE7951}" type="datetime1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7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E650-B1F9-41B7-A814-30DF5D824348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6AA3-ECFC-423D-9D1F-F2B307D4D685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9F45-234F-4D98-8AAE-7ED1F80960E9}" type="datetime1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numpy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scipy.org/scipylib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andas.pydat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doc.python.org/2/library/datetim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 for Data Analysis</a:t>
            </a:r>
            <a:endParaRPr lang="en-US" dirty="0"/>
          </a:p>
        </p:txBody>
      </p:sp>
      <p:pic>
        <p:nvPicPr>
          <p:cNvPr id="3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560" y="54133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15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970201" y="1945315"/>
            <a:ext cx="5566841" cy="1325563"/>
          </a:xfrm>
        </p:spPr>
        <p:txBody>
          <a:bodyPr/>
          <a:lstStyle/>
          <a:p>
            <a:r>
              <a:rPr lang="en-US" dirty="0" smtClean="0"/>
              <a:t>Tutorial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-17720144" y="-6849586"/>
            <a:ext cx="20726400" cy="20726400"/>
          </a:xfrm>
          <a:prstGeom prst="ellipse">
            <a:avLst/>
          </a:prstGeom>
          <a:noFill/>
          <a:ln w="152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96100" y="467916"/>
            <a:ext cx="908462" cy="865295"/>
          </a:xfrm>
          <a:prstGeom prst="ellipse">
            <a:avLst/>
          </a:prstGeom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61546" y="536694"/>
            <a:ext cx="419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Overview of Python Libraries for Data Scientists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460600" y="1759635"/>
            <a:ext cx="703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Reading Data; Selecting and Filtering the Data; Data manipulation, sorting, grouping, rearranging 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509368" y="3163230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Plotting the data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460600" y="4386171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Descriptive statistics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249168" y="5696876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Inferential statistics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2457843" y="1679170"/>
            <a:ext cx="908462" cy="865295"/>
          </a:xfrm>
          <a:prstGeom prst="ellipse">
            <a:avLst/>
          </a:prstGeom>
          <a:solidFill>
            <a:schemeClr val="accent4"/>
          </a:solidFill>
          <a:ln w="222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514906" y="2920904"/>
            <a:ext cx="908462" cy="865295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514906" y="4162638"/>
            <a:ext cx="908462" cy="865295"/>
          </a:xfrm>
          <a:prstGeom prst="ellipse">
            <a:avLst/>
          </a:prstGeom>
          <a:solidFill>
            <a:schemeClr val="accent6"/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277819" y="5410468"/>
            <a:ext cx="908462" cy="865295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384" y="575554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81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Many popular Python toolboxes/libraries:</a:t>
            </a:r>
          </a:p>
          <a:p>
            <a:pPr lvl="1"/>
            <a:r>
              <a:rPr lang="en-US" dirty="0" err="1" smtClean="0"/>
              <a:t>NumPy</a:t>
            </a:r>
            <a:endParaRPr lang="en-US" dirty="0" smtClean="0"/>
          </a:p>
          <a:p>
            <a:pPr lvl="1"/>
            <a:r>
              <a:rPr lang="en-US" dirty="0" err="1" smtClean="0"/>
              <a:t>SciPy</a:t>
            </a:r>
            <a:endParaRPr lang="en-US" dirty="0" smtClean="0"/>
          </a:p>
          <a:p>
            <a:pPr lvl="1"/>
            <a:r>
              <a:rPr lang="en-US" dirty="0" smtClean="0"/>
              <a:t>Pandas</a:t>
            </a:r>
          </a:p>
          <a:p>
            <a:pPr lvl="1"/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Visualization libraries</a:t>
            </a:r>
          </a:p>
          <a:p>
            <a:pPr lvl="1"/>
            <a:r>
              <a:rPr lang="en-US" dirty="0" err="1"/>
              <a:t>m</a:t>
            </a:r>
            <a:r>
              <a:rPr lang="en-US" dirty="0" err="1" smtClean="0"/>
              <a:t>atplotlib</a:t>
            </a:r>
            <a:endParaRPr lang="en-US" dirty="0" smtClean="0"/>
          </a:p>
          <a:p>
            <a:pPr lvl="1"/>
            <a:r>
              <a:rPr lang="en-US" dirty="0" err="1" smtClean="0"/>
              <a:t>Seaborn</a:t>
            </a:r>
            <a:endParaRPr lang="en-US" dirty="0" smtClean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                                                   and many more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</a:t>
            </a:fld>
            <a:endParaRPr lang="en-US"/>
          </a:p>
        </p:txBody>
      </p:sp>
      <p:sp>
        <p:nvSpPr>
          <p:cNvPr id="6" name="Folded Corner 5"/>
          <p:cNvSpPr/>
          <p:nvPr/>
        </p:nvSpPr>
        <p:spPr>
          <a:xfrm>
            <a:off x="4364736" y="2383536"/>
            <a:ext cx="2584704" cy="19812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8472" y="2846832"/>
            <a:ext cx="223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All these libraries are installed on the SCC</a:t>
            </a:r>
            <a:endParaRPr lang="en-US" i="1" dirty="0"/>
          </a:p>
        </p:txBody>
      </p:sp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44688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47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 smtClean="0"/>
              <a:t>NumPy</a:t>
            </a:r>
            <a:r>
              <a:rPr lang="en-US" i="1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introduces objects for multidimensional arrays and matrices, as well as functions that allow to easily perform advanced mathematical and statistical operations on those objects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rovides vectorization of mathematical operations on arrays and matrices which significantly improves the performance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many other python libraries are built on </a:t>
            </a:r>
            <a:r>
              <a:rPr lang="en-US" dirty="0" err="1" smtClean="0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5807631"/>
            <a:ext cx="44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http://www.numpy.org/</a:t>
            </a:r>
            <a:endParaRPr lang="en-US" dirty="0"/>
          </a:p>
        </p:txBody>
      </p:sp>
      <p:pic>
        <p:nvPicPr>
          <p:cNvPr id="7" name="Picture 6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 smtClean="0"/>
              <a:t>SciPy</a:t>
            </a:r>
            <a:r>
              <a:rPr lang="en-US" i="1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collection of algorithms for linear algebra, differential equations, numerical integration, optimization, statistics and more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part of </a:t>
            </a:r>
            <a:r>
              <a:rPr lang="en-US" dirty="0" err="1" smtClean="0"/>
              <a:t>SciPy</a:t>
            </a:r>
            <a:r>
              <a:rPr lang="en-US" dirty="0" smtClean="0"/>
              <a:t> Stack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built on </a:t>
            </a:r>
            <a:r>
              <a:rPr lang="en-US" dirty="0" err="1" smtClean="0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https://www.scipy.org/scipylib/</a:t>
            </a:r>
            <a:endParaRPr lang="en-US" dirty="0"/>
          </a:p>
        </p:txBody>
      </p:sp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044" y="18573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4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Pandas: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adds data structures and tools designed to work with table-like data (similar to Series and Data Frames in R)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rovides tools for data manipulation: reshaping, merging, sorting, slicing, aggregation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</a:t>
            </a:r>
            <a:r>
              <a:rPr lang="en-US" dirty="0" smtClean="0"/>
              <a:t>llows handling missing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http://pandas.pydata.org/</a:t>
            </a:r>
            <a:endParaRPr lang="en-US" dirty="0"/>
          </a:p>
        </p:txBody>
      </p:sp>
      <p:pic>
        <p:nvPicPr>
          <p:cNvPr id="3074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218" y="80519"/>
            <a:ext cx="3318046" cy="69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016" y="7080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32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http://scikit-learn.org/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 smtClean="0"/>
              <a:t>SciKit</a:t>
            </a:r>
            <a:r>
              <a:rPr lang="en-US" i="1" dirty="0" smtClean="0"/>
              <a:t>-Learn: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rovides machine learning algorithms: classification, regression, clustering, model validation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built on </a:t>
            </a:r>
            <a:r>
              <a:rPr lang="en-US" dirty="0" err="1" smtClean="0"/>
              <a:t>NumPy</a:t>
            </a:r>
            <a:r>
              <a:rPr lang="en-US" dirty="0" smtClean="0"/>
              <a:t>, </a:t>
            </a:r>
            <a:r>
              <a:rPr lang="en-US" dirty="0" err="1" smtClean="0"/>
              <a:t>SciPy</a:t>
            </a:r>
            <a:r>
              <a:rPr lang="en-US" dirty="0" smtClean="0"/>
              <a:t> and </a:t>
            </a:r>
            <a:r>
              <a:rPr lang="en-US" dirty="0" err="1" smtClean="0"/>
              <a:t>matplotlib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9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 smtClean="0"/>
              <a:t>matplotlib</a:t>
            </a:r>
            <a:r>
              <a:rPr lang="en-US" i="1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ython </a:t>
            </a:r>
            <a:r>
              <a:rPr lang="en-US" dirty="0"/>
              <a:t>2D plotting library which produces publication quality figures in a variety of hardcopy formats 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</a:t>
            </a:r>
            <a:r>
              <a:rPr lang="en-US" dirty="0" smtClean="0"/>
              <a:t> set of functionalities similar to those of MATLAB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line plots, scatter plots, </a:t>
            </a:r>
            <a:r>
              <a:rPr lang="en-US" dirty="0" err="1" smtClean="0"/>
              <a:t>barcharts</a:t>
            </a:r>
            <a:r>
              <a:rPr lang="en-US" dirty="0" smtClean="0"/>
              <a:t>, histograms, pie charts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relatively low-level; some effort needed to create advanced visualization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https://matplotlib.org/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23" y="119373"/>
            <a:ext cx="2183346" cy="491504"/>
          </a:xfrm>
          <a:prstGeom prst="rect">
            <a:avLst/>
          </a:prstGeom>
        </p:spPr>
      </p:pic>
      <p:pic>
        <p:nvPicPr>
          <p:cNvPr id="7" name="Picture 6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56975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4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 smtClean="0"/>
              <a:t>Seaborn</a:t>
            </a:r>
            <a:r>
              <a:rPr lang="en-US" i="1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based on </a:t>
            </a:r>
            <a:r>
              <a:rPr lang="en-US" dirty="0" err="1" smtClean="0"/>
              <a:t>matplotlib</a:t>
            </a:r>
            <a:r>
              <a:rPr lang="en-US" dirty="0"/>
              <a:t> 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rovides high level interface for drawing attractive statistical graphics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Similar (in style) to the popular ggplot2 library in 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Link: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https://seaborn.pydata.org/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Libraries for Data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06" y="23018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73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</a:t>
            </a:r>
            <a:r>
              <a:rPr lang="en-US" dirty="0" err="1" smtClean="0"/>
              <a:t>Jupyter</a:t>
            </a:r>
            <a:r>
              <a:rPr lang="en-US" dirty="0" smtClean="0"/>
              <a:t> </a:t>
            </a:r>
            <a:r>
              <a:rPr lang="en-US" dirty="0" err="1" smtClean="0"/>
              <a:t>nootebook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Courier New" panose="02070309020205020404" pitchFamily="49" charset="0"/>
              </a:rPr>
              <a:t>#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cs typeface="Courier New" panose="02070309020205020404" pitchFamily="49" charset="0"/>
              </a:rPr>
              <a:t>On the Shared Computing Cluster</a:t>
            </a:r>
            <a:endParaRPr lang="en-US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[scc1 ~]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notebook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97" y="3263448"/>
            <a:ext cx="10273934" cy="246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2576" y="1865480"/>
            <a:ext cx="15408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Python Libraries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276" y="1865480"/>
            <a:ext cx="8491513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#Import Python Libraries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mport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mpl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2516" y="1773836"/>
            <a:ext cx="10160166" cy="191874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92516" y="1773836"/>
            <a:ext cx="0" cy="1918741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2516" y="4947793"/>
            <a:ext cx="853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Press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Shift+Enter</a:t>
            </a:r>
            <a:r>
              <a:rPr lang="en-US" dirty="0" smtClean="0"/>
              <a:t> to execute the </a:t>
            </a:r>
            <a:r>
              <a:rPr lang="en-US" i="1" dirty="0" err="1" smtClean="0"/>
              <a:t>jupyter</a:t>
            </a:r>
            <a:r>
              <a:rPr lang="en-US" dirty="0" smtClean="0"/>
              <a:t> cell</a:t>
            </a:r>
            <a:endParaRPr lang="en-US" dirty="0"/>
          </a:p>
        </p:txBody>
      </p:sp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624" y="66137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7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data using 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#Read csv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</a:p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rcs.bu.edu/examples/python/</a:t>
            </a:r>
            <a:r>
              <a:rPr lang="en-US" sz="1600" dirty="0" err="1" smtClean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/Salaries.csv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60" y="3538091"/>
            <a:ext cx="114125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is a number of pandas commands to read other data formats: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('myfile.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xlsx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sheet_name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='Sheet1',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=None,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=['NA'])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pd.read_stata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myfile.dta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pd.read_sas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('myfile.sas7bdat')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pd.read_hdf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('myfile.h5','df')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43986" y="2574376"/>
            <a:ext cx="954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Note: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 above command has many optional arguments to fine-tune the data import process.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24480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27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[3]: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data frames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#List first 5 records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20" y="2797367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Out[3]: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1" y="2797367"/>
            <a:ext cx="3261643" cy="1767993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14087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2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Try to read the first 10, 20, 50 records;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Can you guess how to view the last few records;              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Hint:</a:t>
            </a:r>
            <a:endParaRPr 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59" y="3212891"/>
            <a:ext cx="971733" cy="687049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27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 data types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45177"/>
              </p:ext>
            </p:extLst>
          </p:nvPr>
        </p:nvGraphicFramePr>
        <p:xfrm>
          <a:off x="838200" y="1690688"/>
          <a:ext cx="9153729" cy="4432090"/>
        </p:xfrm>
        <a:graphic>
          <a:graphicData uri="http://schemas.openxmlformats.org/drawingml/2006/table">
            <a:tbl>
              <a:tblPr/>
              <a:tblGrid>
                <a:gridCol w="3051243"/>
                <a:gridCol w="3051243"/>
                <a:gridCol w="3051243"/>
              </a:tblGrid>
              <a:tr h="3449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Pandas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>
                          <a:effectLst/>
                        </a:rPr>
                        <a:t>Native Python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13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object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string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The most general dtype. Will be assigned to your column if column has mixed types (numbers and strings).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int64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characters. 64 refers to the memory allocated to hold this character.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009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 with decimals. If a column contains numbers and NaNs(see below), pandas will default to float64, in case your missing value has a decimal.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datetime64, timedelta[ns]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N/A (but see the </a:t>
                      </a:r>
                      <a:r>
                        <a:rPr lang="en-US" sz="1600" u="none" strike="noStrike" dirty="0" err="1">
                          <a:solidFill>
                            <a:srgbClr val="337AB7"/>
                          </a:solidFill>
                          <a:effectLst/>
                          <a:hlinkClick r:id="rId2"/>
                        </a:rPr>
                        <a:t>datetime</a:t>
                      </a:r>
                      <a:r>
                        <a:rPr lang="en-US" sz="1600" dirty="0">
                          <a:effectLst/>
                        </a:rPr>
                        <a:t> module in Python’s standard library)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Values meant to hold time data. Look into these for time series experiments.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06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04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[4]: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a particular column type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20" y="2607492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 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('int64')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0527" y="3386978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[5]: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6417" y="3386978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types for all the columns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024" y="431886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8913" y="4360681"/>
            <a:ext cx="3227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rank             </a:t>
            </a:r>
          </a:p>
          <a:p>
            <a:r>
              <a:rPr lang="en-US" dirty="0" smtClean="0"/>
              <a:t>discipline  </a:t>
            </a:r>
            <a:endParaRPr lang="en-US" dirty="0"/>
          </a:p>
          <a:p>
            <a:r>
              <a:rPr lang="en-US" dirty="0" err="1" smtClean="0"/>
              <a:t>phd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service      </a:t>
            </a:r>
            <a:endParaRPr lang="en-US" dirty="0"/>
          </a:p>
          <a:p>
            <a:r>
              <a:rPr lang="en-US" dirty="0"/>
              <a:t>sex              </a:t>
            </a:r>
          </a:p>
          <a:p>
            <a:r>
              <a:rPr lang="en-US" dirty="0"/>
              <a:t>salary         </a:t>
            </a:r>
          </a:p>
          <a:p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0380" y="4358185"/>
            <a:ext cx="32278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object</a:t>
            </a:r>
            <a:endParaRPr lang="en-US" dirty="0"/>
          </a:p>
          <a:p>
            <a:r>
              <a:rPr lang="en-US" dirty="0" smtClean="0"/>
              <a:t>object</a:t>
            </a:r>
            <a:endParaRPr lang="en-US" dirty="0"/>
          </a:p>
          <a:p>
            <a:r>
              <a:rPr lang="en-US" dirty="0" smtClean="0"/>
              <a:t>int64</a:t>
            </a:r>
            <a:endParaRPr lang="en-US" dirty="0"/>
          </a:p>
          <a:p>
            <a:r>
              <a:rPr lang="en-US" dirty="0" smtClean="0"/>
              <a:t>int64</a:t>
            </a:r>
            <a:endParaRPr lang="en-US" dirty="0"/>
          </a:p>
          <a:p>
            <a:r>
              <a:rPr lang="en-US" dirty="0" smtClean="0"/>
              <a:t>object</a:t>
            </a:r>
            <a:endParaRPr lang="en-US" dirty="0"/>
          </a:p>
          <a:p>
            <a:r>
              <a:rPr lang="en-US" dirty="0" smtClean="0"/>
              <a:t>int64</a:t>
            </a:r>
            <a:endParaRPr lang="en-US" dirty="0"/>
          </a:p>
        </p:txBody>
      </p:sp>
      <p:pic>
        <p:nvPicPr>
          <p:cNvPr id="14" name="Picture 13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265847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50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Frames attributes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74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 objects have </a:t>
            </a:r>
            <a:r>
              <a:rPr lang="en-US" i="1" dirty="0" smtClean="0"/>
              <a:t>attributes</a:t>
            </a:r>
            <a:r>
              <a:rPr lang="en-US" dirty="0" smtClean="0"/>
              <a:t> and </a:t>
            </a:r>
            <a:r>
              <a:rPr lang="en-US" i="1" dirty="0" smtClean="0"/>
              <a:t>methods</a:t>
            </a:r>
            <a:r>
              <a:rPr lang="en-US" dirty="0" smtClean="0"/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27669"/>
              </p:ext>
            </p:extLst>
          </p:nvPr>
        </p:nvGraphicFramePr>
        <p:xfrm>
          <a:off x="927725" y="2363450"/>
          <a:ext cx="8431134" cy="349270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00223"/>
                <a:gridCol w="6230911"/>
              </a:tblGrid>
              <a:tr h="48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df.attribute</a:t>
                      </a:r>
                      <a:endParaRPr lang="en-US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description</a:t>
                      </a:r>
                    </a:p>
                  </a:txBody>
                  <a:tcPr/>
                </a:tc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list the types of the columns</a:t>
                      </a:r>
                      <a:endParaRPr lang="en-US" dirty="0"/>
                    </a:p>
                  </a:txBody>
                  <a:tcPr/>
                </a:tc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 smtClean="0"/>
                        <a:t>columns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list the column names</a:t>
                      </a:r>
                      <a:endParaRPr lang="en-US" dirty="0"/>
                    </a:p>
                  </a:txBody>
                  <a:tcPr/>
                </a:tc>
              </a:tr>
              <a:tr h="449705">
                <a:tc>
                  <a:txBody>
                    <a:bodyPr/>
                    <a:lstStyle/>
                    <a:p>
                      <a:r>
                        <a:rPr lang="en-US" dirty="0" smtClean="0"/>
                        <a:t>axes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list the row labels</a:t>
                      </a:r>
                      <a:r>
                        <a:rPr lang="en-US" baseline="0" dirty="0" smtClean="0"/>
                        <a:t> and column names</a:t>
                      </a:r>
                      <a:endParaRPr lang="en-US" dirty="0"/>
                    </a:p>
                  </a:txBody>
                  <a:tcPr/>
                </a:tc>
              </a:tr>
              <a:tr h="45969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ndim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dimensions</a:t>
                      </a:r>
                      <a:endParaRPr lang="en-US" dirty="0"/>
                    </a:p>
                  </a:txBody>
                  <a:tcPr/>
                </a:tc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elements </a:t>
                      </a:r>
                      <a:endParaRPr lang="en-US" dirty="0"/>
                    </a:p>
                  </a:txBody>
                  <a:tcPr/>
                </a:tc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 smtClean="0"/>
                        <a:t>shape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 a tuple</a:t>
                      </a:r>
                      <a:r>
                        <a:rPr lang="en-US" baseline="0" dirty="0" smtClean="0"/>
                        <a:t> representing the dimensionality </a:t>
                      </a:r>
                      <a:endParaRPr lang="en-US" dirty="0"/>
                    </a:p>
                  </a:txBody>
                  <a:tcPr/>
                </a:tc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 smtClean="0"/>
                        <a:t>values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numpy</a:t>
                      </a:r>
                      <a:r>
                        <a:rPr lang="en-US" baseline="0" dirty="0" smtClean="0"/>
                        <a:t> representation of the data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44688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84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Find how many records this data frame has;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How many elements are there?    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What are the column names?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What types of columns we have in this data frame?</a:t>
            </a:r>
            <a:endParaRPr lang="en-US" sz="2400" dirty="0"/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0485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Frames methods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27113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/>
                <a:gridCol w="5866151"/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df.method</a:t>
                      </a:r>
                      <a:r>
                        <a:rPr lang="en-US" sz="2400" dirty="0" smtClean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description</a:t>
                      </a:r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smtClean="0"/>
                        <a:t>head( [n] ), tail( [n]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first/last</a:t>
                      </a:r>
                      <a:r>
                        <a:rPr lang="en-US" baseline="0" dirty="0" smtClean="0"/>
                        <a:t> n rows</a:t>
                      </a:r>
                      <a:endParaRPr lang="en-US" dirty="0"/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smtClean="0"/>
                        <a:t>describe()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generate descriptive statistics (for numeric columns only)</a:t>
                      </a:r>
                      <a:endParaRPr lang="en-US" dirty="0"/>
                    </a:p>
                  </a:txBody>
                  <a:tcPr/>
                </a:tc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smtClean="0"/>
                        <a:t>max(), min()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 max/min</a:t>
                      </a:r>
                      <a:r>
                        <a:rPr lang="en-US" baseline="0" dirty="0" smtClean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smtClean="0"/>
                        <a:t>mean(), median()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 mean/median</a:t>
                      </a:r>
                      <a:r>
                        <a:rPr lang="en-US" baseline="0" dirty="0" smtClean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std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standard deviation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smtClean="0"/>
                        <a:t>sample([n])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returns a random sample of the</a:t>
                      </a:r>
                      <a:r>
                        <a:rPr lang="en-US" baseline="0" dirty="0" smtClean="0"/>
                        <a:t> data frame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dropna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drop all the records with missing values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1610741"/>
            <a:ext cx="7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Unlike attributes, python methods have </a:t>
            </a:r>
            <a:r>
              <a:rPr lang="en-US" i="1" dirty="0" smtClean="0"/>
              <a:t>parenthesis.</a:t>
            </a:r>
          </a:p>
          <a:p>
            <a:r>
              <a:rPr lang="en-US" dirty="0" smtClean="0"/>
              <a:t>All attributes and methods can be listed with a </a:t>
            </a:r>
            <a:r>
              <a:rPr lang="en-US" i="1" dirty="0" err="1" smtClean="0"/>
              <a:t>dir</a:t>
            </a:r>
            <a:r>
              <a:rPr lang="en-US" i="1" dirty="0" smtClean="0"/>
              <a:t>() </a:t>
            </a:r>
            <a:r>
              <a:rPr lang="en-US" dirty="0" smtClean="0"/>
              <a:t>function: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9864" y="44869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8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Give the summary for the numeric columns in the dataset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Calculate standard deviation for all numeric columns;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What are the mean values of the first 50 records in the dataset?</a:t>
            </a: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en-US" sz="2400" b="1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Hint:</a:t>
            </a: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use head() method to subset the first 50 records and then calculate the mean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771" y="554646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68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a column in a Data 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Method 1:   </a:t>
            </a:r>
            <a:r>
              <a:rPr lang="en-US" dirty="0" smtClean="0"/>
              <a:t>Subset the data frame using column name: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</a:t>
            </a:r>
            <a:r>
              <a:rPr lang="en-US" dirty="0" err="1" smtClean="0"/>
              <a:t>df</a:t>
            </a:r>
            <a:r>
              <a:rPr lang="en-US" dirty="0" smtClean="0"/>
              <a:t>[‘name']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smtClean="0"/>
              <a:t>Method 2</a:t>
            </a:r>
            <a:r>
              <a:rPr lang="en-US" dirty="0" smtClean="0"/>
              <a:t>:   Use the column name as an attribute: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df.name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there is an attribute </a:t>
            </a:r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rank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for pandas data frames, so to select a column with a name "rank" we should use method 1.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867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Calculate the basic statistics for the </a:t>
            </a:r>
            <a:r>
              <a:rPr lang="en-US" sz="2400" i="1" dirty="0" smtClean="0"/>
              <a:t>salary</a:t>
            </a:r>
            <a:r>
              <a:rPr lang="en-US" sz="2400" dirty="0" smtClean="0"/>
              <a:t> column;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Find how many values in the </a:t>
            </a:r>
            <a:r>
              <a:rPr lang="en-US" sz="2400" i="1" dirty="0" smtClean="0"/>
              <a:t>salary</a:t>
            </a:r>
            <a:r>
              <a:rPr lang="en-US" sz="2400" dirty="0" smtClean="0"/>
              <a:t> column (use </a:t>
            </a:r>
            <a:r>
              <a:rPr lang="en-US" sz="2400" i="1" dirty="0" smtClean="0"/>
              <a:t>count</a:t>
            </a:r>
            <a:r>
              <a:rPr lang="en-US" sz="2400" dirty="0" smtClean="0"/>
              <a:t> method);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Calculate the average salary;</a:t>
            </a:r>
            <a:endParaRPr lang="en-US" sz="24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018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 </a:t>
            </a:r>
            <a:r>
              <a:rPr lang="en-US" i="1" dirty="0" err="1" smtClean="0"/>
              <a:t>groupby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1361272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 smtClean="0"/>
              <a:t>Using "group by" method we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Split the data into groups based on some criteria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Calculate statistics (or apply a function) to each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Similar to </a:t>
            </a:r>
            <a:r>
              <a:rPr lang="en-US" sz="2400" dirty="0" err="1" smtClean="0"/>
              <a:t>dplyr</a:t>
            </a:r>
            <a:r>
              <a:rPr lang="en-US" sz="2400" dirty="0" smtClean="0"/>
              <a:t>() function in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01" y="356258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18091" y="356258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#Group data using rank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354" y="440335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1244" y="440335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value for each numeric column per each group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df_rank.mean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4" y="5244117"/>
            <a:ext cx="3185436" cy="1524132"/>
          </a:xfrm>
          <a:prstGeom prst="rect">
            <a:avLst/>
          </a:prstGeom>
        </p:spPr>
      </p:pic>
      <p:pic>
        <p:nvPicPr>
          <p:cNvPr id="10" name="Picture 9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044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417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 </a:t>
            </a:r>
            <a:r>
              <a:rPr lang="en-US" i="1" dirty="0" err="1" smtClean="0"/>
              <a:t>groupby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 smtClean="0"/>
              <a:t>Once </a:t>
            </a:r>
            <a:r>
              <a:rPr lang="en-US" sz="2400" dirty="0" err="1" smtClean="0"/>
              <a:t>groupby</a:t>
            </a:r>
            <a:r>
              <a:rPr lang="en-US" sz="2400" dirty="0" smtClean="0"/>
              <a:t> object is create we can calculate various statistics for each group: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324408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3244085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48913" y="5935512"/>
            <a:ext cx="10217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If single brackets are used to specify the column (e.g. salary), then the output is Pandas Series object. When double brackets are used the output is a Data Frame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058122"/>
            <a:ext cx="1928027" cy="1432684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52863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380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Frame: filtering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To subset the data we can apply Boolean indexing. This indexing is commonly known as a filter.  For example if we want to subset the rows in which the salary value is greater than $120K: </a:t>
            </a:r>
          </a:p>
          <a:p>
            <a:pPr>
              <a:lnSpc>
                <a:spcPct val="250000"/>
              </a:lnSpc>
            </a:pPr>
            <a:endParaRPr lang="en-US" sz="24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203023" y="342306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342306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#show rows where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&gt;120K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'salary']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120000 ]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731" y="588225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6621" y="588225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only those rows that contain female professors: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df_f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‘gender']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'Female'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1267" y="4296216"/>
            <a:ext cx="1041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Any Boolean operator can be used to subset the data:</a:t>
            </a:r>
            <a:r>
              <a:rPr lang="en-US" sz="2400" dirty="0"/>
              <a:t> </a:t>
            </a:r>
          </a:p>
          <a:p>
            <a:r>
              <a:rPr lang="en-US" sz="2400" dirty="0"/>
              <a:t>&gt;   greater; </a:t>
            </a:r>
            <a:r>
              <a:rPr lang="en-US" sz="2400" dirty="0" smtClean="0"/>
              <a:t>    </a:t>
            </a:r>
            <a:r>
              <a:rPr lang="en-US" sz="2400" dirty="0"/>
              <a:t>&gt;= greater </a:t>
            </a:r>
            <a:r>
              <a:rPr lang="en-US" sz="2400" dirty="0" smtClean="0"/>
              <a:t>or equal;</a:t>
            </a:r>
          </a:p>
          <a:p>
            <a:r>
              <a:rPr lang="en-US" sz="2400" dirty="0" smtClean="0"/>
              <a:t>&lt;   less;           &lt;= less or equal;</a:t>
            </a:r>
          </a:p>
          <a:p>
            <a:r>
              <a:rPr lang="en-US" sz="2400" dirty="0" smtClean="0"/>
              <a:t>== equal;        != not equal;  </a:t>
            </a:r>
          </a:p>
        </p:txBody>
      </p:sp>
      <p:pic>
        <p:nvPicPr>
          <p:cNvPr id="10" name="Picture 9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0731" y="297182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16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Slicing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There are a number of ways to subset the Data Frame: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one or more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one or more rows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subset of rows and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lvl="1"/>
            <a:r>
              <a:rPr lang="en-US" sz="2400" dirty="0" smtClean="0"/>
              <a:t>Rows and columns can be selected by their position or label </a:t>
            </a:r>
            <a:endParaRPr lang="en-US" sz="2400" dirty="0"/>
          </a:p>
        </p:txBody>
      </p:sp>
      <p:pic>
        <p:nvPicPr>
          <p:cNvPr id="5" name="Picture 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283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203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Slicing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selecting one column, it is possible to use single set of brackets, but the resulting object will be  a Series (not a </a:t>
            </a:r>
            <a:r>
              <a:rPr lang="en-US" sz="2400" dirty="0" err="1" smtClean="0"/>
              <a:t>DataFrame</a:t>
            </a:r>
            <a:r>
              <a:rPr lang="en-US" sz="2400" dirty="0" smtClean="0"/>
              <a:t>):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we need to select more than one column and/or make the output to be a </a:t>
            </a:r>
            <a:r>
              <a:rPr lang="en-US" sz="2400" dirty="0" err="1" smtClean="0"/>
              <a:t>DataFrame</a:t>
            </a:r>
            <a:r>
              <a:rPr lang="en-US" sz="2400" dirty="0" smtClean="0"/>
              <a:t>, we should use double brackets: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400" y="498888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2290" y="498888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salary: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276452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69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Selecting rows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we need to select a range of rows, we can specify the range using ":"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position: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Notice that the first row has a position 0, and the last value in the range is omitted:</a:t>
            </a:r>
          </a:p>
          <a:p>
            <a:r>
              <a:rPr lang="en-US" sz="2400" dirty="0" smtClean="0"/>
              <a:t>So for 0:10 range the first 10 rows are returned with the positions starting with 0 and ending with 9</a:t>
            </a:r>
          </a:p>
        </p:txBody>
      </p:sp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2239" y="23288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05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method </a:t>
            </a:r>
            <a:r>
              <a:rPr lang="en-US" dirty="0" err="1" smtClean="0"/>
              <a:t>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we need to select a range of rows, using their labels we can use method </a:t>
            </a:r>
            <a:r>
              <a:rPr lang="en-US" sz="2400" dirty="0" err="1" smtClean="0"/>
              <a:t>loc</a:t>
            </a:r>
            <a:r>
              <a:rPr lang="en-US" sz="2400" dirty="0" smtClean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rank',‘gender','salary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1693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476" y="3565667"/>
            <a:ext cx="2286319" cy="2553056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52863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466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method </a:t>
            </a:r>
            <a:r>
              <a:rPr lang="en-US" dirty="0" err="1" smtClean="0"/>
              <a:t>iloc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If we need to select a range of rows and/or columns, using their positions we can use method </a:t>
            </a:r>
            <a:r>
              <a:rPr lang="en-US" sz="2400" dirty="0" err="1" smtClean="0"/>
              <a:t>iloc</a:t>
            </a:r>
            <a:r>
              <a:rPr lang="en-US" sz="2400" dirty="0" smtClean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0, 3, 4, 5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738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3612849"/>
            <a:ext cx="2400508" cy="3139712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6194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965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method </a:t>
            </a:r>
            <a:r>
              <a:rPr lang="en-US" dirty="0" err="1" smtClean="0"/>
              <a:t>iloc</a:t>
            </a:r>
            <a:r>
              <a:rPr lang="en-US" dirty="0" smtClean="0"/>
              <a:t> (summary)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31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38200" y="1797118"/>
            <a:ext cx="10268267" cy="120032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row of a data frame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#(i+1)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</a:t>
            </a:r>
            <a:endParaRPr lang="en-US" i="1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row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35" y="3269170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column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column </a:t>
            </a:r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735" y="4588817"/>
            <a:ext cx="10268267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0:7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    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7 rows 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:, 0:2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2 columns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1:3,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#Second through third rows and first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</a:p>
          <a:p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0,5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]]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</a:t>
            </a:r>
            <a:r>
              <a:rPr lang="en-US" i="1" baseline="300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6</a:t>
            </a:r>
            <a:r>
              <a:rPr lang="en-US" i="1" baseline="300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rows and 2</a:t>
            </a:r>
            <a:r>
              <a:rPr lang="en-US" i="1" baseline="300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4</a:t>
            </a:r>
            <a:r>
              <a:rPr lang="en-US" i="1" baseline="300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columns</a:t>
            </a:r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302" y="23875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444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can sort the data by a value in the column. By default the sorting will occur in ascending order and a new data frame is return.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023" y="31479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8913" y="3147936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new data frame from the original sorted by the column Salary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f_sorted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f_sorted.head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1693" y="42728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378943"/>
            <a:ext cx="3566469" cy="1661304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909" y="44688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049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Frames: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can sort the data using 2 or more columns: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7533" y="256604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8357" y="2566042"/>
            <a:ext cx="10653925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f_sorted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=[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'salary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'], ascending = [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48863" y="369098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3578891"/>
            <a:ext cx="3642676" cy="3101609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2971" y="39764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247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Missing values are marked as </a:t>
            </a:r>
            <a:r>
              <a:rPr lang="en-US" sz="2400" dirty="0" err="1" smtClean="0"/>
              <a:t>NaN</a:t>
            </a:r>
            <a:endParaRPr lang="en-US" sz="2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8357" y="2327049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a dataset with missing values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rcs.bu.edu/examples/python/</a:t>
            </a:r>
            <a:r>
              <a:rPr lang="en-US" sz="1600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/flights.csv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91389" y="323799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4501" y="3237992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Select the rows that have at least one missing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flights.isnull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().any(axis=1)].head()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80036" y="3992320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01" y="4079954"/>
            <a:ext cx="8740897" cy="1737511"/>
          </a:xfrm>
          <a:prstGeom prst="rect">
            <a:avLst/>
          </a:prstGeom>
        </p:spPr>
      </p:pic>
      <p:pic>
        <p:nvPicPr>
          <p:cNvPr id="12" name="Picture 11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1798" y="42089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902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There are a number of methods to deal with missing values in the data frame: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67797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/>
                <a:gridCol w="5866151"/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df.method</a:t>
                      </a:r>
                      <a:r>
                        <a:rPr lang="en-US" sz="2400" dirty="0" smtClean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description</a:t>
                      </a:r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dropna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Drop missing observations</a:t>
                      </a:r>
                      <a:endParaRPr lang="en-US" dirty="0"/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dropna</a:t>
                      </a:r>
                      <a:r>
                        <a:rPr lang="en-US" dirty="0" smtClean="0"/>
                        <a:t>(how='all')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Drop observations where all cells is NA</a:t>
                      </a:r>
                      <a:endParaRPr lang="en-US" dirty="0"/>
                    </a:p>
                  </a:txBody>
                  <a:tcPr/>
                </a:tc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dropna</a:t>
                      </a:r>
                      <a:r>
                        <a:rPr lang="en-US" dirty="0" smtClean="0"/>
                        <a:t>(axis=1, how='all')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Drop column if all the values are</a:t>
                      </a:r>
                      <a:r>
                        <a:rPr lang="en-US" baseline="0" dirty="0" smtClean="0"/>
                        <a:t> missing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dropna</a:t>
                      </a:r>
                      <a:r>
                        <a:rPr lang="en-US" dirty="0" smtClean="0"/>
                        <a:t>(thresh = 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Drop rows that contain less than 5 non-missing values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fillna</a:t>
                      </a:r>
                      <a:r>
                        <a:rPr lang="en-US" dirty="0" smtClean="0"/>
                        <a:t>(0)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Replace missing values with zeros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isnull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returns True if the value is missing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notnull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Returns True for non-missing values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06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Values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When summing the data, missing values will be treated as 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If all values are missing, the sum will be equal to </a:t>
            </a:r>
            <a:r>
              <a:rPr lang="en-US" sz="2400" dirty="0" err="1" smtClean="0"/>
              <a:t>NaN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cumsum</a:t>
            </a:r>
            <a:r>
              <a:rPr lang="en-US" sz="2400" dirty="0" smtClean="0"/>
              <a:t>() and </a:t>
            </a:r>
            <a:r>
              <a:rPr lang="en-US" sz="2400" dirty="0" err="1" smtClean="0"/>
              <a:t>cumprod</a:t>
            </a:r>
            <a:r>
              <a:rPr lang="en-US" sz="2400" dirty="0" smtClean="0"/>
              <a:t>() methods ignore missing values but preserve them in the resulting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Missing values in </a:t>
            </a:r>
            <a:r>
              <a:rPr lang="en-US" sz="2400" dirty="0" err="1" smtClean="0"/>
              <a:t>GroupBy</a:t>
            </a:r>
            <a:r>
              <a:rPr lang="en-US" sz="2400" dirty="0" smtClean="0"/>
              <a:t> method are excluded (just like in 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Many descriptive statistics methods have </a:t>
            </a:r>
            <a:r>
              <a:rPr lang="en-US" sz="2400" i="1" dirty="0" err="1" smtClean="0"/>
              <a:t>skipna</a:t>
            </a:r>
            <a:r>
              <a:rPr lang="en-US" sz="2400" i="1" dirty="0" smtClean="0"/>
              <a:t> </a:t>
            </a:r>
            <a:r>
              <a:rPr lang="en-US" sz="2400" dirty="0" smtClean="0"/>
              <a:t>option to control if missing data should be excluded . This value is set to </a:t>
            </a:r>
            <a:r>
              <a:rPr lang="en-US" sz="2400" i="1" dirty="0" smtClean="0"/>
              <a:t>True </a:t>
            </a:r>
            <a:r>
              <a:rPr lang="en-US" sz="2400" dirty="0" smtClean="0"/>
              <a:t>by default (unlike R)</a:t>
            </a:r>
          </a:p>
        </p:txBody>
      </p:sp>
      <p:pic>
        <p:nvPicPr>
          <p:cNvPr id="5" name="Picture 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79613"/>
            <a:ext cx="1028700" cy="147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251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Functions in 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Aggregation - computing a summary statistic about each group, i.e.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compute group sums or means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compute group sizes/counts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Common aggregation functions:</a:t>
            </a:r>
          </a:p>
          <a:p>
            <a:endParaRPr lang="en-US" sz="2400" dirty="0"/>
          </a:p>
          <a:p>
            <a:pPr lvl="1"/>
            <a:r>
              <a:rPr lang="en-US" sz="2400" dirty="0" smtClean="0"/>
              <a:t>min, max</a:t>
            </a:r>
          </a:p>
          <a:p>
            <a:pPr lvl="1"/>
            <a:r>
              <a:rPr lang="en-US" sz="2400" dirty="0" smtClean="0"/>
              <a:t>count, sum, prod</a:t>
            </a:r>
          </a:p>
          <a:p>
            <a:pPr lvl="1"/>
            <a:r>
              <a:rPr lang="en-US" sz="2400" dirty="0" smtClean="0"/>
              <a:t>mean, median, mode, mad</a:t>
            </a:r>
          </a:p>
          <a:p>
            <a:pPr lvl="1"/>
            <a:r>
              <a:rPr lang="en-US" sz="2400" dirty="0" err="1" smtClean="0"/>
              <a:t>std</a:t>
            </a:r>
            <a:r>
              <a:rPr lang="en-US" sz="2400" dirty="0" smtClean="0"/>
              <a:t>, </a:t>
            </a:r>
            <a:r>
              <a:rPr lang="en-US" sz="2400" dirty="0" err="1" smtClean="0"/>
              <a:t>var</a:t>
            </a:r>
            <a:endParaRPr lang="en-US" sz="2400" dirty="0" smtClean="0"/>
          </a:p>
          <a:p>
            <a:r>
              <a:rPr lang="en-US" sz="2400" dirty="0"/>
              <a:t> </a:t>
            </a:r>
          </a:p>
        </p:txBody>
      </p:sp>
      <p:pic>
        <p:nvPicPr>
          <p:cNvPr id="5" name="Picture 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013" y="44688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279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Functions in 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agg</a:t>
            </a:r>
            <a:r>
              <a:rPr lang="en-US" sz="2400" dirty="0" smtClean="0"/>
              <a:t>() method are useful when multiple statistics are computed per column:</a:t>
            </a:r>
          </a:p>
          <a:p>
            <a:pPr lvl="1"/>
            <a:endParaRPr lang="en-US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68357" y="2327049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lights[[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'dep_delay'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]].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min'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'mean'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'max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80036" y="3046744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  <a:endParaRPr lang="en-US" sz="16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98" y="3034395"/>
            <a:ext cx="2534004" cy="1476581"/>
          </a:xfrm>
          <a:prstGeom prst="rect">
            <a:avLst/>
          </a:prstGeom>
        </p:spPr>
      </p:pic>
      <p:pic>
        <p:nvPicPr>
          <p:cNvPr id="9" name="Picture 8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014" y="334347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19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Descriptive Statistics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12433"/>
              </p:ext>
            </p:extLst>
          </p:nvPr>
        </p:nvGraphicFramePr>
        <p:xfrm>
          <a:off x="838200" y="1690688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/>
                <a:gridCol w="5866151"/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df.method</a:t>
                      </a:r>
                      <a:r>
                        <a:rPr lang="en-US" sz="2400" dirty="0" smtClean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description</a:t>
                      </a:r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smtClean="0"/>
                        <a:t>describe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Basic statistics (count, mean, </a:t>
                      </a:r>
                      <a:r>
                        <a:rPr lang="en-US" dirty="0" err="1" smtClean="0"/>
                        <a:t>std</a:t>
                      </a:r>
                      <a:r>
                        <a:rPr lang="en-US" dirty="0" smtClean="0"/>
                        <a:t>, min, quantiles, max)</a:t>
                      </a:r>
                      <a:endParaRPr lang="en-US" dirty="0"/>
                    </a:p>
                  </a:txBody>
                  <a:tcPr/>
                </a:tc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smtClean="0"/>
                        <a:t>min, max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Minimum</a:t>
                      </a:r>
                      <a:r>
                        <a:rPr lang="en-US" baseline="0" dirty="0" smtClean="0"/>
                        <a:t> and maximum values</a:t>
                      </a:r>
                      <a:endParaRPr lang="en-US" dirty="0"/>
                    </a:p>
                  </a:txBody>
                  <a:tcPr/>
                </a:tc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smtClean="0"/>
                        <a:t>mean, median, 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Arithmetic average, median and mode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std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Variance and standard deviation</a:t>
                      </a:r>
                      <a:endParaRPr lang="en-US" dirty="0"/>
                    </a:p>
                  </a:txBody>
                  <a:tcPr/>
                </a:tc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Standard error of mean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smtClean="0"/>
                        <a:t>skew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Sample skewness</a:t>
                      </a:r>
                      <a:endParaRPr lang="en-US" dirty="0"/>
                    </a:p>
                  </a:txBody>
                  <a:tcPr/>
                </a:tc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kurt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kurtosis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46881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387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 to explore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3993925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To show graphs within Python notebook include inline directive: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533" y="4893603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68357" y="4893603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inline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Seaborn</a:t>
            </a:r>
            <a:r>
              <a:rPr lang="en-US" sz="2400" dirty="0" smtClean="0"/>
              <a:t> package is built on </a:t>
            </a:r>
            <a:r>
              <a:rPr lang="en-US" sz="2400" dirty="0" err="1" smtClean="0"/>
              <a:t>matplotlib</a:t>
            </a:r>
            <a:r>
              <a:rPr lang="en-US" sz="2400" dirty="0" smtClean="0"/>
              <a:t> but provides </a:t>
            </a:r>
            <a:r>
              <a:rPr lang="en-US" sz="2400" dirty="0"/>
              <a:t>high level interface for drawing attractive statistical </a:t>
            </a:r>
            <a:r>
              <a:rPr lang="en-US" sz="2400" dirty="0" smtClean="0"/>
              <a:t>graphics, similar to ggplot2 library in R. It specifically targets statistical data visualization</a:t>
            </a:r>
            <a:endParaRPr lang="en-US" sz="2400" dirty="0"/>
          </a:p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8" name="Picture 7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553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562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000170"/>
              </p:ext>
            </p:extLst>
          </p:nvPr>
        </p:nvGraphicFramePr>
        <p:xfrm>
          <a:off x="838200" y="1690688"/>
          <a:ext cx="7730067" cy="44573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56058"/>
                <a:gridCol w="6174009"/>
              </a:tblGrid>
              <a:tr h="47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description</a:t>
                      </a:r>
                    </a:p>
                  </a:txBody>
                  <a:tcPr/>
                </a:tc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histogram</a:t>
                      </a:r>
                      <a:endParaRPr lang="en-US" dirty="0"/>
                    </a:p>
                  </a:txBody>
                  <a:tcPr/>
                </a:tc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barplot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 of central tendency for a numeric variable</a:t>
                      </a:r>
                      <a:endParaRPr lang="en-US" dirty="0"/>
                    </a:p>
                  </a:txBody>
                  <a:tcPr/>
                </a:tc>
              </a:tr>
              <a:tr h="43323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violinplot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similar to boxplot, also shows the probability density of the data</a:t>
                      </a:r>
                      <a:endParaRPr lang="en-US" dirty="0"/>
                    </a:p>
                  </a:txBody>
                  <a:tcPr/>
                </a:tc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jointplot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Scatterplot</a:t>
                      </a:r>
                      <a:endParaRPr lang="en-US" dirty="0"/>
                    </a:p>
                  </a:txBody>
                  <a:tcPr/>
                </a:tc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Regression plot</a:t>
                      </a:r>
                      <a:endParaRPr lang="en-US" dirty="0"/>
                    </a:p>
                  </a:txBody>
                  <a:tcPr/>
                </a:tc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pairplot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Pairplot</a:t>
                      </a:r>
                      <a:endParaRPr lang="en-US" dirty="0"/>
                    </a:p>
                  </a:txBody>
                  <a:tcPr/>
                </a:tc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smtClean="0"/>
                        <a:t>boxplot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boxplot</a:t>
                      </a:r>
                      <a:endParaRPr lang="en-US" dirty="0"/>
                    </a:p>
                  </a:txBody>
                  <a:tcPr/>
                </a:tc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swarmplot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categorical scatterplot</a:t>
                      </a:r>
                      <a:endParaRPr lang="en-US" dirty="0"/>
                    </a:p>
                  </a:txBody>
                  <a:tcPr/>
                </a:tc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factorplot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General categorical plot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6512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425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statistical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1089" y="1534678"/>
            <a:ext cx="88179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</a:t>
            </a:r>
            <a:r>
              <a:rPr lang="en-US" dirty="0" err="1" smtClean="0"/>
              <a:t>tatsmodel</a:t>
            </a:r>
            <a:r>
              <a:rPr lang="en-US" dirty="0" smtClean="0"/>
              <a:t> and </a:t>
            </a:r>
            <a:r>
              <a:rPr lang="en-US" dirty="0" err="1" smtClean="0"/>
              <a:t>scikit</a:t>
            </a:r>
            <a:r>
              <a:rPr lang="en-US" dirty="0" smtClean="0"/>
              <a:t>-learn - both have a number of function for statistical analysis</a:t>
            </a:r>
          </a:p>
          <a:p>
            <a:endParaRPr lang="en-US" dirty="0"/>
          </a:p>
          <a:p>
            <a:r>
              <a:rPr lang="en-US" dirty="0" smtClean="0"/>
              <a:t>The first one is mostly used for regular analysis using R style formulas, while   </a:t>
            </a:r>
            <a:r>
              <a:rPr lang="en-US" dirty="0" err="1" smtClean="0"/>
              <a:t>scikit</a:t>
            </a:r>
            <a:r>
              <a:rPr lang="en-US" dirty="0" smtClean="0"/>
              <a:t>-learn is more tailored for Machine Learning.</a:t>
            </a:r>
          </a:p>
          <a:p>
            <a:endParaRPr lang="en-US" dirty="0" smtClean="0"/>
          </a:p>
          <a:p>
            <a:r>
              <a:rPr lang="en-US" dirty="0" err="1" smtClean="0"/>
              <a:t>statsmodels</a:t>
            </a:r>
            <a:r>
              <a:rPr lang="en-US" dirty="0" smtClean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linear regressions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ANOVA 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hypothesis </a:t>
            </a:r>
            <a:r>
              <a:rPr lang="en-US" dirty="0" err="1" smtClean="0"/>
              <a:t>testings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 smtClean="0"/>
              <a:t>scikit</a:t>
            </a:r>
            <a:r>
              <a:rPr lang="en-US" dirty="0" smtClean="0"/>
              <a:t>-learn: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kmeans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 vector machines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random forests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See examples in the Tutorial Notebook</a:t>
            </a:r>
            <a:endParaRPr lang="en-US" dirty="0"/>
          </a:p>
        </p:txBody>
      </p:sp>
      <p:pic>
        <p:nvPicPr>
          <p:cNvPr id="6" name="Picture 5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528638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74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3512</TotalTime>
  <Words>2299</Words>
  <Application>Microsoft Office PowerPoint</Application>
  <PresentationFormat>Widescreen</PresentationFormat>
  <Paragraphs>437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Wingdings</vt:lpstr>
      <vt:lpstr>Office Theme</vt:lpstr>
      <vt:lpstr>Python for Data Analysis</vt:lpstr>
      <vt:lpstr>Tutorial Content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Start Jupyter nootebook</vt:lpstr>
      <vt:lpstr>Loading Python Libraries</vt:lpstr>
      <vt:lpstr>Reading data using pandas</vt:lpstr>
      <vt:lpstr>Exploring data frames</vt:lpstr>
      <vt:lpstr>      Hands-on exercises</vt:lpstr>
      <vt:lpstr>Data Frame data types</vt:lpstr>
      <vt:lpstr>Data Frame data types</vt:lpstr>
      <vt:lpstr>Data Frames attributes</vt:lpstr>
      <vt:lpstr>      Hands-on exercises</vt:lpstr>
      <vt:lpstr>Data Frames methods</vt:lpstr>
      <vt:lpstr>      Hands-on exercises</vt:lpstr>
      <vt:lpstr>Selecting a column in a Data Frame</vt:lpstr>
      <vt:lpstr>      Hands-on exercises</vt:lpstr>
      <vt:lpstr>Data Frames groupby method</vt:lpstr>
      <vt:lpstr>Data Frames groupby method</vt:lpstr>
      <vt:lpstr>Data Frame: filtering</vt:lpstr>
      <vt:lpstr>Data Frames: Slicing</vt:lpstr>
      <vt:lpstr>Data Frames: Slicing</vt:lpstr>
      <vt:lpstr>Data Frames: Selecting rows</vt:lpstr>
      <vt:lpstr>Data Frames: method loc</vt:lpstr>
      <vt:lpstr>Data Frames: method iloc</vt:lpstr>
      <vt:lpstr>Data Frames: method iloc (summary)</vt:lpstr>
      <vt:lpstr>Data Frames: Sorting</vt:lpstr>
      <vt:lpstr>Data Frames: Sorting</vt:lpstr>
      <vt:lpstr>Missing Values</vt:lpstr>
      <vt:lpstr>Missing Values</vt:lpstr>
      <vt:lpstr>Missing Values</vt:lpstr>
      <vt:lpstr>Aggregation Functions in Pandas</vt:lpstr>
      <vt:lpstr>Aggregation Functions in Pandas</vt:lpstr>
      <vt:lpstr>Basic Descriptive Statistics</vt:lpstr>
      <vt:lpstr>Graphics to explore the data</vt:lpstr>
      <vt:lpstr>Graphics</vt:lpstr>
      <vt:lpstr>Basic statistical Analysis</vt:lpstr>
    </vt:vector>
  </TitlesOfParts>
  <Company>Boston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</dc:title>
  <dc:creator>Oleinik, Katia</dc:creator>
  <cp:lastModifiedBy>deeptisharma</cp:lastModifiedBy>
  <cp:revision>103</cp:revision>
  <dcterms:created xsi:type="dcterms:W3CDTF">2017-08-29T17:00:17Z</dcterms:created>
  <dcterms:modified xsi:type="dcterms:W3CDTF">2023-07-10T06:52:29Z</dcterms:modified>
</cp:coreProperties>
</file>